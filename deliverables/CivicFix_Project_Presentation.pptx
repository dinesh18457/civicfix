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ca08b494274806" /><Relationship Type="http://schemas.openxmlformats.org/officeDocument/2006/relationships/extended-properties" Target="/docProps/app.xml" Id="Rd08a47b914684335" /><Relationship Type="http://schemas.openxmlformats.org/officeDocument/2006/relationships/officeDocument" Target="/ppt/presentation.xml" Id="R8887013b83044110" /></Relationships>
</file>

<file path=ppt/presentation.xml><?xml version="1.0" encoding="utf-8"?>
<p:presentation xmlns:p="http://schemas.openxmlformats.org/presentationml/2006/main">
  <p:sldMasterIdLst>
    <p:sldMasterId xmlns:r="http://schemas.openxmlformats.org/officeDocument/2006/relationships" id="2147483648" r:id="R81145e64a8444be3"/>
  </p:sldMasterIdLst>
  <p:notesMasterIdLst>
    <p:notesMasterId xmlns:r="http://schemas.openxmlformats.org/officeDocument/2006/relationships" r:id="R5a721a82fa7f4c65"/>
  </p:notesMasterIdLst>
  <p:sldIdLst>
    <p:sldId xmlns:r="http://schemas.openxmlformats.org/officeDocument/2006/relationships" id="256" r:id="R834cbc546dde42cb"/>
    <p:sldId xmlns:r="http://schemas.openxmlformats.org/officeDocument/2006/relationships" id="257" r:id="Rf0216b96d39d4185"/>
    <p:sldId xmlns:r="http://schemas.openxmlformats.org/officeDocument/2006/relationships" id="258" r:id="R3a2823efd61046da"/>
    <p:sldId xmlns:r="http://schemas.openxmlformats.org/officeDocument/2006/relationships" id="259" r:id="R9e832ab3c1134575"/>
    <p:sldId xmlns:r="http://schemas.openxmlformats.org/officeDocument/2006/relationships" id="260" r:id="R797f833542684dcf"/>
    <p:sldId xmlns:r="http://schemas.openxmlformats.org/officeDocument/2006/relationships" id="261" r:id="Re3e8a7cca7fb48eb"/>
    <p:sldId xmlns:r="http://schemas.openxmlformats.org/officeDocument/2006/relationships" id="262" r:id="R119d301fbecf4f23"/>
    <p:sldId xmlns:r="http://schemas.openxmlformats.org/officeDocument/2006/relationships" id="263" r:id="R748e7391b9e04dec"/>
    <p:sldId xmlns:r="http://schemas.openxmlformats.org/officeDocument/2006/relationships" id="264" r:id="R1c48c61f090f4251"/>
    <p:sldId xmlns:r="http://schemas.openxmlformats.org/officeDocument/2006/relationships" id="265" r:id="R24892b8ce51647d6"/>
    <p:sldId xmlns:r="http://schemas.openxmlformats.org/officeDocument/2006/relationships" id="266" r:id="R3236e9bc08004c9b"/>
    <p:sldId xmlns:r="http://schemas.openxmlformats.org/officeDocument/2006/relationships" id="267" r:id="Rfcb492cedc4345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73f8e81542459b" /><Relationship Type="http://schemas.openxmlformats.org/officeDocument/2006/relationships/slideMaster" Target="/ppt/slideMasters/slideMaster1.xml" Id="R81145e64a8444be3" /><Relationship Type="http://schemas.openxmlformats.org/officeDocument/2006/relationships/notesMaster" Target="/ppt/notesMasters/notesMaster1.xml" Id="R5a721a82fa7f4c65" /><Relationship Type="http://schemas.openxmlformats.org/officeDocument/2006/relationships/presProps" Target="/ppt/presProps.xml" Id="Rc286d2eec78e48c6" /><Relationship Type="http://schemas.openxmlformats.org/officeDocument/2006/relationships/tableStyles" Target="/ppt/tableStyles.xml" Id="Rf8887dee81724db5" /><Relationship Type="http://schemas.openxmlformats.org/officeDocument/2006/relationships/slide" Target="/ppt/slides/slide1.xml" Id="R834cbc546dde42cb" /><Relationship Type="http://schemas.openxmlformats.org/officeDocument/2006/relationships/slide" Target="/ppt/slides/slide2.xml" Id="Rf0216b96d39d4185" /><Relationship Type="http://schemas.openxmlformats.org/officeDocument/2006/relationships/slide" Target="/ppt/slides/slide3.xml" Id="R3a2823efd61046da" /><Relationship Type="http://schemas.openxmlformats.org/officeDocument/2006/relationships/slide" Target="/ppt/slides/slide4.xml" Id="R9e832ab3c1134575" /><Relationship Type="http://schemas.openxmlformats.org/officeDocument/2006/relationships/slide" Target="/ppt/slides/slide5.xml" Id="R797f833542684dcf" /><Relationship Type="http://schemas.openxmlformats.org/officeDocument/2006/relationships/slide" Target="/ppt/slides/slide6.xml" Id="Re3e8a7cca7fb48eb" /><Relationship Type="http://schemas.openxmlformats.org/officeDocument/2006/relationships/slide" Target="/ppt/slides/slide7.xml" Id="R119d301fbecf4f23" /><Relationship Type="http://schemas.openxmlformats.org/officeDocument/2006/relationships/slide" Target="/ppt/slides/slide8.xml" Id="R748e7391b9e04dec" /><Relationship Type="http://schemas.openxmlformats.org/officeDocument/2006/relationships/slide" Target="/ppt/slides/slide9.xml" Id="R1c48c61f090f4251" /><Relationship Type="http://schemas.openxmlformats.org/officeDocument/2006/relationships/slide" Target="/ppt/slides/slide10.xml" Id="R24892b8ce51647d6" /><Relationship Type="http://schemas.openxmlformats.org/officeDocument/2006/relationships/slide" Target="/ppt/slides/slide11.xml" Id="R3236e9bc08004c9b" /><Relationship Type="http://schemas.openxmlformats.org/officeDocument/2006/relationships/slide" Target="/ppt/slides/slide12.xml" Id="Rfcb492cedc4345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be642aae8c41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fca40dffb7472b" /><Relationship Type="http://schemas.openxmlformats.org/officeDocument/2006/relationships/notesMaster" Target="/ppt/notesMasters/notesMaster1.xml" Id="R8a174be41ff34b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f5eb716aa44ea2" /><Relationship Type="http://schemas.openxmlformats.org/officeDocument/2006/relationships/notesMaster" Target="/ppt/notesMasters/notesMaster1.xml" Id="Rafc6d6dc2e6143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1a060d1ea844d8" /><Relationship Type="http://schemas.openxmlformats.org/officeDocument/2006/relationships/notesMaster" Target="/ppt/notesMasters/notesMaster1.xml" Id="R0d5a72c928aa4b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4d69865c1d4735" /><Relationship Type="http://schemas.openxmlformats.org/officeDocument/2006/relationships/notesMaster" Target="/ppt/notesMasters/notesMaster1.xml" Id="R78a6f0cf0774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80b352a2d14f1b" /><Relationship Type="http://schemas.openxmlformats.org/officeDocument/2006/relationships/notesMaster" Target="/ppt/notesMasters/notesMaster1.xml" Id="R5d72634048ca4f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f368e018c743ee" /><Relationship Type="http://schemas.openxmlformats.org/officeDocument/2006/relationships/notesMaster" Target="/ppt/notesMasters/notesMaster1.xml" Id="R3e846709bf704b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a3c7c2567a4291" /><Relationship Type="http://schemas.openxmlformats.org/officeDocument/2006/relationships/notesMaster" Target="/ppt/notesMasters/notesMaster1.xml" Id="Rcc50397eeffe44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e4bc7bb5174a15" /><Relationship Type="http://schemas.openxmlformats.org/officeDocument/2006/relationships/notesMaster" Target="/ppt/notesMasters/notesMaster1.xml" Id="R7636f100cb934c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9899d832fa4484" /><Relationship Type="http://schemas.openxmlformats.org/officeDocument/2006/relationships/notesMaster" Target="/ppt/notesMasters/notesMaster1.xml" Id="R6c3cffa6d96b4e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7dfde6244a43c6" /><Relationship Type="http://schemas.openxmlformats.org/officeDocument/2006/relationships/notesMaster" Target="/ppt/notesMasters/notesMaster1.xml" Id="Rf0645dc9c89847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07b483073644f2" /><Relationship Type="http://schemas.openxmlformats.org/officeDocument/2006/relationships/notesMaster" Target="/ppt/notesMasters/notesMaster1.xml" Id="Ra969404adb3444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cf7ab30f14465e" /><Relationship Type="http://schemas.openxmlformats.org/officeDocument/2006/relationships/notesMaster" Target="/ppt/notesMasters/notesMaster1.xml" Id="R18f7a3c951174a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CivicFix as a course project built around the NYC 311 dataset included in the repository.</a:t>
            </a:r>
          </a:p>
          <a:p xmlns:a="http://schemas.openxmlformats.org/drawingml/2006/main">
            <a:r>
              <a:t/>
            </a:r>
          </a:p>
          <a:p xmlns:a="http://schemas.openxmlformats.org/drawingml/2006/main">
            <a:r>
              <a:t>The presentation explains the problem, data, ML approach, measured results, application experience, and how each of the six course outcomes is demonstrated.</a:t>
            </a:r>
          </a:p>
          <a:p xmlns:a="http://schemas.openxmlformats.org/drawingml/2006/main">
            <a:r>
              <a:t/>
            </a:r>
          </a:p>
          <a:p xmlns:a="http://schemas.openxmlformats.org/drawingml/2006/main">
            <a:r>
              <a:t>Sources: civicfix_app/data/nyc_311_data.csv; models/metrics.json;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treats routing as decision support rather than claiming that a model replaces official 311 workflows.</a:t>
            </a:r>
          </a:p>
          <a:p xmlns:a="http://schemas.openxmlformats.org/drawingml/2006/main">
            <a:r>
              <a:t/>
            </a:r>
          </a:p>
          <a:p xmlns:a="http://schemas.openxmlformats.org/drawingml/2006/main">
            <a:r>
              <a:t>Two prediction tasks are in scope: agency classification and resolution-time regression. The second task must use closed cases only because open cases have no observed resolution duration.</a:t>
            </a:r>
          </a:p>
          <a:p xmlns:a="http://schemas.openxmlformats.org/drawingml/2006/main">
            <a:r>
              <a:t/>
            </a:r>
          </a:p>
          <a:p xmlns:a="http://schemas.openxmlformats.org/drawingml/2006/main">
            <a:r>
              <a:t>Sources: civicfix_app/data/nyc_311_data.csv; train_models.py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included CSV contains 20,000 requests and 44 fields. Its timestamps span August 7 through August 9, 2026, so results should be understood as a short snapshot, not a representative long-term city trend.</a:t>
            </a:r>
          </a:p>
          <a:p xmlns:a="http://schemas.openxmlformats.org/drawingml/2006/main">
            <a:r>
              <a:t/>
            </a:r>
          </a:p>
          <a:p xmlns:a="http://schemas.openxmlformats.org/drawingml/2006/main">
            <a:r>
              <a:t>Status counts are the source values: 11,203 Closed and 8,741 Open or In Progress. Another 67 have other or unspecified statuses.</a:t>
            </a:r>
          </a:p>
          <a:p xmlns:a="http://schemas.openxmlformats.org/drawingml/2006/main">
            <a:r>
              <a:t/>
            </a:r>
          </a:p>
          <a:p xmlns:a="http://schemas.openxmlformats.org/drawingml/2006/main">
            <a:r>
              <a:t>The displayed borough chart omits 27 unspecified-borough records.</a:t>
            </a:r>
          </a:p>
          <a:p xmlns:a="http://schemas.openxmlformats.org/drawingml/2006/main">
            <a:r>
              <a:t/>
            </a:r>
          </a:p>
          <a:p xmlns:a="http://schemas.openxmlformats.org/drawingml/2006/main">
            <a:r>
              <a:t>Sources: civicfix_app/data/nyc_311_data.csv; models/metrics.json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through the production-style lifecycle. The dataset is cleaned first, then a canonical feature builder creates a consistent input schema for training and serving.</a:t>
            </a:r>
          </a:p>
          <a:p xmlns:a="http://schemas.openxmlformats.org/drawingml/2006/main">
            <a:r>
              <a:t/>
            </a:r>
          </a:p>
          <a:p xmlns:a="http://schemas.openxmlformats.org/drawingml/2006/main">
            <a:r>
              <a:t>For agency classification, the evaluated set contains 13,993 training, 2,000 validation, and 3,999 test examples. Eight records from two very rare agency classes are excluded from the stratified classifier evaluation because the classes are too small to split reliably.</a:t>
            </a:r>
          </a:p>
          <a:p xmlns:a="http://schemas.openxmlformats.org/drawingml/2006/main">
            <a:r>
              <a:t/>
            </a:r>
          </a:p>
          <a:p xmlns:a="http://schemas.openxmlformats.org/drawingml/2006/main">
            <a:r>
              <a:t>The regression task uses 7,733 train, 1,105 validation, and 2,210 test records after restricting to valid closed cases and capping extreme durations at the 99th percentile.</a:t>
            </a:r>
          </a:p>
          <a:p xmlns:a="http://schemas.openxmlformats.org/drawingml/2006/main">
            <a:r>
              <a:t/>
            </a:r>
          </a:p>
          <a:p xmlns:a="http://schemas.openxmlformats.org/drawingml/2006/main">
            <a:r>
              <a:t>Sources: models/metrics.json; train_models.py; civicfix_app/ml/features.py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 chart uses the top six complaint counts from the data extract. Illegal Parking leads at 3,055 records; Noise—Residential and Noise—Street/Sidewalk follow.</a:t>
            </a:r>
          </a:p>
          <a:p xmlns:a="http://schemas.openxmlformats.org/drawingml/2006/main">
            <a:r>
              <a:t/>
            </a:r>
          </a:p>
          <a:p xmlns:a="http://schemas.openxmlformats.org/drawingml/2006/main">
            <a:r>
              <a:t>These are raw counts, not population-adjusted rates. The dataset is only a three-day snapshot, so avoid interpreting these counts as stable citywide prevalence.</a:t>
            </a:r>
          </a:p>
          <a:p xmlns:a="http://schemas.openxmlformats.org/drawingml/2006/main">
            <a:r>
              <a:t/>
            </a:r>
          </a:p>
          <a:p xmlns:a="http://schemas.openxmlformats.org/drawingml/2006/main">
            <a:r>
              <a:t>Exploration informs the feature design and motivates unsupervised analyses in the next section.</a:t>
            </a:r>
          </a:p>
          <a:p xmlns:a="http://schemas.openxmlformats.org/drawingml/2006/main">
            <a:r>
              <a:t/>
            </a:r>
          </a:p>
          <a:p xmlns:a="http://schemas.openxmlformats.org/drawingml/2006/main">
            <a:r>
              <a:t>Sources: civicfix_app/data/nyc_311_data.csv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models are compared rather than presenting one model as universally best. Logistic regression provides an interpretable linear classification baseline. Decision trees and ensembles capture nonlinear feature interactions.</a:t>
            </a:r>
          </a:p>
          <a:p xmlns:a="http://schemas.openxmlformats.org/drawingml/2006/main">
            <a:r>
              <a:t/>
            </a:r>
          </a:p>
          <a:p xmlns:a="http://schemas.openxmlformats.org/drawingml/2006/main">
            <a:r>
              <a:t>Regression uses eight model families in the report. The serving pipeline currently uses Ridge, while Lasso showed a marginally lower MAE on this holdout. That difference is small and should be revisited with a validation-based model-selection rule.</a:t>
            </a:r>
          </a:p>
          <a:p xmlns:a="http://schemas.openxmlformats.org/drawingml/2006/main">
            <a:r>
              <a:t/>
            </a:r>
          </a:p>
          <a:p xmlns:a="http://schemas.openxmlformats.org/drawingml/2006/main">
            <a:r>
              <a:t>XGBoost ran in this environment. LightGBM can be enabled by installing its optional package.</a:t>
            </a:r>
          </a:p>
          <a:p xmlns:a="http://schemas.openxmlformats.org/drawingml/2006/main">
            <a:r>
              <a:t/>
            </a:r>
          </a:p>
          <a:p xmlns:a="http://schemas.openxmlformats.org/drawingml/2006/main">
            <a:r>
              <a:t>Sources: train_models.py; models/metrics.json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packaged agency classifier was evaluated on 3,999 untouched test examples. It reached 99.0% accuracy, 99.3% weighted F1, 100.0% ROC AUC and 93.1% weighted PR AUC.</a:t>
            </a:r>
          </a:p>
          <a:p xmlns:a="http://schemas.openxmlformats.org/drawingml/2006/main">
            <a:r>
              <a:t/>
            </a:r>
          </a:p>
          <a:p xmlns:a="http://schemas.openxmlformats.org/drawingml/2006/main">
            <a:r>
              <a:t>Three-fold weighted-F1 cross-validation averaged 99.26% with 0.08 percentage points standard deviation. Expected calibration error was 0.60 percentage points.</a:t>
            </a:r>
          </a:p>
          <a:p xmlns:a="http://schemas.openxmlformats.org/drawingml/2006/main">
            <a:r>
              <a:t/>
            </a:r>
          </a:p>
          <a:p xmlns:a="http://schemas.openxmlformats.org/drawingml/2006/main">
            <a:r>
              <a:t>The packaged Ridge regression achieved 2.25 hours MAE, 3.55 hours RMSE and R² 0.38 on 2,210 test cases. This is a moderate fit; resolution-time prediction remains less reliable than agency routing.</a:t>
            </a:r>
          </a:p>
          <a:p xmlns:a="http://schemas.openxmlformats.org/drawingml/2006/main">
            <a:r>
              <a:t/>
            </a:r>
          </a:p>
          <a:p xmlns:a="http://schemas.openxmlformats.org/drawingml/2006/main">
            <a:r>
              <a:t>The classifier labels EDC and OTI were excluded from stratified evaluation because fewer than 12 examples were available. The dataset still includes those rows for exploration.</a:t>
            </a:r>
          </a:p>
          <a:p xmlns:a="http://schemas.openxmlformats.org/drawingml/2006/main">
            <a:r>
              <a:t/>
            </a:r>
          </a:p>
          <a:p xmlns:a="http://schemas.openxmlformats.org/drawingml/2006/main">
            <a:r>
              <a:t>Sources: models/metrics.json (generated 2026-10-12); train_models.py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unsupervised workflow uses a deterministic sample of 4,000 reports. K-means produced 5 clusters with silhouette 0.483. Hierarchical clustering produced 5 groups on a 2,000-case subsample.</a:t>
            </a:r>
          </a:p>
          <a:p xmlns:a="http://schemas.openxmlformats.org/drawingml/2006/main">
            <a:r>
              <a:t/>
            </a:r>
          </a:p>
          <a:p xmlns:a="http://schemas.openxmlformats.org/drawingml/2006/main">
            <a:r>
              <a:t>DBSCAN found 21 non-noise clusters and 85 noise points in 2,000 cases. Isolation Forest flagged 239 of 4,000 cases for review.</a:t>
            </a:r>
          </a:p>
          <a:p xmlns:a="http://schemas.openxmlformats.org/drawingml/2006/main">
            <a:r>
              <a:t/>
            </a:r>
          </a:p>
          <a:p xmlns:a="http://schemas.openxmlformats.org/drawingml/2006/main">
            <a:r>
              <a:t>The first two PCA components explain 41.2% of variance. t-SNE was run on 1,000 cases. These outputs help surface structure; they do not establish that a cluster or anomaly is a service failure. UMAP is optional and was unavailable in this environment.</a:t>
            </a:r>
          </a:p>
          <a:p xmlns:a="http://schemas.openxmlformats.org/drawingml/2006/main">
            <a:r>
              <a:t/>
            </a:r>
          </a:p>
          <a:p xmlns:a="http://schemas.openxmlformats.org/drawingml/2006/main">
            <a:r>
              <a:t>Sources: models/analysis.json; train_models.py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flow: start at Overview, open Explore Patterns, route a pothole example from the Prediction screen, then show how the trace appears in Monitoring.</a:t>
            </a:r>
          </a:p>
          <a:p xmlns:a="http://schemas.openxmlformats.org/drawingml/2006/main">
            <a:r>
              <a:t/>
            </a:r>
          </a:p>
          <a:p xmlns:a="http://schemas.openxmlformats.org/drawingml/2006/main">
            <a:r>
              <a:t>The UI is designed around a clear primary task and makes the model result, confidence, and inference latency explicit. It includes a note not to enter personal information.</a:t>
            </a:r>
          </a:p>
          <a:p xmlns:a="http://schemas.openxmlformats.org/drawingml/2006/main">
            <a:r>
              <a:t/>
            </a:r>
          </a:p>
          <a:p xmlns:a="http://schemas.openxmlformats.org/drawingml/2006/main">
            <a:r>
              <a:t>CivicFix is a project demonstration. It does not integrate with the official NYC 311 intake or dispatch system.</a:t>
            </a:r>
          </a:p>
          <a:p xmlns:a="http://schemas.openxmlformats.org/drawingml/2006/main">
            <a:r>
              <a:t/>
            </a:r>
          </a:p>
          <a:p xmlns:a="http://schemas.openxmlformats.org/drawingml/2006/main">
            <a:r>
              <a:t>Sources: app.py; civicfix_app/templates/index.html; civicfix_app/static/style.css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the serving path from the feedback path. The browser form and REST endpoint call the same reusable prediction helper.</a:t>
            </a:r>
          </a:p>
          <a:p xmlns:a="http://schemas.openxmlformats.org/drawingml/2006/main">
            <a:r>
              <a:t/>
            </a:r>
          </a:p>
          <a:p xmlns:a="http://schemas.openxmlformats.org/drawingml/2006/main">
            <a:r>
              <a:t>Packaged scikit-learn pipelines contain preprocessing plus estimator, and the canonical feature builder is shared between training and API inputs.</a:t>
            </a:r>
          </a:p>
          <a:p xmlns:a="http://schemas.openxmlformats.org/drawingml/2006/main">
            <a:r>
              <a:t/>
            </a:r>
          </a:p>
          <a:p xmlns:a="http://schemas.openxmlformats.org/drawingml/2006/main">
            <a:r>
              <a:t>Prediction logs support traceability and drift monitoring. When a response is known, POST /api/feedback or the Monitoring form records actual agency and optional actual resolution hours. The page then reports observed accuracy and MAE.</a:t>
            </a:r>
          </a:p>
          <a:p xmlns:a="http://schemas.openxmlformats.org/drawingml/2006/main">
            <a:r>
              <a:t/>
            </a:r>
          </a:p>
          <a:p xmlns:a="http://schemas.openxmlformats.org/drawingml/2006/main">
            <a:r>
              <a:t>The borough and complaint drift alert compares category-share differences against the dataset and is intentionally labeled as a simple review signal.</a:t>
            </a:r>
          </a:p>
          <a:p xmlns:a="http://schemas.openxmlformats.org/drawingml/2006/main">
            <a:r>
              <a:t/>
            </a:r>
          </a:p>
          <a:p xmlns:a="http://schemas.openxmlformats.org/drawingml/2006/main">
            <a:r>
              <a:t>Sources: app.py; civicfix_app/ml/features.py; models/feature_schema.json;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reproduces the course-outcome alignment from the brief and links each outcome to concrete project evidence.</a:t>
            </a:r>
          </a:p>
          <a:p xmlns:a="http://schemas.openxmlformats.org/drawingml/2006/main">
            <a:r>
              <a:t/>
            </a:r>
          </a:p>
          <a:p xmlns:a="http://schemas.openxmlformats.org/drawingml/2006/main">
            <a:r>
              <a:t>CO3 includes XGBoost in the measured run; LightGBM remains an optional supported family. CO4 has UMAP support when the optional package is installed. CO5 has grid and randomized search in the current run, with Bayesian search optional.</a:t>
            </a:r>
          </a:p>
          <a:p xmlns:a="http://schemas.openxmlformats.org/drawingml/2006/main">
            <a:r>
              <a:t/>
            </a:r>
          </a:p>
          <a:p xmlns:a="http://schemas.openxmlformats.org/drawingml/2006/main">
            <a:r>
              <a:t>The same mapping appears in the app’s Lifecycle Trace screen.</a:t>
            </a:r>
          </a:p>
          <a:p xmlns:a="http://schemas.openxmlformats.org/drawingml/2006/main">
            <a:r>
              <a:t/>
            </a:r>
          </a:p>
          <a:p xmlns:a="http://schemas.openxmlformats.org/drawingml/2006/main">
            <a:r>
              <a:t>Sources: user-provided CO brief image; civicfix_app/templates/index.html; train_models.py; 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project’s main learning: performance is task-dependent. Agency routing is strong on the current short extract, while resolution-time estimates have moderate R-squared and should be improved and validated over time.</a:t>
            </a:r>
          </a:p>
          <a:p xmlns:a="http://schemas.openxmlformats.org/drawingml/2006/main">
            <a:r>
              <a:t/>
            </a:r>
          </a:p>
          <a:p xmlns:a="http://schemas.openxmlformats.org/drawingml/2006/main">
            <a:r>
              <a:t>Suggested live demo: open the overview, show a borough pattern, route a request, find the trace ID in Monitoring, and record a response outcome.</a:t>
            </a:r>
          </a:p>
          <a:p xmlns:a="http://schemas.openxmlformats.org/drawingml/2006/main">
            <a:r>
              <a:t/>
            </a:r>
          </a:p>
          <a:p xmlns:a="http://schemas.openxmlformats.org/drawingml/2006/main">
            <a:r>
              <a:t>Future work should use a longer and time-aware evaluation window, examine rare classes, choose the resolution model from validation data, and connect outcomes only when ground truth becomes available.</a:t>
            </a:r>
          </a:p>
          <a:p xmlns:a="http://schemas.openxmlformats.org/drawingml/2006/main">
            <a:r>
              <a:t/>
            </a:r>
          </a:p>
          <a:p xmlns:a="http://schemas.openxmlformats.org/drawingml/2006/main">
            <a:r>
              <a:t>Sources: models/metrics.json;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24f96e7fe341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e33679d1d442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4c35c2926142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6d542f417041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04ccd8056d45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b46c94a95542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A2910A-D318-4F90-8596-85C517EB57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FCD0C8-9EB2-4D6E-8B40-557C325D8F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F355A4-3192-46D3-A437-020B21001D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AB1BE4-5474-4EDA-A365-FB07DB4F1B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ACFC10-63B3-4AD7-9392-67BE74961C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E05264-A004-4FBD-A938-890141865B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6154EE-58B9-4543-84CD-DC7FEDA2FD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C591B74-8613-4698-BE9E-CBB9781F9D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8F1EC1-0291-41BC-8156-1742ECC2D5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59D816-CF31-4969-A887-8892AEAE64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8e173647614890" /><Relationship Type="http://schemas.openxmlformats.org/officeDocument/2006/relationships/slideLayout" Target="/ppt/slideLayouts/slideLayout1.xml" Id="Rb97d6a8c897b4e31" /><Relationship Type="http://schemas.openxmlformats.org/officeDocument/2006/relationships/slideLayout" Target="/ppt/slideLayouts/slideLayout2.xml" Id="R8a7957b6cd6f428c" /><Relationship Type="http://schemas.openxmlformats.org/officeDocument/2006/relationships/slideLayout" Target="/ppt/slideLayouts/slideLayout3.xml" Id="R741ae3f6b71748f1" /><Relationship Type="http://schemas.openxmlformats.org/officeDocument/2006/relationships/slideLayout" Target="/ppt/slideLayouts/slideLayout4.xml" Id="Rbcd2692946ce4250" /><Relationship Type="http://schemas.openxmlformats.org/officeDocument/2006/relationships/slideLayout" Target="/ppt/slideLayouts/slideLayout5.xml" Id="Raa88f802db32498a" /><Relationship Type="http://schemas.openxmlformats.org/officeDocument/2006/relationships/slideLayout" Target="/ppt/slideLayouts/slideLayout6.xml" Id="R5a388e9d1d5743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7d6a8c897b4e31"/>
    <p:sldLayoutId xmlns:r="http://schemas.openxmlformats.org/officeDocument/2006/relationships" id="2147483650" r:id="R8a7957b6cd6f428c"/>
    <p:sldLayoutId xmlns:r="http://schemas.openxmlformats.org/officeDocument/2006/relationships" id="2147483651" r:id="R741ae3f6b71748f1"/>
    <p:sldLayoutId xmlns:r="http://schemas.openxmlformats.org/officeDocument/2006/relationships" id="2147483652" r:id="Rbcd2692946ce4250"/>
    <p:sldLayoutId xmlns:r="http://schemas.openxmlformats.org/officeDocument/2006/relationships" id="2147483653" r:id="Raa88f802db32498a"/>
    <p:sldLayoutId xmlns:r="http://schemas.openxmlformats.org/officeDocument/2006/relationships" id="2147483654" r:id="R5a388e9d1d5743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2f62b55d6c450a" /><Relationship Type="http://schemas.openxmlformats.org/officeDocument/2006/relationships/notesSlide" Target="/ppt/notesSlides/notesSlide1.xml" Id="R4bca52939fc64b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6fd37272a34882" /><Relationship Type="http://schemas.openxmlformats.org/officeDocument/2006/relationships/notesSlide" Target="/ppt/notesSlides/notesSlide2.xml" Id="R2d229cf55147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d2d04946f442e1" /><Relationship Type="http://schemas.openxmlformats.org/officeDocument/2006/relationships/notesSlide" Target="/ppt/notesSlides/notesSlide3.xml" Id="Rba21da3ac52b44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f7390b246947f1" /><Relationship Type="http://schemas.openxmlformats.org/officeDocument/2006/relationships/notesSlide" Target="/ppt/notesSlides/notesSlide4.xml" Id="R9079709f963a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9529c7db9c4e5e" /><Relationship Type="http://schemas.openxmlformats.org/officeDocument/2006/relationships/notesSlide" Target="/ppt/notesSlides/notesSlide5.xml" Id="R8910cd2f161944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3816d1af684453" /><Relationship Type="http://schemas.openxmlformats.org/officeDocument/2006/relationships/notesSlide" Target="/ppt/notesSlides/notesSlide6.xml" Id="Rda1139a4630b4c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1d0e83ec27484a" /><Relationship Type="http://schemas.openxmlformats.org/officeDocument/2006/relationships/notesSlide" Target="/ppt/notesSlides/notesSlide7.xml" Id="R3673446f1fea4d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f7257d8aeb4142" /><Relationship Type="http://schemas.openxmlformats.org/officeDocument/2006/relationships/notesSlide" Target="/ppt/notesSlides/notesSlide8.xml" Id="Recd5cefd610c4d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ea8de5c612a4701" /><Relationship Type="http://schemas.openxmlformats.org/officeDocument/2006/relationships/notesSlide" Target="/ppt/notesSlides/notesSlide9.xml" Id="R2d0ead41037b41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25d6ed105c4c59" /><Relationship Type="http://schemas.openxmlformats.org/officeDocument/2006/relationships/notesSlide" Target="/ppt/notesSlides/notesSlide10.xml" Id="R36e0e25a261141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9b16c176c034893" /><Relationship Type="http://schemas.openxmlformats.org/officeDocument/2006/relationships/notesSlide" Target="/ppt/notesSlides/notesSlide11.xml" Id="R31ddbe77b97349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3833497c30c41a7" /><Relationship Type="http://schemas.openxmlformats.org/officeDocument/2006/relationships/notesSlide" Target="/ppt/notesSlides/notesSlide12.xml" Id="R47e4f4bedd28490e" /></Relationships>
</file>

<file path=ppt/slides/slide1.xml><?xml version="1.0" encoding="utf-8"?>
<p:sld xmlns:p="http://schemas.openxmlformats.org/presentationml/2006/main">
  <p:cSld>
    <p:bg>
      <p:bgPr>
        <a:solidFill xmlns:a="http://schemas.openxmlformats.org/drawingml/2006/main">
          <a:srgbClr val="10231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6F3F26-BAFC-4830-9633-9A40B32798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509FB4-3514-41A9-BDAC-8A470E986B5B}"/>
              </a:ext>
            </a:extLst>
          </p:cNvPr>
          <p:cNvSpPr>
            <a:spLocks xmlns:a="http://schemas.openxmlformats.org/drawingml/2006/main" noGrp="1"/>
          </p:cNvSpPr>
          <p:nvPr/>
        </p:nvSpPr>
        <p:spPr>
          <a:xfrm xmlns:a="http://schemas.openxmlformats.org/drawingml/2006/main">
            <a:off x="685800" y="6858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A9D3B4"/>
                </a:solidFill>
                <a:latin typeface="Arial"/>
                <a:ea typeface="Arial"/>
                <a:cs typeface="Arial"/>
              </a:defRPr>
            </a:defPPr>
          </a:lstStyle>
          <a:p xmlns:a="http://schemas.openxmlformats.org/drawingml/2006/main">
            <a:pPr algn="l">
              <a:defRPr sz="900" b="1">
                <a:solidFill>
                  <a:srgbClr val="A9D3B4"/>
                </a:solidFill>
                <a:latin typeface="Arial"/>
                <a:ea typeface="Arial"/>
                <a:cs typeface="Arial"/>
              </a:defRPr>
            </a:pPr>
            <a:r>
              <a:rPr sz="900" b="1">
                <a:solidFill>
                  <a:srgbClr val="A9D3B4"/>
                </a:solidFill>
                <a:latin typeface="Arial"/>
                <a:ea typeface="Arial"/>
                <a:cs typeface="Arial"/>
              </a:rPr>
              <a:t>CIVIC INTELLIGENCE  /  MACHINE LEARNING</a:t>
            </a:r>
          </a:p>
        </p:txBody>
      </p:sp>
      <p:sp>
        <p:nvSpPr>
          <p:cNvPr id="3" name="">
            <a:extLst xmlns:a="http://schemas.openxmlformats.org/drawingml/2006/main">
              <a:ext uri="{FF2B5EF4-FFF2-40B4-BE49-F238E27FC236}">
                <a16:creationId xmlns:a16="http://schemas.microsoft.com/office/drawing/2014/main" id="{C629F974-8926-4F0C-AA1A-2A2488FCDBED}"/>
              </a:ext>
            </a:extLst>
          </p:cNvPr>
          <p:cNvSpPr>
            <a:spLocks xmlns:a="http://schemas.openxmlformats.org/drawingml/2006/main" noGrp="1"/>
          </p:cNvSpPr>
          <p:nvPr/>
        </p:nvSpPr>
        <p:spPr>
          <a:xfrm xmlns:a="http://schemas.openxmlformats.org/drawingml/2006/main">
            <a:off x="647700" y="1476375"/>
            <a:ext cx="676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a:solidFill>
                  <a:srgbClr val="FFFFFF"/>
                </a:solidFill>
                <a:latin typeface="Arial"/>
                <a:ea typeface="Arial"/>
                <a:cs typeface="Arial"/>
              </a:defRPr>
            </a:defPPr>
          </a:lstStyle>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CivicFix</a:t>
            </a:r>
          </a:p>
        </p:txBody>
      </p:sp>
      <p:sp>
        <p:nvSpPr>
          <p:cNvPr id="4" name="">
            <a:extLst xmlns:a="http://schemas.openxmlformats.org/drawingml/2006/main">
              <a:ext uri="{FF2B5EF4-FFF2-40B4-BE49-F238E27FC236}">
                <a16:creationId xmlns:a16="http://schemas.microsoft.com/office/drawing/2014/main" id="{67855A16-6F67-4722-B4FD-9A5392951598}"/>
              </a:ext>
            </a:extLst>
          </p:cNvPr>
          <p:cNvSpPr>
            <a:spLocks xmlns:a="http://schemas.openxmlformats.org/drawingml/2006/main" noGrp="1"/>
          </p:cNvSpPr>
          <p:nvPr/>
        </p:nvSpPr>
        <p:spPr>
          <a:xfrm xmlns:a="http://schemas.openxmlformats.org/drawingml/2006/main">
            <a:off x="704850" y="2609850"/>
            <a:ext cx="7524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D5E2D8"/>
                </a:solidFill>
                <a:latin typeface="Arial"/>
                <a:ea typeface="Arial"/>
                <a:cs typeface="Arial"/>
              </a:defRPr>
            </a:defPPr>
          </a:lstStyle>
          <a:p xmlns:a="http://schemas.openxmlformats.org/drawingml/2006/main">
            <a:pPr algn="l">
              <a:defRPr sz="2250" b="0">
                <a:solidFill>
                  <a:srgbClr val="D5E2D8"/>
                </a:solidFill>
                <a:latin typeface="Arial"/>
                <a:ea typeface="Arial"/>
                <a:cs typeface="Arial"/>
              </a:defRPr>
            </a:pPr>
            <a:r>
              <a:rPr sz="2250" b="0">
                <a:solidFill>
                  <a:srgbClr val="D5E2D8"/>
                </a:solidFill>
                <a:latin typeface="Arial"/>
                <a:ea typeface="Arial"/>
                <a:cs typeface="Arial"/>
              </a:rPr>
              <a:t>NYC 311 service requests,</a:t>
            </a:r>
          </a:p>
          <a:p xmlns:a="http://schemas.openxmlformats.org/drawingml/2006/main">
            <a:pPr algn="l">
              <a:defRPr sz="2250" b="0">
                <a:solidFill>
                  <a:srgbClr val="D5E2D8"/>
                </a:solidFill>
                <a:latin typeface="Arial"/>
                <a:ea typeface="Arial"/>
                <a:cs typeface="Arial"/>
              </a:defRPr>
            </a:pPr>
            <a:r>
              <a:rPr sz="2250" b="0">
                <a:solidFill>
                  <a:srgbClr val="D5E2D8"/>
                </a:solidFill>
                <a:latin typeface="Arial"/>
                <a:ea typeface="Arial"/>
                <a:cs typeface="Arial"/>
              </a:rPr>
              <a:t>turned into actionable routing intelligence</a:t>
            </a:r>
          </a:p>
        </p:txBody>
      </p:sp>
      <p:sp>
        <p:nvSpPr>
          <p:cNvPr id="5" name="">
            <a:extLst xmlns:a="http://schemas.openxmlformats.org/drawingml/2006/main">
              <a:ext uri="{FF2B5EF4-FFF2-40B4-BE49-F238E27FC236}">
                <a16:creationId xmlns:a16="http://schemas.microsoft.com/office/drawing/2014/main" id="{BEF86055-561A-4953-98C9-237C32F681D1}"/>
              </a:ext>
            </a:extLst>
          </p:cNvPr>
          <p:cNvSpPr>
            <a:spLocks xmlns:a="http://schemas.openxmlformats.org/drawingml/2006/main" noGrp="1"/>
          </p:cNvSpPr>
          <p:nvPr/>
        </p:nvSpPr>
        <p:spPr>
          <a:xfrm xmlns:a="http://schemas.openxmlformats.org/drawingml/2006/main">
            <a:off x="704850" y="4000500"/>
            <a:ext cx="733425" cy="38100"/>
          </a:xfrm>
          <a:prstGeom xmlns:a="http://schemas.openxmlformats.org/drawingml/2006/main" prst="rect">
            <a:avLst/>
          </a:prstGeom>
          <a:solidFill xmlns:a="http://schemas.openxmlformats.org/drawingml/2006/main">
            <a:srgbClr val="D28C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E18BE2-DDEC-41DE-9279-7384008585E2}"/>
              </a:ext>
            </a:extLst>
          </p:cNvPr>
          <p:cNvSpPr>
            <a:spLocks xmlns:a="http://schemas.openxmlformats.org/drawingml/2006/main" noGrp="1"/>
          </p:cNvSpPr>
          <p:nvPr/>
        </p:nvSpPr>
        <p:spPr>
          <a:xfrm xmlns:a="http://schemas.openxmlformats.org/drawingml/2006/main">
            <a:off x="704850" y="4267200"/>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7C7BC"/>
                </a:solidFill>
                <a:latin typeface="Arial"/>
                <a:ea typeface="Arial"/>
                <a:cs typeface="Arial"/>
              </a:defRPr>
            </a:defPPr>
          </a:lstStyle>
          <a:p xmlns:a="http://schemas.openxmlformats.org/drawingml/2006/main">
            <a:pPr algn="l">
              <a:defRPr sz="1350" b="0">
                <a:solidFill>
                  <a:srgbClr val="B7C7BC"/>
                </a:solidFill>
                <a:latin typeface="Arial"/>
                <a:ea typeface="Arial"/>
                <a:cs typeface="Arial"/>
              </a:defRPr>
            </a:pPr>
            <a:r>
              <a:rPr sz="1350" b="0">
                <a:solidFill>
                  <a:srgbClr val="B7C7BC"/>
                </a:solidFill>
                <a:latin typeface="Arial"/>
                <a:ea typeface="Arial"/>
                <a:cs typeface="Arial"/>
              </a:rPr>
              <a:t>A complete ML project: data → models → evaluation → serving → monitoring</a:t>
            </a:r>
          </a:p>
        </p:txBody>
      </p:sp>
      <p:sp>
        <p:nvSpPr>
          <p:cNvPr id="7" name="">
            <a:extLst xmlns:a="http://schemas.openxmlformats.org/drawingml/2006/main">
              <a:ext uri="{FF2B5EF4-FFF2-40B4-BE49-F238E27FC236}">
                <a16:creationId xmlns:a16="http://schemas.microsoft.com/office/drawing/2014/main" id="{FFB3BED6-9464-4F08-A386-DF0F195D2F24}"/>
              </a:ext>
            </a:extLst>
          </p:cNvPr>
          <p:cNvSpPr>
            <a:spLocks xmlns:a="http://schemas.openxmlformats.org/drawingml/2006/main" noGrp="1"/>
          </p:cNvSpPr>
          <p:nvPr/>
        </p:nvSpPr>
        <p:spPr>
          <a:xfrm xmlns:a="http://schemas.openxmlformats.org/drawingml/2006/main">
            <a:off x="8763000" y="1314450"/>
            <a:ext cx="2476500" cy="4114800"/>
          </a:xfrm>
          <a:prstGeom xmlns:a="http://schemas.openxmlformats.org/drawingml/2006/main" prst="roundRect">
            <a:avLst>
              <a:gd name="adj" fmla="val 3846"/>
            </a:avLst>
          </a:prstGeom>
          <a:solidFill xmlns:a="http://schemas.openxmlformats.org/drawingml/2006/main">
            <a:srgbClr val="18352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1E3592-5D9B-4B73-B1AB-3D66BF800956}"/>
              </a:ext>
            </a:extLst>
          </p:cNvPr>
          <p:cNvSpPr>
            <a:spLocks xmlns:a="http://schemas.openxmlformats.org/drawingml/2006/main" noGrp="1"/>
          </p:cNvSpPr>
          <p:nvPr/>
        </p:nvSpPr>
        <p:spPr>
          <a:xfrm xmlns:a="http://schemas.openxmlformats.org/drawingml/2006/main">
            <a:off x="9048750" y="1866900"/>
            <a:ext cx="1952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FFFFFF"/>
                </a:solidFill>
                <a:latin typeface="Arial"/>
                <a:ea typeface="Arial"/>
                <a:cs typeface="Arial"/>
              </a:defRPr>
            </a:def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20,000</a:t>
            </a:r>
          </a:p>
        </p:txBody>
      </p:sp>
      <p:sp>
        <p:nvSpPr>
          <p:cNvPr id="9" name="">
            <a:extLst xmlns:a="http://schemas.openxmlformats.org/drawingml/2006/main">
              <a:ext uri="{FF2B5EF4-FFF2-40B4-BE49-F238E27FC236}">
                <a16:creationId xmlns:a16="http://schemas.microsoft.com/office/drawing/2014/main" id="{97F6B3A5-F69B-4711-9996-749B31D16951}"/>
              </a:ext>
            </a:extLst>
          </p:cNvPr>
          <p:cNvSpPr>
            <a:spLocks xmlns:a="http://schemas.openxmlformats.org/drawingml/2006/main" noGrp="1"/>
          </p:cNvSpPr>
          <p:nvPr/>
        </p:nvSpPr>
        <p:spPr>
          <a:xfrm xmlns:a="http://schemas.openxmlformats.org/drawingml/2006/main">
            <a:off x="9067800" y="2409825"/>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FD3C4"/>
                </a:solidFill>
                <a:latin typeface="Arial"/>
                <a:ea typeface="Arial"/>
                <a:cs typeface="Arial"/>
              </a:defRPr>
            </a:defPPr>
          </a:lstStyle>
          <a:p xmlns:a="http://schemas.openxmlformats.org/drawingml/2006/main">
            <a:pPr algn="l">
              <a:defRPr sz="1125" b="0">
                <a:solidFill>
                  <a:srgbClr val="BFD3C4"/>
                </a:solidFill>
                <a:latin typeface="Arial"/>
                <a:ea typeface="Arial"/>
                <a:cs typeface="Arial"/>
              </a:defRPr>
            </a:pPr>
            <a:r>
              <a:rPr sz="1125" b="0">
                <a:solidFill>
                  <a:srgbClr val="BFD3C4"/>
                </a:solidFill>
                <a:latin typeface="Arial"/>
                <a:ea typeface="Arial"/>
                <a:cs typeface="Arial"/>
              </a:rPr>
              <a:t>NYC 311 records</a:t>
            </a:r>
          </a:p>
        </p:txBody>
      </p:sp>
      <p:sp>
        <p:nvSpPr>
          <p:cNvPr id="10" name="">
            <a:extLst xmlns:a="http://schemas.openxmlformats.org/drawingml/2006/main">
              <a:ext uri="{FF2B5EF4-FFF2-40B4-BE49-F238E27FC236}">
                <a16:creationId xmlns:a16="http://schemas.microsoft.com/office/drawing/2014/main" id="{B169D0F0-6E67-4121-A3D5-BA7A6510ABB0}"/>
              </a:ext>
            </a:extLst>
          </p:cNvPr>
          <p:cNvSpPr>
            <a:spLocks xmlns:a="http://schemas.openxmlformats.org/drawingml/2006/main" noGrp="1"/>
          </p:cNvSpPr>
          <p:nvPr/>
        </p:nvSpPr>
        <p:spPr>
          <a:xfrm xmlns:a="http://schemas.openxmlformats.org/drawingml/2006/main">
            <a:off x="9048750" y="2952750"/>
            <a:ext cx="1885950" cy="9525"/>
          </a:xfrm>
          <a:prstGeom xmlns:a="http://schemas.openxmlformats.org/drawingml/2006/main" prst="rect">
            <a:avLst/>
          </a:prstGeom>
          <a:solidFill xmlns:a="http://schemas.openxmlformats.org/drawingml/2006/main">
            <a:srgbClr val="34544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701EA8E-4BC1-4C6F-893F-67F4F06C2A0E}"/>
              </a:ext>
            </a:extLst>
          </p:cNvPr>
          <p:cNvSpPr>
            <a:spLocks xmlns:a="http://schemas.openxmlformats.org/drawingml/2006/main" noGrp="1"/>
          </p:cNvSpPr>
          <p:nvPr/>
        </p:nvSpPr>
        <p:spPr>
          <a:xfrm xmlns:a="http://schemas.openxmlformats.org/drawingml/2006/main">
            <a:off x="9048750" y="325755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A9D3B4"/>
                </a:solidFill>
                <a:latin typeface="Arial"/>
                <a:ea typeface="Arial"/>
                <a:cs typeface="Arial"/>
              </a:defRPr>
            </a:defPPr>
          </a:lstStyle>
          <a:p xmlns:a="http://schemas.openxmlformats.org/drawingml/2006/main">
            <a:pPr algn="l">
              <a:defRPr sz="3150" b="1">
                <a:solidFill>
                  <a:srgbClr val="A9D3B4"/>
                </a:solidFill>
                <a:latin typeface="Arial"/>
                <a:ea typeface="Arial"/>
                <a:cs typeface="Arial"/>
              </a:defRPr>
            </a:pPr>
            <a:r>
              <a:rPr sz="3150" b="1">
                <a:solidFill>
                  <a:srgbClr val="A9D3B4"/>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8B0901F1-F453-401E-8F70-B0A83DCF6065}"/>
              </a:ext>
            </a:extLst>
          </p:cNvPr>
          <p:cNvSpPr>
            <a:spLocks xmlns:a="http://schemas.openxmlformats.org/drawingml/2006/main" noGrp="1"/>
          </p:cNvSpPr>
          <p:nvPr/>
        </p:nvSpPr>
        <p:spPr>
          <a:xfrm xmlns:a="http://schemas.openxmlformats.org/drawingml/2006/main">
            <a:off x="9048750" y="3819525"/>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D5E2D8"/>
                </a:solidFill>
                <a:latin typeface="Arial"/>
                <a:ea typeface="Arial"/>
                <a:cs typeface="Arial"/>
              </a:defRPr>
            </a:defPPr>
          </a:lstStyle>
          <a:p xmlns:a="http://schemas.openxmlformats.org/drawingml/2006/main">
            <a:pPr algn="l">
              <a:defRPr sz="1125" b="0">
                <a:solidFill>
                  <a:srgbClr val="D5E2D8"/>
                </a:solidFill>
                <a:latin typeface="Arial"/>
                <a:ea typeface="Arial"/>
                <a:cs typeface="Arial"/>
              </a:defRPr>
            </a:pPr>
            <a:r>
              <a:rPr sz="1125" b="0">
                <a:solidFill>
                  <a:srgbClr val="D5E2D8"/>
                </a:solidFill>
                <a:latin typeface="Arial"/>
                <a:ea typeface="Arial"/>
                <a:cs typeface="Arial"/>
              </a:rPr>
              <a:t>course outcomes</a:t>
            </a:r>
          </a:p>
          <a:p xmlns:a="http://schemas.openxmlformats.org/drawingml/2006/main">
            <a:pPr algn="l">
              <a:defRPr sz="1125" b="0">
                <a:solidFill>
                  <a:srgbClr val="D5E2D8"/>
                </a:solidFill>
                <a:latin typeface="Arial"/>
                <a:ea typeface="Arial"/>
                <a:cs typeface="Arial"/>
              </a:defRPr>
            </a:pPr>
            <a:r>
              <a:rPr sz="1125" b="0">
                <a:solidFill>
                  <a:srgbClr val="D5E2D8"/>
                </a:solidFill>
                <a:latin typeface="Arial"/>
                <a:ea typeface="Arial"/>
                <a:cs typeface="Arial"/>
              </a:rPr>
              <a:t>implemented</a:t>
            </a:r>
          </a:p>
        </p:txBody>
      </p:sp>
      <p:sp>
        <p:nvSpPr>
          <p:cNvPr id="13" name="">
            <a:extLst xmlns:a="http://schemas.openxmlformats.org/drawingml/2006/main">
              <a:ext uri="{FF2B5EF4-FFF2-40B4-BE49-F238E27FC236}">
                <a16:creationId xmlns:a16="http://schemas.microsoft.com/office/drawing/2014/main" id="{E8EFDF54-8D6F-4997-AF5F-38DA1EC43722}"/>
              </a:ext>
            </a:extLst>
          </p:cNvPr>
          <p:cNvSpPr>
            <a:spLocks xmlns:a="http://schemas.openxmlformats.org/drawingml/2006/main" noGrp="1"/>
          </p:cNvSpPr>
          <p:nvPr/>
        </p:nvSpPr>
        <p:spPr>
          <a:xfrm xmlns:a="http://schemas.openxmlformats.org/drawingml/2006/main">
            <a:off x="9048750" y="4543425"/>
            <a:ext cx="1885950" cy="9525"/>
          </a:xfrm>
          <a:prstGeom xmlns:a="http://schemas.openxmlformats.org/drawingml/2006/main" prst="rect">
            <a:avLst/>
          </a:prstGeom>
          <a:solidFill xmlns:a="http://schemas.openxmlformats.org/drawingml/2006/main">
            <a:srgbClr val="34544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49BCE6-17E0-46DC-8045-C89F323555C0}"/>
              </a:ext>
            </a:extLst>
          </p:cNvPr>
          <p:cNvSpPr>
            <a:spLocks xmlns:a="http://schemas.openxmlformats.org/drawingml/2006/main" noGrp="1"/>
          </p:cNvSpPr>
          <p:nvPr/>
        </p:nvSpPr>
        <p:spPr>
          <a:xfrm xmlns:a="http://schemas.openxmlformats.org/drawingml/2006/main">
            <a:off x="9048750" y="4838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A9D3B4"/>
                </a:solidFill>
                <a:latin typeface="Arial"/>
                <a:ea typeface="Arial"/>
                <a:cs typeface="Arial"/>
              </a:defRPr>
            </a:defPPr>
          </a:lstStyle>
          <a:p xmlns:a="http://schemas.openxmlformats.org/drawingml/2006/main">
            <a:pPr algn="l">
              <a:defRPr sz="750" b="1">
                <a:solidFill>
                  <a:srgbClr val="A9D3B4"/>
                </a:solidFill>
                <a:latin typeface="Arial"/>
                <a:ea typeface="Arial"/>
                <a:cs typeface="Arial"/>
              </a:defRPr>
            </a:pPr>
            <a:r>
              <a:rPr sz="750" b="1">
                <a:solidFill>
                  <a:srgbClr val="A9D3B4"/>
                </a:solidFill>
                <a:latin typeface="Arial"/>
                <a:ea typeface="Arial"/>
                <a:cs typeface="Arial"/>
              </a:rPr>
              <a:t>PROJECT PRESENTATION</a:t>
            </a:r>
          </a:p>
        </p:txBody>
      </p:sp>
      <p:sp>
        <p:nvSpPr>
          <p:cNvPr id="15" name="">
            <a:extLst xmlns:a="http://schemas.openxmlformats.org/drawingml/2006/main">
              <a:ext uri="{FF2B5EF4-FFF2-40B4-BE49-F238E27FC236}">
                <a16:creationId xmlns:a16="http://schemas.microsoft.com/office/drawing/2014/main" id="{A015E0E7-B7DE-477A-ACA2-A9332CF209A7}"/>
              </a:ext>
            </a:extLst>
          </p:cNvPr>
          <p:cNvSpPr>
            <a:spLocks xmlns:a="http://schemas.openxmlformats.org/drawingml/2006/main" noGrp="1"/>
          </p:cNvSpPr>
          <p:nvPr/>
        </p:nvSpPr>
        <p:spPr>
          <a:xfrm xmlns:a="http://schemas.openxmlformats.org/drawingml/2006/main">
            <a:off x="70485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91A399"/>
                </a:solidFill>
                <a:latin typeface="Arial"/>
                <a:ea typeface="Arial"/>
                <a:cs typeface="Arial"/>
              </a:defRPr>
            </a:defPPr>
          </a:lstStyle>
          <a:p xmlns:a="http://schemas.openxmlformats.org/drawingml/2006/main">
            <a:pPr algn="l">
              <a:defRPr sz="900" b="0">
                <a:solidFill>
                  <a:srgbClr val="91A399"/>
                </a:solidFill>
                <a:latin typeface="Arial"/>
                <a:ea typeface="Arial"/>
                <a:cs typeface="Arial"/>
              </a:defRPr>
            </a:pPr>
            <a:r>
              <a:rPr sz="900" b="0">
                <a:solidFill>
                  <a:srgbClr val="91A399"/>
                </a:solidFill>
                <a:latin typeface="Arial"/>
                <a:ea typeface="Arial"/>
                <a:cs typeface="Arial"/>
              </a:rPr>
              <a:t>October 2026</a:t>
            </a:r>
          </a:p>
        </p:txBody>
      </p:sp>
    </p:spTree>
    <p:extLst>
      <p:ext uri="{BB962C8B-B14F-4D97-AF65-F5344CB8AC3E}">
        <p14:creationId xmlns:p14="http://schemas.microsoft.com/office/powerpoint/2010/main" val="380457322"/>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50AD4E7-D21F-467D-92C1-BD0A9C40B125}"/>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5FFC6D-0979-40ED-B1A2-4738B102F892}"/>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01  /  PROJECT PURPOSE</a:t>
            </a:r>
          </a:p>
        </p:txBody>
      </p:sp>
      <p:sp>
        <p:nvSpPr>
          <p:cNvPr id="3" name="">
            <a:extLst xmlns:a="http://schemas.openxmlformats.org/drawingml/2006/main">
              <a:ext uri="{FF2B5EF4-FFF2-40B4-BE49-F238E27FC236}">
                <a16:creationId xmlns:a16="http://schemas.microsoft.com/office/drawing/2014/main" id="{863CDE5C-7E0D-445B-BB0B-A40C26987E58}"/>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The service-routing problem</a:t>
            </a:r>
          </a:p>
        </p:txBody>
      </p:sp>
      <p:sp>
        <p:nvSpPr>
          <p:cNvPr id="4" name="">
            <a:extLst xmlns:a="http://schemas.openxmlformats.org/drawingml/2006/main">
              <a:ext uri="{FF2B5EF4-FFF2-40B4-BE49-F238E27FC236}">
                <a16:creationId xmlns:a16="http://schemas.microsoft.com/office/drawing/2014/main" id="{4E9B4BFE-797C-4C0F-8E27-1B74756AB6AE}"/>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7517A1-963C-4920-9FFC-97FD5A59DA5B}"/>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69D5B49A-461C-4A87-B985-79C80A9A4C8B}"/>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3D46CEB-85E8-41FB-8273-51F0EA8E54F0}"/>
              </a:ext>
            </a:extLst>
          </p:cNvPr>
          <p:cNvSpPr>
            <a:spLocks xmlns:a="http://schemas.openxmlformats.org/drawingml/2006/main" noGrp="1"/>
          </p:cNvSpPr>
          <p:nvPr/>
        </p:nvSpPr>
        <p:spPr>
          <a:xfrm xmlns:a="http://schemas.openxmlformats.org/drawingml/2006/main">
            <a:off x="590550" y="15811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271E"/>
                </a:solidFill>
                <a:latin typeface="Arial"/>
                <a:ea typeface="Arial"/>
                <a:cs typeface="Arial"/>
              </a:defRPr>
            </a:defPPr>
          </a:lstStyle>
          <a:p xmlns:a="http://schemas.openxmlformats.org/drawingml/2006/main">
            <a:pPr algn="l">
              <a:defRPr sz="1725" b="1">
                <a:solidFill>
                  <a:srgbClr val="15271E"/>
                </a:solidFill>
                <a:latin typeface="Arial"/>
                <a:ea typeface="Arial"/>
                <a:cs typeface="Arial"/>
              </a:defRPr>
            </a:pPr>
            <a:r>
              <a:rPr sz="1725" b="1">
                <a:solidFill>
                  <a:srgbClr val="15271E"/>
                </a:solidFill>
                <a:latin typeface="Arial"/>
                <a:ea typeface="Arial"/>
                <a:cs typeface="Arial"/>
              </a:rPr>
              <a:t>A 311 request is most useful when it reaches the right response team with a realistic expectation of resolution time.</a:t>
            </a:r>
          </a:p>
        </p:txBody>
      </p:sp>
      <p:sp>
        <p:nvSpPr>
          <p:cNvPr id="8" name="">
            <a:extLst xmlns:a="http://schemas.openxmlformats.org/drawingml/2006/main">
              <a:ext uri="{FF2B5EF4-FFF2-40B4-BE49-F238E27FC236}">
                <a16:creationId xmlns:a16="http://schemas.microsoft.com/office/drawing/2014/main" id="{E6F78606-A2BA-4826-88B6-9F4F9B3A0A7B}"/>
              </a:ext>
            </a:extLst>
          </p:cNvPr>
          <p:cNvSpPr>
            <a:spLocks xmlns:a="http://schemas.openxmlformats.org/drawingml/2006/main" noGrp="1"/>
          </p:cNvSpPr>
          <p:nvPr/>
        </p:nvSpPr>
        <p:spPr>
          <a:xfrm xmlns:a="http://schemas.openxmlformats.org/drawingml/2006/main">
            <a:off x="590550" y="2590800"/>
            <a:ext cx="32385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E7C6EA-4269-4283-9DA0-AD8BB25DC814}"/>
              </a:ext>
            </a:extLst>
          </p:cNvPr>
          <p:cNvSpPr>
            <a:spLocks xmlns:a="http://schemas.openxmlformats.org/drawingml/2006/main" noGrp="1"/>
          </p:cNvSpPr>
          <p:nvPr/>
        </p:nvSpPr>
        <p:spPr>
          <a:xfrm xmlns:a="http://schemas.openxmlformats.org/drawingml/2006/main">
            <a:off x="590550" y="28003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76B4F"/>
                </a:solidFill>
                <a:latin typeface="Arial"/>
                <a:ea typeface="Arial"/>
                <a:cs typeface="Arial"/>
              </a:defRPr>
            </a:defPPr>
          </a:lstStyle>
          <a:p xmlns:a="http://schemas.openxmlformats.org/drawingml/2006/main">
            <a:pPr algn="l">
              <a:defRPr sz="1875" b="1">
                <a:solidFill>
                  <a:srgbClr val="276B4F"/>
                </a:solidFill>
                <a:latin typeface="Arial"/>
                <a:ea typeface="Arial"/>
                <a:cs typeface="Arial"/>
              </a:defRPr>
            </a:pPr>
            <a:r>
              <a:rPr sz="1875" b="1">
                <a:solidFill>
                  <a:srgbClr val="276B4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E04CA67A-BD8F-482F-8EF7-B7DF01CD263B}"/>
              </a:ext>
            </a:extLst>
          </p:cNvPr>
          <p:cNvSpPr>
            <a:spLocks xmlns:a="http://schemas.openxmlformats.org/drawingml/2006/main" noGrp="1"/>
          </p:cNvSpPr>
          <p:nvPr/>
        </p:nvSpPr>
        <p:spPr>
          <a:xfrm xmlns:a="http://schemas.openxmlformats.org/drawingml/2006/main">
            <a:off x="590550" y="32575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Unstructured reports</a:t>
            </a:r>
          </a:p>
        </p:txBody>
      </p:sp>
      <p:sp>
        <p:nvSpPr>
          <p:cNvPr id="11" name="">
            <a:extLst xmlns:a="http://schemas.openxmlformats.org/drawingml/2006/main">
              <a:ext uri="{FF2B5EF4-FFF2-40B4-BE49-F238E27FC236}">
                <a16:creationId xmlns:a16="http://schemas.microsoft.com/office/drawing/2014/main" id="{23E1AA34-1B04-49F1-950F-4CCE058855A8}"/>
              </a:ext>
            </a:extLst>
          </p:cNvPr>
          <p:cNvSpPr>
            <a:spLocks xmlns:a="http://schemas.openxmlformats.org/drawingml/2006/main" noGrp="1"/>
          </p:cNvSpPr>
          <p:nvPr/>
        </p:nvSpPr>
        <p:spPr>
          <a:xfrm xmlns:a="http://schemas.openxmlformats.org/drawingml/2006/main">
            <a:off x="590550" y="37147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6756B"/>
                </a:solidFill>
                <a:latin typeface="Arial"/>
                <a:ea typeface="Arial"/>
                <a:cs typeface="Arial"/>
              </a:defRPr>
            </a:defPPr>
          </a:lstStyle>
          <a:p xmlns:a="http://schemas.openxmlformats.org/drawingml/2006/main">
            <a:pPr algn="l">
              <a:defRPr sz="1125" b="0">
                <a:solidFill>
                  <a:srgbClr val="66756B"/>
                </a:solidFill>
                <a:latin typeface="Arial"/>
                <a:ea typeface="Arial"/>
                <a:cs typeface="Arial"/>
              </a:defRPr>
            </a:pPr>
            <a:r>
              <a:rPr sz="1125" b="0">
                <a:solidFill>
                  <a:srgbClr val="66756B"/>
                </a:solidFill>
                <a:latin typeface="Arial"/>
                <a:ea typeface="Arial"/>
                <a:cs typeface="Arial"/>
              </a:rPr>
              <a:t>Residents describe issues in their own words; a model needs useful text features.</a:t>
            </a:r>
          </a:p>
        </p:txBody>
      </p:sp>
      <p:sp>
        <p:nvSpPr>
          <p:cNvPr id="12" name="">
            <a:extLst xmlns:a="http://schemas.openxmlformats.org/drawingml/2006/main">
              <a:ext uri="{FF2B5EF4-FFF2-40B4-BE49-F238E27FC236}">
                <a16:creationId xmlns:a16="http://schemas.microsoft.com/office/drawing/2014/main" id="{C3842CD8-58CA-405E-ABF0-471C34DDA234}"/>
              </a:ext>
            </a:extLst>
          </p:cNvPr>
          <p:cNvSpPr>
            <a:spLocks xmlns:a="http://schemas.openxmlformats.org/drawingml/2006/main" noGrp="1"/>
          </p:cNvSpPr>
          <p:nvPr/>
        </p:nvSpPr>
        <p:spPr>
          <a:xfrm xmlns:a="http://schemas.openxmlformats.org/drawingml/2006/main">
            <a:off x="4267200" y="2590800"/>
            <a:ext cx="32385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152AD5-19F7-4865-863F-0E3ADA92C43E}"/>
              </a:ext>
            </a:extLst>
          </p:cNvPr>
          <p:cNvSpPr>
            <a:spLocks xmlns:a="http://schemas.openxmlformats.org/drawingml/2006/main" noGrp="1"/>
          </p:cNvSpPr>
          <p:nvPr/>
        </p:nvSpPr>
        <p:spPr>
          <a:xfrm xmlns:a="http://schemas.openxmlformats.org/drawingml/2006/main">
            <a:off x="4267200" y="28003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76B4F"/>
                </a:solidFill>
                <a:latin typeface="Arial"/>
                <a:ea typeface="Arial"/>
                <a:cs typeface="Arial"/>
              </a:defRPr>
            </a:defPPr>
          </a:lstStyle>
          <a:p xmlns:a="http://schemas.openxmlformats.org/drawingml/2006/main">
            <a:pPr algn="l">
              <a:defRPr sz="1875" b="1">
                <a:solidFill>
                  <a:srgbClr val="276B4F"/>
                </a:solidFill>
                <a:latin typeface="Arial"/>
                <a:ea typeface="Arial"/>
                <a:cs typeface="Arial"/>
              </a:defRPr>
            </a:pPr>
            <a:r>
              <a:rPr sz="1875" b="1">
                <a:solidFill>
                  <a:srgbClr val="276B4F"/>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99A4F980-0B38-4590-824F-DC00AA717FCA}"/>
              </a:ext>
            </a:extLst>
          </p:cNvPr>
          <p:cNvSpPr>
            <a:spLocks xmlns:a="http://schemas.openxmlformats.org/drawingml/2006/main" noGrp="1"/>
          </p:cNvSpPr>
          <p:nvPr/>
        </p:nvSpPr>
        <p:spPr>
          <a:xfrm xmlns:a="http://schemas.openxmlformats.org/drawingml/2006/main">
            <a:off x="4267200" y="32575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Many response teams</a:t>
            </a:r>
          </a:p>
        </p:txBody>
      </p:sp>
      <p:sp>
        <p:nvSpPr>
          <p:cNvPr id="15" name="">
            <a:extLst xmlns:a="http://schemas.openxmlformats.org/drawingml/2006/main">
              <a:ext uri="{FF2B5EF4-FFF2-40B4-BE49-F238E27FC236}">
                <a16:creationId xmlns:a16="http://schemas.microsoft.com/office/drawing/2014/main" id="{7881E909-8E95-4BC2-8C1D-54D46C2EC069}"/>
              </a:ext>
            </a:extLst>
          </p:cNvPr>
          <p:cNvSpPr>
            <a:spLocks xmlns:a="http://schemas.openxmlformats.org/drawingml/2006/main" noGrp="1"/>
          </p:cNvSpPr>
          <p:nvPr/>
        </p:nvSpPr>
        <p:spPr>
          <a:xfrm xmlns:a="http://schemas.openxmlformats.org/drawingml/2006/main">
            <a:off x="4267200" y="37147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6756B"/>
                </a:solidFill>
                <a:latin typeface="Arial"/>
                <a:ea typeface="Arial"/>
                <a:cs typeface="Arial"/>
              </a:defRPr>
            </a:defPPr>
          </a:lstStyle>
          <a:p xmlns:a="http://schemas.openxmlformats.org/drawingml/2006/main">
            <a:pPr algn="l">
              <a:defRPr sz="1125" b="0">
                <a:solidFill>
                  <a:srgbClr val="66756B"/>
                </a:solidFill>
                <a:latin typeface="Arial"/>
                <a:ea typeface="Arial"/>
                <a:cs typeface="Arial"/>
              </a:defRPr>
            </a:pPr>
            <a:r>
              <a:rPr sz="1125" b="0">
                <a:solidFill>
                  <a:srgbClr val="66756B"/>
                </a:solidFill>
                <a:latin typeface="Arial"/>
                <a:ea typeface="Arial"/>
                <a:cs typeface="Arial"/>
              </a:rPr>
              <a:t>The dataset contains 14 agency labels, with different request patterns.</a:t>
            </a:r>
          </a:p>
        </p:txBody>
      </p:sp>
      <p:sp>
        <p:nvSpPr>
          <p:cNvPr id="16" name="">
            <a:extLst xmlns:a="http://schemas.openxmlformats.org/drawingml/2006/main">
              <a:ext uri="{FF2B5EF4-FFF2-40B4-BE49-F238E27FC236}">
                <a16:creationId xmlns:a16="http://schemas.microsoft.com/office/drawing/2014/main" id="{ED69DF29-3952-4547-8345-83C38D919E98}"/>
              </a:ext>
            </a:extLst>
          </p:cNvPr>
          <p:cNvSpPr>
            <a:spLocks xmlns:a="http://schemas.openxmlformats.org/drawingml/2006/main" noGrp="1"/>
          </p:cNvSpPr>
          <p:nvPr/>
        </p:nvSpPr>
        <p:spPr>
          <a:xfrm xmlns:a="http://schemas.openxmlformats.org/drawingml/2006/main">
            <a:off x="7943850" y="2590800"/>
            <a:ext cx="32385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04DA23-F896-48CF-A23C-E1A2E1382CF7}"/>
              </a:ext>
            </a:extLst>
          </p:cNvPr>
          <p:cNvSpPr>
            <a:spLocks xmlns:a="http://schemas.openxmlformats.org/drawingml/2006/main" noGrp="1"/>
          </p:cNvSpPr>
          <p:nvPr/>
        </p:nvSpPr>
        <p:spPr>
          <a:xfrm xmlns:a="http://schemas.openxmlformats.org/drawingml/2006/main">
            <a:off x="7943850" y="28003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76B4F"/>
                </a:solidFill>
                <a:latin typeface="Arial"/>
                <a:ea typeface="Arial"/>
                <a:cs typeface="Arial"/>
              </a:defRPr>
            </a:defPPr>
          </a:lstStyle>
          <a:p xmlns:a="http://schemas.openxmlformats.org/drawingml/2006/main">
            <a:pPr algn="l">
              <a:defRPr sz="1875" b="1">
                <a:solidFill>
                  <a:srgbClr val="276B4F"/>
                </a:solidFill>
                <a:latin typeface="Arial"/>
                <a:ea typeface="Arial"/>
                <a:cs typeface="Arial"/>
              </a:defRPr>
            </a:pPr>
            <a:r>
              <a:rPr sz="1875" b="1">
                <a:solidFill>
                  <a:srgbClr val="276B4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F53104BF-E4B1-462C-A898-7A5A81EBA0AD}"/>
              </a:ext>
            </a:extLst>
          </p:cNvPr>
          <p:cNvSpPr>
            <a:spLocks xmlns:a="http://schemas.openxmlformats.org/drawingml/2006/main" noGrp="1"/>
          </p:cNvSpPr>
          <p:nvPr/>
        </p:nvSpPr>
        <p:spPr>
          <a:xfrm xmlns:a="http://schemas.openxmlformats.org/drawingml/2006/main">
            <a:off x="7943850" y="32575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Uncertain resolution time</a:t>
            </a:r>
          </a:p>
        </p:txBody>
      </p:sp>
      <p:sp>
        <p:nvSpPr>
          <p:cNvPr id="19" name="">
            <a:extLst xmlns:a="http://schemas.openxmlformats.org/drawingml/2006/main">
              <a:ext uri="{FF2B5EF4-FFF2-40B4-BE49-F238E27FC236}">
                <a16:creationId xmlns:a16="http://schemas.microsoft.com/office/drawing/2014/main" id="{06710322-3D39-4976-BB91-D602B9E25A00}"/>
              </a:ext>
            </a:extLst>
          </p:cNvPr>
          <p:cNvSpPr>
            <a:spLocks xmlns:a="http://schemas.openxmlformats.org/drawingml/2006/main" noGrp="1"/>
          </p:cNvSpPr>
          <p:nvPr/>
        </p:nvSpPr>
        <p:spPr>
          <a:xfrm xmlns:a="http://schemas.openxmlformats.org/drawingml/2006/main">
            <a:off x="7943850" y="37147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6756B"/>
                </a:solidFill>
                <a:latin typeface="Arial"/>
                <a:ea typeface="Arial"/>
                <a:cs typeface="Arial"/>
              </a:defRPr>
            </a:defPPr>
          </a:lstStyle>
          <a:p xmlns:a="http://schemas.openxmlformats.org/drawingml/2006/main">
            <a:pPr algn="l">
              <a:defRPr sz="1125" b="0">
                <a:solidFill>
                  <a:srgbClr val="66756B"/>
                </a:solidFill>
                <a:latin typeface="Arial"/>
                <a:ea typeface="Arial"/>
                <a:cs typeface="Arial"/>
              </a:defRPr>
            </a:pPr>
            <a:r>
              <a:rPr sz="1125" b="0">
                <a:solidFill>
                  <a:srgbClr val="66756B"/>
                </a:solidFill>
                <a:latin typeface="Arial"/>
                <a:ea typeface="Arial"/>
                <a:cs typeface="Arial"/>
              </a:rPr>
              <a:t>Only closed requests provide an observed duration; open cases cannot train that target.</a:t>
            </a:r>
          </a:p>
        </p:txBody>
      </p:sp>
      <p:sp>
        <p:nvSpPr>
          <p:cNvPr id="20" name="">
            <a:extLst xmlns:a="http://schemas.openxmlformats.org/drawingml/2006/main">
              <a:ext uri="{FF2B5EF4-FFF2-40B4-BE49-F238E27FC236}">
                <a16:creationId xmlns:a16="http://schemas.microsoft.com/office/drawing/2014/main" id="{E379F403-5255-455B-8470-81C935DC054F}"/>
              </a:ext>
            </a:extLst>
          </p:cNvPr>
          <p:cNvSpPr>
            <a:spLocks xmlns:a="http://schemas.openxmlformats.org/drawingml/2006/main" noGrp="1"/>
          </p:cNvSpPr>
          <p:nvPr/>
        </p:nvSpPr>
        <p:spPr>
          <a:xfrm xmlns:a="http://schemas.openxmlformats.org/drawingml/2006/main">
            <a:off x="590550" y="5019675"/>
            <a:ext cx="11010900" cy="857250"/>
          </a:xfrm>
          <a:prstGeom xmlns:a="http://schemas.openxmlformats.org/drawingml/2006/main" prst="roundRect">
            <a:avLst>
              <a:gd name="adj" fmla="val 11111"/>
            </a:avLst>
          </a:prstGeom>
          <a:solidFill xmlns:a="http://schemas.openxmlformats.org/drawingml/2006/main">
            <a:srgbClr val="E8F1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D7B3EEC-F729-47CD-A1E4-93188C88A202}"/>
              </a:ext>
            </a:extLst>
          </p:cNvPr>
          <p:cNvSpPr>
            <a:spLocks xmlns:a="http://schemas.openxmlformats.org/drawingml/2006/main" noGrp="1"/>
          </p:cNvSpPr>
          <p:nvPr/>
        </p:nvSpPr>
        <p:spPr>
          <a:xfrm xmlns:a="http://schemas.openxmlformats.org/drawingml/2006/main">
            <a:off x="790575" y="5219700"/>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PROJECT GOAL</a:t>
            </a:r>
          </a:p>
        </p:txBody>
      </p:sp>
      <p:sp>
        <p:nvSpPr>
          <p:cNvPr id="22" name="">
            <a:extLst xmlns:a="http://schemas.openxmlformats.org/drawingml/2006/main">
              <a:ext uri="{FF2B5EF4-FFF2-40B4-BE49-F238E27FC236}">
                <a16:creationId xmlns:a16="http://schemas.microsoft.com/office/drawing/2014/main" id="{3EA023F2-E5FE-4A6F-998F-5A96B41DF900}"/>
              </a:ext>
            </a:extLst>
          </p:cNvPr>
          <p:cNvSpPr>
            <a:spLocks xmlns:a="http://schemas.openxmlformats.org/drawingml/2006/main" noGrp="1"/>
          </p:cNvSpPr>
          <p:nvPr/>
        </p:nvSpPr>
        <p:spPr>
          <a:xfrm xmlns:a="http://schemas.openxmlformats.org/drawingml/2006/main">
            <a:off x="2286000" y="5181600"/>
            <a:ext cx="885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5271E"/>
                </a:solidFill>
                <a:latin typeface="Arial"/>
                <a:ea typeface="Arial"/>
                <a:cs typeface="Arial"/>
              </a:defRPr>
            </a:defPPr>
          </a:lstStyle>
          <a:p xmlns:a="http://schemas.openxmlformats.org/drawingml/2006/main">
            <a:pPr algn="l">
              <a:defRPr sz="1275" b="1">
                <a:solidFill>
                  <a:srgbClr val="15271E"/>
                </a:solidFill>
                <a:latin typeface="Arial"/>
                <a:ea typeface="Arial"/>
                <a:cs typeface="Arial"/>
              </a:defRPr>
            </a:pPr>
            <a:r>
              <a:rPr sz="1275" b="1">
                <a:solidFill>
                  <a:srgbClr val="15271E"/>
                </a:solidFill>
                <a:latin typeface="Arial"/>
                <a:ea typeface="Arial"/>
                <a:cs typeface="Arial"/>
              </a:rPr>
              <a:t>Recommend an agency and a resolution-time estimate; keep the recommendation traceable and reviewable.</a:t>
            </a:r>
          </a:p>
        </p:txBody>
      </p:sp>
      <p:sp>
        <p:nvSpPr>
          <p:cNvPr id="23" name="">
            <a:extLst xmlns:a="http://schemas.openxmlformats.org/drawingml/2006/main">
              <a:ext uri="{FF2B5EF4-FFF2-40B4-BE49-F238E27FC236}">
                <a16:creationId xmlns:a16="http://schemas.microsoft.com/office/drawing/2014/main" id="{44A4B4D1-837C-47E8-99FD-D28234FFD957}"/>
              </a:ext>
            </a:extLst>
          </p:cNvPr>
          <p:cNvSpPr>
            <a:spLocks xmlns:a="http://schemas.openxmlformats.org/drawingml/2006/main" noGrp="1"/>
          </p:cNvSpPr>
          <p:nvPr/>
        </p:nvSpPr>
        <p:spPr>
          <a:xfrm xmlns:a="http://schemas.openxmlformats.org/drawingml/2006/main">
            <a:off x="790575" y="558165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66756B"/>
                </a:solidFill>
                <a:latin typeface="Arial"/>
                <a:ea typeface="Arial"/>
                <a:cs typeface="Arial"/>
              </a:defRPr>
            </a:defPPr>
          </a:lstStyle>
          <a:p xmlns:a="http://schemas.openxmlformats.org/drawingml/2006/main">
            <a:pPr algn="l">
              <a:defRPr sz="825" b="0">
                <a:solidFill>
                  <a:srgbClr val="66756B"/>
                </a:solidFill>
                <a:latin typeface="Arial"/>
                <a:ea typeface="Arial"/>
                <a:cs typeface="Arial"/>
              </a:defRPr>
            </a:pPr>
            <a:r>
              <a:rPr sz="825" b="0">
                <a:solidFill>
                  <a:srgbClr val="66756B"/>
                </a:solidFill>
                <a:latin typeface="Arial"/>
                <a:ea typeface="Arial"/>
                <a:cs typeface="Arial"/>
              </a:rPr>
              <a:t>CivicFix supports a dispatch decision. It does not automatically dispatch a city crew.</a:t>
            </a:r>
          </a:p>
        </p:txBody>
      </p:sp>
    </p:spTree>
    <p:extLst>
      <p:ext uri="{BB962C8B-B14F-4D97-AF65-F5344CB8AC3E}">
        <p14:creationId xmlns:p14="http://schemas.microsoft.com/office/powerpoint/2010/main" val="1714494024"/>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144B6D6A-8F06-4053-A6A0-74A30722C691}"/>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E52AD5-BDF9-4296-8C14-EBE51BE72D1D}"/>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02  /  DATA</a:t>
            </a:r>
          </a:p>
        </p:txBody>
      </p:sp>
      <p:sp>
        <p:nvSpPr>
          <p:cNvPr id="3" name="">
            <a:extLst xmlns:a="http://schemas.openxmlformats.org/drawingml/2006/main">
              <a:ext uri="{FF2B5EF4-FFF2-40B4-BE49-F238E27FC236}">
                <a16:creationId xmlns:a16="http://schemas.microsoft.com/office/drawing/2014/main" id="{BFD420AC-8EF8-4294-8A53-2B7930A53AF8}"/>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NYC 311 dataset snapshot</a:t>
            </a:r>
          </a:p>
        </p:txBody>
      </p:sp>
      <p:sp>
        <p:nvSpPr>
          <p:cNvPr id="4" name="">
            <a:extLst xmlns:a="http://schemas.openxmlformats.org/drawingml/2006/main">
              <a:ext uri="{FF2B5EF4-FFF2-40B4-BE49-F238E27FC236}">
                <a16:creationId xmlns:a16="http://schemas.microsoft.com/office/drawing/2014/main" id="{A38A16C1-1C98-47EF-A944-9867A6F0D3B5}"/>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ACDA9D-4F13-4358-9612-B2FEE37F27D1}"/>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15EE1B80-60C7-44A3-96F6-A262E1819538}"/>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95D6973-0973-4475-AAD6-AA9B3012E22F}"/>
              </a:ext>
            </a:extLst>
          </p:cNvPr>
          <p:cNvSpPr>
            <a:spLocks xmlns:a="http://schemas.openxmlformats.org/drawingml/2006/main" noGrp="1"/>
          </p:cNvSpPr>
          <p:nvPr/>
        </p:nvSpPr>
        <p:spPr>
          <a:xfrm xmlns:a="http://schemas.openxmlformats.org/drawingml/2006/main">
            <a:off x="590550" y="160020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76B4F"/>
                </a:solidFill>
                <a:latin typeface="Arial"/>
                <a:ea typeface="Arial"/>
                <a:cs typeface="Arial"/>
              </a:defRPr>
            </a:defPPr>
          </a:lstStyle>
          <a:p xmlns:a="http://schemas.openxmlformats.org/drawingml/2006/main">
            <a:pPr algn="l">
              <a:defRPr sz="2550" b="1">
                <a:solidFill>
                  <a:srgbClr val="276B4F"/>
                </a:solidFill>
                <a:latin typeface="Arial"/>
                <a:ea typeface="Arial"/>
                <a:cs typeface="Arial"/>
              </a:defRPr>
            </a:pPr>
            <a:r>
              <a:rPr sz="2550" b="1">
                <a:solidFill>
                  <a:srgbClr val="276B4F"/>
                </a:solidFill>
                <a:latin typeface="Arial"/>
                <a:ea typeface="Arial"/>
                <a:cs typeface="Arial"/>
              </a:rPr>
              <a:t>20,000</a:t>
            </a:r>
          </a:p>
        </p:txBody>
      </p:sp>
      <p:sp>
        <p:nvSpPr>
          <p:cNvPr id="8" name="">
            <a:extLst xmlns:a="http://schemas.openxmlformats.org/drawingml/2006/main">
              <a:ext uri="{FF2B5EF4-FFF2-40B4-BE49-F238E27FC236}">
                <a16:creationId xmlns:a16="http://schemas.microsoft.com/office/drawing/2014/main" id="{83AA1E74-384A-4D12-BDD4-9647B3A78E27}"/>
              </a:ext>
            </a:extLst>
          </p:cNvPr>
          <p:cNvSpPr>
            <a:spLocks xmlns:a="http://schemas.openxmlformats.org/drawingml/2006/main" noGrp="1"/>
          </p:cNvSpPr>
          <p:nvPr/>
        </p:nvSpPr>
        <p:spPr>
          <a:xfrm xmlns:a="http://schemas.openxmlformats.org/drawingml/2006/main">
            <a:off x="590550" y="2066925"/>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records</a:t>
            </a:r>
          </a:p>
        </p:txBody>
      </p:sp>
      <p:sp>
        <p:nvSpPr>
          <p:cNvPr id="9" name="">
            <a:extLst xmlns:a="http://schemas.openxmlformats.org/drawingml/2006/main">
              <a:ext uri="{FF2B5EF4-FFF2-40B4-BE49-F238E27FC236}">
                <a16:creationId xmlns:a16="http://schemas.microsoft.com/office/drawing/2014/main" id="{5F2A04B9-95F7-41D0-9157-6C3CFF9F888A}"/>
              </a:ext>
            </a:extLst>
          </p:cNvPr>
          <p:cNvSpPr>
            <a:spLocks xmlns:a="http://schemas.openxmlformats.org/drawingml/2006/main" noGrp="1"/>
          </p:cNvSpPr>
          <p:nvPr/>
        </p:nvSpPr>
        <p:spPr>
          <a:xfrm xmlns:a="http://schemas.openxmlformats.org/drawingml/2006/main">
            <a:off x="3305175" y="160020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44</a:t>
            </a:r>
          </a:p>
        </p:txBody>
      </p:sp>
      <p:sp>
        <p:nvSpPr>
          <p:cNvPr id="10" name="">
            <a:extLst xmlns:a="http://schemas.openxmlformats.org/drawingml/2006/main">
              <a:ext uri="{FF2B5EF4-FFF2-40B4-BE49-F238E27FC236}">
                <a16:creationId xmlns:a16="http://schemas.microsoft.com/office/drawing/2014/main" id="{E440FBC5-EE3E-4093-A9D8-70174353BFBE}"/>
              </a:ext>
            </a:extLst>
          </p:cNvPr>
          <p:cNvSpPr>
            <a:spLocks xmlns:a="http://schemas.openxmlformats.org/drawingml/2006/main" noGrp="1"/>
          </p:cNvSpPr>
          <p:nvPr/>
        </p:nvSpPr>
        <p:spPr>
          <a:xfrm xmlns:a="http://schemas.openxmlformats.org/drawingml/2006/main">
            <a:off x="3305175" y="2066925"/>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source fields</a:t>
            </a:r>
          </a:p>
        </p:txBody>
      </p:sp>
      <p:sp>
        <p:nvSpPr>
          <p:cNvPr id="11" name="">
            <a:extLst xmlns:a="http://schemas.openxmlformats.org/drawingml/2006/main">
              <a:ext uri="{FF2B5EF4-FFF2-40B4-BE49-F238E27FC236}">
                <a16:creationId xmlns:a16="http://schemas.microsoft.com/office/drawing/2014/main" id="{8E118133-6DEA-4BBA-9753-110F817EC7C2}"/>
              </a:ext>
            </a:extLst>
          </p:cNvPr>
          <p:cNvSpPr>
            <a:spLocks xmlns:a="http://schemas.openxmlformats.org/drawingml/2006/main" noGrp="1"/>
          </p:cNvSpPr>
          <p:nvPr/>
        </p:nvSpPr>
        <p:spPr>
          <a:xfrm xmlns:a="http://schemas.openxmlformats.org/drawingml/2006/main">
            <a:off x="6019800" y="160020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7FA03AEE-F7DC-42CF-B085-65576B273156}"/>
              </a:ext>
            </a:extLst>
          </p:cNvPr>
          <p:cNvSpPr>
            <a:spLocks xmlns:a="http://schemas.openxmlformats.org/drawingml/2006/main" noGrp="1"/>
          </p:cNvSpPr>
          <p:nvPr/>
        </p:nvSpPr>
        <p:spPr>
          <a:xfrm xmlns:a="http://schemas.openxmlformats.org/drawingml/2006/main">
            <a:off x="6019800" y="2066925"/>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boroughs + unspecified</a:t>
            </a:r>
          </a:p>
        </p:txBody>
      </p:sp>
      <p:sp>
        <p:nvSpPr>
          <p:cNvPr id="13" name="">
            <a:extLst xmlns:a="http://schemas.openxmlformats.org/drawingml/2006/main">
              <a:ext uri="{FF2B5EF4-FFF2-40B4-BE49-F238E27FC236}">
                <a16:creationId xmlns:a16="http://schemas.microsoft.com/office/drawing/2014/main" id="{26C9B84E-2837-4818-9C6E-B52D5B648EB6}"/>
              </a:ext>
            </a:extLst>
          </p:cNvPr>
          <p:cNvSpPr>
            <a:spLocks xmlns:a="http://schemas.openxmlformats.org/drawingml/2006/main" noGrp="1"/>
          </p:cNvSpPr>
          <p:nvPr/>
        </p:nvSpPr>
        <p:spPr>
          <a:xfrm xmlns:a="http://schemas.openxmlformats.org/drawingml/2006/main">
            <a:off x="8734425" y="160020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14</a:t>
            </a:r>
          </a:p>
        </p:txBody>
      </p:sp>
      <p:sp>
        <p:nvSpPr>
          <p:cNvPr id="14" name="">
            <a:extLst xmlns:a="http://schemas.openxmlformats.org/drawingml/2006/main">
              <a:ext uri="{FF2B5EF4-FFF2-40B4-BE49-F238E27FC236}">
                <a16:creationId xmlns:a16="http://schemas.microsoft.com/office/drawing/2014/main" id="{A42B74E7-766D-4152-9A08-1021622959FB}"/>
              </a:ext>
            </a:extLst>
          </p:cNvPr>
          <p:cNvSpPr>
            <a:spLocks xmlns:a="http://schemas.openxmlformats.org/drawingml/2006/main" noGrp="1"/>
          </p:cNvSpPr>
          <p:nvPr/>
        </p:nvSpPr>
        <p:spPr>
          <a:xfrm xmlns:a="http://schemas.openxmlformats.org/drawingml/2006/main">
            <a:off x="8734425" y="2066925"/>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agency labels</a:t>
            </a:r>
          </a:p>
        </p:txBody>
      </p:sp>
      <p:sp>
        <p:nvSpPr>
          <p:cNvPr id="15" name="">
            <a:extLst xmlns:a="http://schemas.openxmlformats.org/drawingml/2006/main">
              <a:ext uri="{FF2B5EF4-FFF2-40B4-BE49-F238E27FC236}">
                <a16:creationId xmlns:a16="http://schemas.microsoft.com/office/drawing/2014/main" id="{C37097B4-2BB3-4627-A51D-F1606D7163E8}"/>
              </a:ext>
            </a:extLst>
          </p:cNvPr>
          <p:cNvSpPr>
            <a:spLocks xmlns:a="http://schemas.openxmlformats.org/drawingml/2006/main" noGrp="1"/>
          </p:cNvSpPr>
          <p:nvPr/>
        </p:nvSpPr>
        <p:spPr>
          <a:xfrm xmlns:a="http://schemas.openxmlformats.org/drawingml/2006/main">
            <a:off x="590550" y="25717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Records by borough</a:t>
            </a:r>
          </a:p>
        </p:txBody>
      </p:sp>
      <p:sp>
        <p:nvSpPr>
          <p:cNvPr id="16" name="">
            <a:extLst xmlns:a="http://schemas.openxmlformats.org/drawingml/2006/main">
              <a:ext uri="{FF2B5EF4-FFF2-40B4-BE49-F238E27FC236}">
                <a16:creationId xmlns:a16="http://schemas.microsoft.com/office/drawing/2014/main" id="{43C0DE77-8544-47F7-9B48-082B4BDA9C76}"/>
              </a:ext>
            </a:extLst>
          </p:cNvPr>
          <p:cNvSpPr>
            <a:spLocks xmlns:a="http://schemas.openxmlformats.org/drawingml/2006/main" noGrp="1"/>
          </p:cNvSpPr>
          <p:nvPr/>
        </p:nvSpPr>
        <p:spPr>
          <a:xfrm xmlns:a="http://schemas.openxmlformats.org/drawingml/2006/main">
            <a:off x="2733675" y="2876550"/>
            <a:ext cx="9525" cy="24765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B4D11EE-B587-4F02-96D2-9825D8C70961}"/>
              </a:ext>
            </a:extLst>
          </p:cNvPr>
          <p:cNvSpPr>
            <a:spLocks xmlns:a="http://schemas.openxmlformats.org/drawingml/2006/main" noGrp="1"/>
          </p:cNvSpPr>
          <p:nvPr/>
        </p:nvSpPr>
        <p:spPr>
          <a:xfrm xmlns:a="http://schemas.openxmlformats.org/drawingml/2006/main">
            <a:off x="3783806" y="2876550"/>
            <a:ext cx="9525" cy="24765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110D691-6DBB-47C6-AF12-16964CA1325E}"/>
              </a:ext>
            </a:extLst>
          </p:cNvPr>
          <p:cNvSpPr>
            <a:spLocks xmlns:a="http://schemas.openxmlformats.org/drawingml/2006/main" noGrp="1"/>
          </p:cNvSpPr>
          <p:nvPr/>
        </p:nvSpPr>
        <p:spPr>
          <a:xfrm xmlns:a="http://schemas.openxmlformats.org/drawingml/2006/main">
            <a:off x="4833938" y="2876550"/>
            <a:ext cx="9525" cy="24765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48F8F46-CAB9-401C-8F92-F893860BB4F2}"/>
              </a:ext>
            </a:extLst>
          </p:cNvPr>
          <p:cNvSpPr>
            <a:spLocks xmlns:a="http://schemas.openxmlformats.org/drawingml/2006/main" noGrp="1"/>
          </p:cNvSpPr>
          <p:nvPr/>
        </p:nvSpPr>
        <p:spPr>
          <a:xfrm xmlns:a="http://schemas.openxmlformats.org/drawingml/2006/main">
            <a:off x="5884069" y="2876550"/>
            <a:ext cx="9525" cy="24765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D0F0B7F-1CB2-4B1B-A39F-BE9F9F35FA91}"/>
              </a:ext>
            </a:extLst>
          </p:cNvPr>
          <p:cNvSpPr>
            <a:spLocks xmlns:a="http://schemas.openxmlformats.org/drawingml/2006/main" noGrp="1"/>
          </p:cNvSpPr>
          <p:nvPr/>
        </p:nvSpPr>
        <p:spPr>
          <a:xfrm xmlns:a="http://schemas.openxmlformats.org/drawingml/2006/main">
            <a:off x="6934200" y="2876550"/>
            <a:ext cx="9525" cy="24765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7B2204-B40D-4E1F-A6E5-09CFD288B2CF}"/>
              </a:ext>
            </a:extLst>
          </p:cNvPr>
          <p:cNvSpPr>
            <a:spLocks xmlns:a="http://schemas.openxmlformats.org/drawingml/2006/main" noGrp="1"/>
          </p:cNvSpPr>
          <p:nvPr/>
        </p:nvSpPr>
        <p:spPr>
          <a:xfrm xmlns:a="http://schemas.openxmlformats.org/drawingml/2006/main">
            <a:off x="590550" y="30384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Brooklyn</a:t>
            </a:r>
          </a:p>
        </p:txBody>
      </p:sp>
      <p:sp>
        <p:nvSpPr>
          <p:cNvPr id="22" name="">
            <a:extLst xmlns:a="http://schemas.openxmlformats.org/drawingml/2006/main">
              <a:ext uri="{FF2B5EF4-FFF2-40B4-BE49-F238E27FC236}">
                <a16:creationId xmlns:a16="http://schemas.microsoft.com/office/drawing/2014/main" id="{4EBCACAD-09AF-4A52-929A-DB0F84EF8698}"/>
              </a:ext>
            </a:extLst>
          </p:cNvPr>
          <p:cNvSpPr>
            <a:spLocks xmlns:a="http://schemas.openxmlformats.org/drawingml/2006/main" noGrp="1"/>
          </p:cNvSpPr>
          <p:nvPr/>
        </p:nvSpPr>
        <p:spPr>
          <a:xfrm xmlns:a="http://schemas.openxmlformats.org/drawingml/2006/main">
            <a:off x="2733675" y="3014663"/>
            <a:ext cx="3750469"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93DD82-C363-4777-AD8E-8671E45D1072}"/>
              </a:ext>
            </a:extLst>
          </p:cNvPr>
          <p:cNvSpPr>
            <a:spLocks xmlns:a="http://schemas.openxmlformats.org/drawingml/2006/main" noGrp="1"/>
          </p:cNvSpPr>
          <p:nvPr/>
        </p:nvSpPr>
        <p:spPr>
          <a:xfrm xmlns:a="http://schemas.openxmlformats.org/drawingml/2006/main">
            <a:off x="7010400" y="30384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5,907</a:t>
            </a:r>
          </a:p>
        </p:txBody>
      </p:sp>
      <p:sp>
        <p:nvSpPr>
          <p:cNvPr id="24" name="">
            <a:extLst xmlns:a="http://schemas.openxmlformats.org/drawingml/2006/main">
              <a:ext uri="{FF2B5EF4-FFF2-40B4-BE49-F238E27FC236}">
                <a16:creationId xmlns:a16="http://schemas.microsoft.com/office/drawing/2014/main" id="{1E8CF40D-1B8B-43FA-91A9-486D51C1D7B3}"/>
              </a:ext>
            </a:extLst>
          </p:cNvPr>
          <p:cNvSpPr>
            <a:spLocks xmlns:a="http://schemas.openxmlformats.org/drawingml/2006/main" noGrp="1"/>
          </p:cNvSpPr>
          <p:nvPr/>
        </p:nvSpPr>
        <p:spPr>
          <a:xfrm xmlns:a="http://schemas.openxmlformats.org/drawingml/2006/main">
            <a:off x="590550" y="35337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Queens</a:t>
            </a:r>
          </a:p>
        </p:txBody>
      </p:sp>
      <p:sp>
        <p:nvSpPr>
          <p:cNvPr id="25" name="">
            <a:extLst xmlns:a="http://schemas.openxmlformats.org/drawingml/2006/main">
              <a:ext uri="{FF2B5EF4-FFF2-40B4-BE49-F238E27FC236}">
                <a16:creationId xmlns:a16="http://schemas.microsoft.com/office/drawing/2014/main" id="{BD98DD86-1910-4A52-AE8D-FE5BFB7451A1}"/>
              </a:ext>
            </a:extLst>
          </p:cNvPr>
          <p:cNvSpPr>
            <a:spLocks xmlns:a="http://schemas.openxmlformats.org/drawingml/2006/main" noGrp="1"/>
          </p:cNvSpPr>
          <p:nvPr/>
        </p:nvSpPr>
        <p:spPr>
          <a:xfrm xmlns:a="http://schemas.openxmlformats.org/drawingml/2006/main">
            <a:off x="2733675" y="3509963"/>
            <a:ext cx="3198724"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3B97A86-BBFE-4031-8B6A-26EE514CAFCE}"/>
              </a:ext>
            </a:extLst>
          </p:cNvPr>
          <p:cNvSpPr>
            <a:spLocks xmlns:a="http://schemas.openxmlformats.org/drawingml/2006/main" noGrp="1"/>
          </p:cNvSpPr>
          <p:nvPr/>
        </p:nvSpPr>
        <p:spPr>
          <a:xfrm xmlns:a="http://schemas.openxmlformats.org/drawingml/2006/main">
            <a:off x="7010400" y="35337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5,038</a:t>
            </a:r>
          </a:p>
        </p:txBody>
      </p:sp>
      <p:sp>
        <p:nvSpPr>
          <p:cNvPr id="27" name="">
            <a:extLst xmlns:a="http://schemas.openxmlformats.org/drawingml/2006/main">
              <a:ext uri="{FF2B5EF4-FFF2-40B4-BE49-F238E27FC236}">
                <a16:creationId xmlns:a16="http://schemas.microsoft.com/office/drawing/2014/main" id="{C0451910-FB02-43B6-BAF8-179AE47F7F19}"/>
              </a:ext>
            </a:extLst>
          </p:cNvPr>
          <p:cNvSpPr>
            <a:spLocks xmlns:a="http://schemas.openxmlformats.org/drawingml/2006/main" noGrp="1"/>
          </p:cNvSpPr>
          <p:nvPr/>
        </p:nvSpPr>
        <p:spPr>
          <a:xfrm xmlns:a="http://schemas.openxmlformats.org/drawingml/2006/main">
            <a:off x="590550" y="40290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Bronx</a:t>
            </a:r>
          </a:p>
        </p:txBody>
      </p:sp>
      <p:sp>
        <p:nvSpPr>
          <p:cNvPr id="28" name="">
            <a:extLst xmlns:a="http://schemas.openxmlformats.org/drawingml/2006/main">
              <a:ext uri="{FF2B5EF4-FFF2-40B4-BE49-F238E27FC236}">
                <a16:creationId xmlns:a16="http://schemas.microsoft.com/office/drawing/2014/main" id="{639833DD-D90A-4B1D-978D-3C4898367E0A}"/>
              </a:ext>
            </a:extLst>
          </p:cNvPr>
          <p:cNvSpPr>
            <a:spLocks xmlns:a="http://schemas.openxmlformats.org/drawingml/2006/main" noGrp="1"/>
          </p:cNvSpPr>
          <p:nvPr/>
        </p:nvSpPr>
        <p:spPr>
          <a:xfrm xmlns:a="http://schemas.openxmlformats.org/drawingml/2006/main">
            <a:off x="2733675" y="4005263"/>
            <a:ext cx="2722534"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7EB7DB6-C3A4-4998-B4DD-5A75A123BE40}"/>
              </a:ext>
            </a:extLst>
          </p:cNvPr>
          <p:cNvSpPr>
            <a:spLocks xmlns:a="http://schemas.openxmlformats.org/drawingml/2006/main" noGrp="1"/>
          </p:cNvSpPr>
          <p:nvPr/>
        </p:nvSpPr>
        <p:spPr>
          <a:xfrm xmlns:a="http://schemas.openxmlformats.org/drawingml/2006/main">
            <a:off x="7010400" y="40290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4,288</a:t>
            </a:r>
          </a:p>
        </p:txBody>
      </p:sp>
      <p:sp>
        <p:nvSpPr>
          <p:cNvPr id="30" name="">
            <a:extLst xmlns:a="http://schemas.openxmlformats.org/drawingml/2006/main">
              <a:ext uri="{FF2B5EF4-FFF2-40B4-BE49-F238E27FC236}">
                <a16:creationId xmlns:a16="http://schemas.microsoft.com/office/drawing/2014/main" id="{F61F425A-C86E-4864-BF12-96B65CA491D6}"/>
              </a:ext>
            </a:extLst>
          </p:cNvPr>
          <p:cNvSpPr>
            <a:spLocks xmlns:a="http://schemas.openxmlformats.org/drawingml/2006/main" noGrp="1"/>
          </p:cNvSpPr>
          <p:nvPr/>
        </p:nvSpPr>
        <p:spPr>
          <a:xfrm xmlns:a="http://schemas.openxmlformats.org/drawingml/2006/main">
            <a:off x="590550" y="45243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Manhattan</a:t>
            </a:r>
          </a:p>
        </p:txBody>
      </p:sp>
      <p:sp>
        <p:nvSpPr>
          <p:cNvPr id="31" name="">
            <a:extLst xmlns:a="http://schemas.openxmlformats.org/drawingml/2006/main">
              <a:ext uri="{FF2B5EF4-FFF2-40B4-BE49-F238E27FC236}">
                <a16:creationId xmlns:a16="http://schemas.microsoft.com/office/drawing/2014/main" id="{8D6BD05A-A363-4C17-A4F9-C9408CB01AEA}"/>
              </a:ext>
            </a:extLst>
          </p:cNvPr>
          <p:cNvSpPr>
            <a:spLocks xmlns:a="http://schemas.openxmlformats.org/drawingml/2006/main" noGrp="1"/>
          </p:cNvSpPr>
          <p:nvPr/>
        </p:nvSpPr>
        <p:spPr>
          <a:xfrm xmlns:a="http://schemas.openxmlformats.org/drawingml/2006/main">
            <a:off x="2733675" y="4500563"/>
            <a:ext cx="2495233"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5A62C2B-E4C4-4FF7-A5C8-BFE242A0A724}"/>
              </a:ext>
            </a:extLst>
          </p:cNvPr>
          <p:cNvSpPr>
            <a:spLocks xmlns:a="http://schemas.openxmlformats.org/drawingml/2006/main" noGrp="1"/>
          </p:cNvSpPr>
          <p:nvPr/>
        </p:nvSpPr>
        <p:spPr>
          <a:xfrm xmlns:a="http://schemas.openxmlformats.org/drawingml/2006/main">
            <a:off x="7010400" y="45243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3,930</a:t>
            </a:r>
          </a:p>
        </p:txBody>
      </p:sp>
      <p:sp>
        <p:nvSpPr>
          <p:cNvPr id="33" name="">
            <a:extLst xmlns:a="http://schemas.openxmlformats.org/drawingml/2006/main">
              <a:ext uri="{FF2B5EF4-FFF2-40B4-BE49-F238E27FC236}">
                <a16:creationId xmlns:a16="http://schemas.microsoft.com/office/drawing/2014/main" id="{2604D669-4BE4-457B-9A52-285F85C9AFF9}"/>
              </a:ext>
            </a:extLst>
          </p:cNvPr>
          <p:cNvSpPr>
            <a:spLocks xmlns:a="http://schemas.openxmlformats.org/drawingml/2006/main" noGrp="1"/>
          </p:cNvSpPr>
          <p:nvPr/>
        </p:nvSpPr>
        <p:spPr>
          <a:xfrm xmlns:a="http://schemas.openxmlformats.org/drawingml/2006/main">
            <a:off x="590550" y="50196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Staten Island</a:t>
            </a:r>
          </a:p>
        </p:txBody>
      </p:sp>
      <p:sp>
        <p:nvSpPr>
          <p:cNvPr id="34" name="">
            <a:extLst xmlns:a="http://schemas.openxmlformats.org/drawingml/2006/main">
              <a:ext uri="{FF2B5EF4-FFF2-40B4-BE49-F238E27FC236}">
                <a16:creationId xmlns:a16="http://schemas.microsoft.com/office/drawing/2014/main" id="{490A0700-65FA-4B1D-A3D9-75D3D3DED715}"/>
              </a:ext>
            </a:extLst>
          </p:cNvPr>
          <p:cNvSpPr>
            <a:spLocks xmlns:a="http://schemas.openxmlformats.org/drawingml/2006/main" noGrp="1"/>
          </p:cNvSpPr>
          <p:nvPr/>
        </p:nvSpPr>
        <p:spPr>
          <a:xfrm xmlns:a="http://schemas.openxmlformats.org/drawingml/2006/main">
            <a:off x="2733675" y="4995863"/>
            <a:ext cx="514285"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F41811A-67E7-4DB7-8C6E-2C393AE60C02}"/>
              </a:ext>
            </a:extLst>
          </p:cNvPr>
          <p:cNvSpPr>
            <a:spLocks xmlns:a="http://schemas.openxmlformats.org/drawingml/2006/main" noGrp="1"/>
          </p:cNvSpPr>
          <p:nvPr/>
        </p:nvSpPr>
        <p:spPr>
          <a:xfrm xmlns:a="http://schemas.openxmlformats.org/drawingml/2006/main">
            <a:off x="7010400" y="50196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810</a:t>
            </a:r>
          </a:p>
        </p:txBody>
      </p:sp>
      <p:sp>
        <p:nvSpPr>
          <p:cNvPr id="36" name="">
            <a:extLst xmlns:a="http://schemas.openxmlformats.org/drawingml/2006/main">
              <a:ext uri="{FF2B5EF4-FFF2-40B4-BE49-F238E27FC236}">
                <a16:creationId xmlns:a16="http://schemas.microsoft.com/office/drawing/2014/main" id="{31A837EF-4B38-4B4A-ABAF-A39C768D2184}"/>
              </a:ext>
            </a:extLst>
          </p:cNvPr>
          <p:cNvSpPr>
            <a:spLocks xmlns:a="http://schemas.openxmlformats.org/drawingml/2006/main" noGrp="1"/>
          </p:cNvSpPr>
          <p:nvPr/>
        </p:nvSpPr>
        <p:spPr>
          <a:xfrm xmlns:a="http://schemas.openxmlformats.org/drawingml/2006/main">
            <a:off x="8010525" y="2619375"/>
            <a:ext cx="3590925" cy="2971800"/>
          </a:xfrm>
          <a:prstGeom xmlns:a="http://schemas.openxmlformats.org/drawingml/2006/main" prst="roundRect">
            <a:avLst>
              <a:gd name="adj" fmla="val 3205"/>
            </a:avLst>
          </a:prstGeom>
          <a:solidFill xmlns:a="http://schemas.openxmlformats.org/drawingml/2006/main">
            <a:srgbClr val="FFFFFF"/>
          </a:solidFill>
          <a:ln xmlns:a="http://schemas.openxmlformats.org/drawingml/2006/main" w="9525">
            <a:solidFill>
              <a:srgbClr val="DEE5DE"/>
            </a:solidFill>
            <a:prstDash val="solid"/>
          </a:ln>
        </p:spPr>
      </p:sp>
      <p:sp>
        <p:nvSpPr>
          <p:cNvPr id="37" name="">
            <a:extLst xmlns:a="http://schemas.openxmlformats.org/drawingml/2006/main">
              <a:ext uri="{FF2B5EF4-FFF2-40B4-BE49-F238E27FC236}">
                <a16:creationId xmlns:a16="http://schemas.microsoft.com/office/drawing/2014/main" id="{E7539D83-BC71-4B5C-A7C9-F763317778BD}"/>
              </a:ext>
            </a:extLst>
          </p:cNvPr>
          <p:cNvSpPr>
            <a:spLocks xmlns:a="http://schemas.openxmlformats.org/drawingml/2006/main" noGrp="1"/>
          </p:cNvSpPr>
          <p:nvPr/>
        </p:nvSpPr>
        <p:spPr>
          <a:xfrm xmlns:a="http://schemas.openxmlformats.org/drawingml/2006/main">
            <a:off x="8286750" y="2876550"/>
            <a:ext cx="285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SNAPSHOT WINDOW</a:t>
            </a:r>
          </a:p>
        </p:txBody>
      </p:sp>
      <p:sp>
        <p:nvSpPr>
          <p:cNvPr id="38" name="">
            <a:extLst xmlns:a="http://schemas.openxmlformats.org/drawingml/2006/main">
              <a:ext uri="{FF2B5EF4-FFF2-40B4-BE49-F238E27FC236}">
                <a16:creationId xmlns:a16="http://schemas.microsoft.com/office/drawing/2014/main" id="{502F3A2F-EC48-4EA3-9F7B-7BA7408C4FB3}"/>
              </a:ext>
            </a:extLst>
          </p:cNvPr>
          <p:cNvSpPr>
            <a:spLocks xmlns:a="http://schemas.openxmlformats.org/drawingml/2006/main" noGrp="1"/>
          </p:cNvSpPr>
          <p:nvPr/>
        </p:nvSpPr>
        <p:spPr>
          <a:xfrm xmlns:a="http://schemas.openxmlformats.org/drawingml/2006/main">
            <a:off x="8286750" y="3171825"/>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5271E"/>
                </a:solidFill>
                <a:latin typeface="Arial"/>
                <a:ea typeface="Arial"/>
                <a:cs typeface="Arial"/>
              </a:defRPr>
            </a:defPPr>
          </a:lstStyle>
          <a:p xmlns:a="http://schemas.openxmlformats.org/drawingml/2006/main">
            <a:pPr algn="l">
              <a:defRPr sz="1575" b="1">
                <a:solidFill>
                  <a:srgbClr val="15271E"/>
                </a:solidFill>
                <a:latin typeface="Arial"/>
                <a:ea typeface="Arial"/>
                <a:cs typeface="Arial"/>
              </a:defRPr>
            </a:pPr>
            <a:r>
              <a:rPr sz="1575" b="1">
                <a:solidFill>
                  <a:srgbClr val="15271E"/>
                </a:solidFill>
                <a:latin typeface="Arial"/>
                <a:ea typeface="Arial"/>
                <a:cs typeface="Arial"/>
              </a:rPr>
              <a:t>Aug 7–9, 2026</a:t>
            </a:r>
          </a:p>
        </p:txBody>
      </p:sp>
      <p:sp>
        <p:nvSpPr>
          <p:cNvPr id="39" name="">
            <a:extLst xmlns:a="http://schemas.openxmlformats.org/drawingml/2006/main">
              <a:ext uri="{FF2B5EF4-FFF2-40B4-BE49-F238E27FC236}">
                <a16:creationId xmlns:a16="http://schemas.microsoft.com/office/drawing/2014/main" id="{763EB3ED-8AC2-4582-BEC6-7ADDDBD89D67}"/>
              </a:ext>
            </a:extLst>
          </p:cNvPr>
          <p:cNvSpPr>
            <a:spLocks xmlns:a="http://schemas.openxmlformats.org/drawingml/2006/main" noGrp="1"/>
          </p:cNvSpPr>
          <p:nvPr/>
        </p:nvSpPr>
        <p:spPr>
          <a:xfrm xmlns:a="http://schemas.openxmlformats.org/drawingml/2006/main">
            <a:off x="8286750" y="3676650"/>
            <a:ext cx="3000375"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35615A8-D839-45F2-84EA-F8E9F17AF767}"/>
              </a:ext>
            </a:extLst>
          </p:cNvPr>
          <p:cNvSpPr>
            <a:spLocks xmlns:a="http://schemas.openxmlformats.org/drawingml/2006/main" noGrp="1"/>
          </p:cNvSpPr>
          <p:nvPr/>
        </p:nvSpPr>
        <p:spPr>
          <a:xfrm xmlns:a="http://schemas.openxmlformats.org/drawingml/2006/main">
            <a:off x="8286750" y="3886200"/>
            <a:ext cx="128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76B4F"/>
                </a:solidFill>
                <a:latin typeface="Arial"/>
                <a:ea typeface="Arial"/>
                <a:cs typeface="Arial"/>
              </a:defRPr>
            </a:defPPr>
          </a:lstStyle>
          <a:p xmlns:a="http://schemas.openxmlformats.org/drawingml/2006/main">
            <a:pPr algn="l">
              <a:defRPr sz="2025" b="1">
                <a:solidFill>
                  <a:srgbClr val="276B4F"/>
                </a:solidFill>
                <a:latin typeface="Arial"/>
                <a:ea typeface="Arial"/>
                <a:cs typeface="Arial"/>
              </a:defRPr>
            </a:pPr>
            <a:r>
              <a:rPr sz="2025" b="1">
                <a:solidFill>
                  <a:srgbClr val="276B4F"/>
                </a:solidFill>
                <a:latin typeface="Arial"/>
                <a:ea typeface="Arial"/>
                <a:cs typeface="Arial"/>
              </a:rPr>
              <a:t>11,203</a:t>
            </a:r>
          </a:p>
        </p:txBody>
      </p:sp>
      <p:sp>
        <p:nvSpPr>
          <p:cNvPr id="41" name="">
            <a:extLst xmlns:a="http://schemas.openxmlformats.org/drawingml/2006/main">
              <a:ext uri="{FF2B5EF4-FFF2-40B4-BE49-F238E27FC236}">
                <a16:creationId xmlns:a16="http://schemas.microsoft.com/office/drawing/2014/main" id="{CE89BC5D-4D43-41E8-8459-E09E399871EC}"/>
              </a:ext>
            </a:extLst>
          </p:cNvPr>
          <p:cNvSpPr>
            <a:spLocks xmlns:a="http://schemas.openxmlformats.org/drawingml/2006/main" noGrp="1"/>
          </p:cNvSpPr>
          <p:nvPr/>
        </p:nvSpPr>
        <p:spPr>
          <a:xfrm xmlns:a="http://schemas.openxmlformats.org/drawingml/2006/main">
            <a:off x="9620250" y="39814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marked Closed</a:t>
            </a:r>
          </a:p>
        </p:txBody>
      </p:sp>
      <p:sp>
        <p:nvSpPr>
          <p:cNvPr id="42" name="">
            <a:extLst xmlns:a="http://schemas.openxmlformats.org/drawingml/2006/main">
              <a:ext uri="{FF2B5EF4-FFF2-40B4-BE49-F238E27FC236}">
                <a16:creationId xmlns:a16="http://schemas.microsoft.com/office/drawing/2014/main" id="{FF0816E9-14EC-4408-8419-87B558DEC364}"/>
              </a:ext>
            </a:extLst>
          </p:cNvPr>
          <p:cNvSpPr>
            <a:spLocks xmlns:a="http://schemas.openxmlformats.org/drawingml/2006/main" noGrp="1"/>
          </p:cNvSpPr>
          <p:nvPr/>
        </p:nvSpPr>
        <p:spPr>
          <a:xfrm xmlns:a="http://schemas.openxmlformats.org/drawingml/2006/main">
            <a:off x="8286750" y="4419600"/>
            <a:ext cx="128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D28C4F"/>
                </a:solidFill>
                <a:latin typeface="Arial"/>
                <a:ea typeface="Arial"/>
                <a:cs typeface="Arial"/>
              </a:defRPr>
            </a:defPPr>
          </a:lstStyle>
          <a:p xmlns:a="http://schemas.openxmlformats.org/drawingml/2006/main">
            <a:pPr algn="l">
              <a:defRPr sz="2025" b="1">
                <a:solidFill>
                  <a:srgbClr val="D28C4F"/>
                </a:solidFill>
                <a:latin typeface="Arial"/>
                <a:ea typeface="Arial"/>
                <a:cs typeface="Arial"/>
              </a:defRPr>
            </a:pPr>
            <a:r>
              <a:rPr sz="2025" b="1">
                <a:solidFill>
                  <a:srgbClr val="D28C4F"/>
                </a:solidFill>
                <a:latin typeface="Arial"/>
                <a:ea typeface="Arial"/>
                <a:cs typeface="Arial"/>
              </a:rPr>
              <a:t>8,741</a:t>
            </a:r>
          </a:p>
        </p:txBody>
      </p:sp>
      <p:sp>
        <p:nvSpPr>
          <p:cNvPr id="43" name="">
            <a:extLst xmlns:a="http://schemas.openxmlformats.org/drawingml/2006/main">
              <a:ext uri="{FF2B5EF4-FFF2-40B4-BE49-F238E27FC236}">
                <a16:creationId xmlns:a16="http://schemas.microsoft.com/office/drawing/2014/main" id="{721F0BE9-17A4-4969-9C74-D857D872BB23}"/>
              </a:ext>
            </a:extLst>
          </p:cNvPr>
          <p:cNvSpPr>
            <a:spLocks xmlns:a="http://schemas.openxmlformats.org/drawingml/2006/main" noGrp="1"/>
          </p:cNvSpPr>
          <p:nvPr/>
        </p:nvSpPr>
        <p:spPr>
          <a:xfrm xmlns:a="http://schemas.openxmlformats.org/drawingml/2006/main">
            <a:off x="9620250" y="4514850"/>
            <a:ext cx="176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marked Open / In Progress</a:t>
            </a:r>
          </a:p>
        </p:txBody>
      </p:sp>
      <p:sp>
        <p:nvSpPr>
          <p:cNvPr id="44" name="">
            <a:extLst xmlns:a="http://schemas.openxmlformats.org/drawingml/2006/main">
              <a:ext uri="{FF2B5EF4-FFF2-40B4-BE49-F238E27FC236}">
                <a16:creationId xmlns:a16="http://schemas.microsoft.com/office/drawing/2014/main" id="{E4C1F4F1-F886-4C96-A634-E126C586B9D4}"/>
              </a:ext>
            </a:extLst>
          </p:cNvPr>
          <p:cNvSpPr>
            <a:spLocks xmlns:a="http://schemas.openxmlformats.org/drawingml/2006/main" noGrp="1"/>
          </p:cNvSpPr>
          <p:nvPr/>
        </p:nvSpPr>
        <p:spPr>
          <a:xfrm xmlns:a="http://schemas.openxmlformats.org/drawingml/2006/main">
            <a:off x="8286750" y="50577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The source file is a short recent extract, not a multi-year census.</a:t>
            </a:r>
          </a:p>
        </p:txBody>
      </p:sp>
      <p:sp>
        <p:nvSpPr>
          <p:cNvPr id="45" name="">
            <a:extLst xmlns:a="http://schemas.openxmlformats.org/drawingml/2006/main">
              <a:ext uri="{FF2B5EF4-FFF2-40B4-BE49-F238E27FC236}">
                <a16:creationId xmlns:a16="http://schemas.microsoft.com/office/drawing/2014/main" id="{80F166D5-34E7-4DC2-BEDF-5AB5EE53655B}"/>
              </a:ext>
            </a:extLst>
          </p:cNvPr>
          <p:cNvSpPr>
            <a:spLocks xmlns:a="http://schemas.openxmlformats.org/drawingml/2006/main" noGrp="1"/>
          </p:cNvSpPr>
          <p:nvPr/>
        </p:nvSpPr>
        <p:spPr>
          <a:xfrm xmlns:a="http://schemas.openxmlformats.org/drawingml/2006/main">
            <a:off x="590550" y="5753100"/>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66756B"/>
                </a:solidFill>
                <a:latin typeface="Arial"/>
                <a:ea typeface="Arial"/>
                <a:cs typeface="Arial"/>
              </a:defRPr>
            </a:defPPr>
          </a:lstStyle>
          <a:p xmlns:a="http://schemas.openxmlformats.org/drawingml/2006/main">
            <a:pPr algn="l">
              <a:defRPr sz="825" b="0">
                <a:solidFill>
                  <a:srgbClr val="66756B"/>
                </a:solidFill>
                <a:latin typeface="Arial"/>
                <a:ea typeface="Arial"/>
                <a:cs typeface="Arial"/>
              </a:defRPr>
            </a:pPr>
            <a:r>
              <a:rPr sz="825" b="0">
                <a:solidFill>
                  <a:srgbClr val="66756B"/>
                </a:solidFill>
                <a:latin typeface="Arial"/>
                <a:ea typeface="Arial"/>
                <a:cs typeface="Arial"/>
              </a:rPr>
              <a:t>Borough counts shown for the five named boroughs; 27 records have an unspecified borough.</a:t>
            </a:r>
          </a:p>
        </p:txBody>
      </p:sp>
    </p:spTree>
    <p:extLst>
      <p:ext uri="{BB962C8B-B14F-4D97-AF65-F5344CB8AC3E}">
        <p14:creationId xmlns:p14="http://schemas.microsoft.com/office/powerpoint/2010/main" val="1653382435"/>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7BCD16FE-7398-4E97-8C2E-17121101DF83}"/>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BA64CA-E542-4DF4-90BB-8D6B517156F2}"/>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03  /  SYSTEM</a:t>
            </a:r>
          </a:p>
        </p:txBody>
      </p:sp>
      <p:sp>
        <p:nvSpPr>
          <p:cNvPr id="3" name="">
            <a:extLst xmlns:a="http://schemas.openxmlformats.org/drawingml/2006/main">
              <a:ext uri="{FF2B5EF4-FFF2-40B4-BE49-F238E27FC236}">
                <a16:creationId xmlns:a16="http://schemas.microsoft.com/office/drawing/2014/main" id="{B7AC36F9-DA69-4109-9E27-2B34E893D1CC}"/>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The end-to-end ML lifecycle</a:t>
            </a:r>
          </a:p>
        </p:txBody>
      </p:sp>
      <p:sp>
        <p:nvSpPr>
          <p:cNvPr id="4" name="">
            <a:extLst xmlns:a="http://schemas.openxmlformats.org/drawingml/2006/main">
              <a:ext uri="{FF2B5EF4-FFF2-40B4-BE49-F238E27FC236}">
                <a16:creationId xmlns:a16="http://schemas.microsoft.com/office/drawing/2014/main" id="{EB901A43-A2C6-4487-983A-5A12AA2076D5}"/>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9C02F0-3444-41F7-8E1E-A5F7F109EF31}"/>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D860974F-14BE-46FD-8017-36BF8520235E}"/>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8E58E192-D250-4228-AFC4-18E23D06349F}"/>
              </a:ext>
            </a:extLst>
          </p:cNvPr>
          <p:cNvSpPr>
            <a:spLocks xmlns:a="http://schemas.openxmlformats.org/drawingml/2006/main" noGrp="1"/>
          </p:cNvSpPr>
          <p:nvPr/>
        </p:nvSpPr>
        <p:spPr>
          <a:xfrm xmlns:a="http://schemas.openxmlformats.org/drawingml/2006/main">
            <a:off x="590550" y="15525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6B"/>
                </a:solidFill>
                <a:latin typeface="Arial"/>
                <a:ea typeface="Arial"/>
                <a:cs typeface="Arial"/>
              </a:defRPr>
            </a:defPPr>
          </a:lstStyle>
          <a:p xmlns:a="http://schemas.openxmlformats.org/drawingml/2006/main">
            <a:pPr algn="l">
              <a:defRPr sz="1350" b="0">
                <a:solidFill>
                  <a:srgbClr val="66756B"/>
                </a:solidFill>
                <a:latin typeface="Arial"/>
                <a:ea typeface="Arial"/>
                <a:cs typeface="Arial"/>
              </a:defRPr>
            </a:pPr>
            <a:r>
              <a:rPr sz="1350" b="0">
                <a:solidFill>
                  <a:srgbClr val="66756B"/>
                </a:solidFill>
                <a:latin typeface="Arial"/>
                <a:ea typeface="Arial"/>
                <a:cs typeface="Arial"/>
              </a:rPr>
              <a:t>One request moves through a repeatable pipeline—from raw city data to a logged recommendation.</a:t>
            </a:r>
          </a:p>
        </p:txBody>
      </p:sp>
      <p:sp>
        <p:nvSpPr>
          <p:cNvPr id="8" name="">
            <a:extLst xmlns:a="http://schemas.openxmlformats.org/drawingml/2006/main">
              <a:ext uri="{FF2B5EF4-FFF2-40B4-BE49-F238E27FC236}">
                <a16:creationId xmlns:a16="http://schemas.microsoft.com/office/drawing/2014/main" id="{4C2A438B-A0BA-4832-9D94-BBD7D1A49E9A}"/>
              </a:ext>
            </a:extLst>
          </p:cNvPr>
          <p:cNvSpPr>
            <a:spLocks xmlns:a="http://schemas.openxmlformats.org/drawingml/2006/main" noGrp="1"/>
          </p:cNvSpPr>
          <p:nvPr/>
        </p:nvSpPr>
        <p:spPr>
          <a:xfrm xmlns:a="http://schemas.openxmlformats.org/drawingml/2006/main">
            <a:off x="590550" y="2419350"/>
            <a:ext cx="1600200" cy="1619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EE5DE"/>
            </a:solidFill>
            <a:prstDash val="solid"/>
          </a:ln>
        </p:spPr>
      </p:sp>
      <p:sp>
        <p:nvSpPr>
          <p:cNvPr id="9" name="">
            <a:extLst xmlns:a="http://schemas.openxmlformats.org/drawingml/2006/main">
              <a:ext uri="{FF2B5EF4-FFF2-40B4-BE49-F238E27FC236}">
                <a16:creationId xmlns:a16="http://schemas.microsoft.com/office/drawing/2014/main" id="{EA451826-D871-442A-979C-9B3C5F1B0C7C}"/>
              </a:ext>
            </a:extLst>
          </p:cNvPr>
          <p:cNvSpPr>
            <a:spLocks xmlns:a="http://schemas.openxmlformats.org/drawingml/2006/main" noGrp="1"/>
          </p:cNvSpPr>
          <p:nvPr/>
        </p:nvSpPr>
        <p:spPr>
          <a:xfrm xmlns:a="http://schemas.openxmlformats.org/drawingml/2006/main">
            <a:off x="733425"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643C583C-65AA-46F5-8369-6611540D6FB3}"/>
              </a:ext>
            </a:extLst>
          </p:cNvPr>
          <p:cNvSpPr>
            <a:spLocks xmlns:a="http://schemas.openxmlformats.org/drawingml/2006/main" noGrp="1"/>
          </p:cNvSpPr>
          <p:nvPr/>
        </p:nvSpPr>
        <p:spPr>
          <a:xfrm xmlns:a="http://schemas.openxmlformats.org/drawingml/2006/main">
            <a:off x="733425"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INGEST</a:t>
            </a:r>
          </a:p>
        </p:txBody>
      </p:sp>
      <p:sp>
        <p:nvSpPr>
          <p:cNvPr id="11" name="">
            <a:extLst xmlns:a="http://schemas.openxmlformats.org/drawingml/2006/main">
              <a:ext uri="{FF2B5EF4-FFF2-40B4-BE49-F238E27FC236}">
                <a16:creationId xmlns:a16="http://schemas.microsoft.com/office/drawing/2014/main" id="{1D1FB476-7AC2-4A66-8305-20977725E41B}"/>
              </a:ext>
            </a:extLst>
          </p:cNvPr>
          <p:cNvSpPr>
            <a:spLocks xmlns:a="http://schemas.openxmlformats.org/drawingml/2006/main" noGrp="1"/>
          </p:cNvSpPr>
          <p:nvPr/>
        </p:nvSpPr>
        <p:spPr>
          <a:xfrm xmlns:a="http://schemas.openxmlformats.org/drawingml/2006/main">
            <a:off x="733425"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NYC 311</a:t>
            </a:r>
          </a:p>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CSV</a:t>
            </a:r>
          </a:p>
        </p:txBody>
      </p:sp>
      <p:sp>
        <p:nvSpPr>
          <p:cNvPr id="12" name="">
            <a:extLst xmlns:a="http://schemas.openxmlformats.org/drawingml/2006/main">
              <a:ext uri="{FF2B5EF4-FFF2-40B4-BE49-F238E27FC236}">
                <a16:creationId xmlns:a16="http://schemas.microsoft.com/office/drawing/2014/main" id="{0639D569-22B1-4AD0-BFEF-A437F02A248C}"/>
              </a:ext>
            </a:extLst>
          </p:cNvPr>
          <p:cNvSpPr>
            <a:spLocks xmlns:a="http://schemas.openxmlformats.org/drawingml/2006/main" noGrp="1"/>
          </p:cNvSpPr>
          <p:nvPr/>
        </p:nvSpPr>
        <p:spPr>
          <a:xfrm xmlns:a="http://schemas.openxmlformats.org/drawingml/2006/main">
            <a:off x="2219325" y="3057525"/>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76B4F"/>
                </a:solidFill>
                <a:latin typeface="Arial"/>
                <a:ea typeface="Arial"/>
                <a:cs typeface="Arial"/>
              </a:defRPr>
            </a:defPPr>
          </a:lstStyle>
          <a:p xmlns:a="http://schemas.openxmlformats.org/drawingml/2006/main">
            <a:pPr algn="ctr">
              <a:defRPr sz="1425" b="1">
                <a:solidFill>
                  <a:srgbClr val="276B4F"/>
                </a:solidFill>
                <a:latin typeface="Arial"/>
                <a:ea typeface="Arial"/>
                <a:cs typeface="Arial"/>
              </a:defRPr>
            </a:pPr>
            <a:r>
              <a:rPr sz="1425" b="1">
                <a:solidFill>
                  <a:srgbClr val="276B4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0177D4D4-21F9-4688-AEF3-2EDB87CB56DB}"/>
              </a:ext>
            </a:extLst>
          </p:cNvPr>
          <p:cNvSpPr>
            <a:spLocks xmlns:a="http://schemas.openxmlformats.org/drawingml/2006/main" noGrp="1"/>
          </p:cNvSpPr>
          <p:nvPr/>
        </p:nvSpPr>
        <p:spPr>
          <a:xfrm xmlns:a="http://schemas.openxmlformats.org/drawingml/2006/main">
            <a:off x="2428875" y="2419350"/>
            <a:ext cx="1600200" cy="1619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EE5DE"/>
            </a:solidFill>
            <a:prstDash val="solid"/>
          </a:ln>
        </p:spPr>
      </p:sp>
      <p:sp>
        <p:nvSpPr>
          <p:cNvPr id="14" name="">
            <a:extLst xmlns:a="http://schemas.openxmlformats.org/drawingml/2006/main">
              <a:ext uri="{FF2B5EF4-FFF2-40B4-BE49-F238E27FC236}">
                <a16:creationId xmlns:a16="http://schemas.microsoft.com/office/drawing/2014/main" id="{709DDD48-135A-4D1D-A4B9-9A93AA6682CE}"/>
              </a:ext>
            </a:extLst>
          </p:cNvPr>
          <p:cNvSpPr>
            <a:spLocks xmlns:a="http://schemas.openxmlformats.org/drawingml/2006/main" noGrp="1"/>
          </p:cNvSpPr>
          <p:nvPr/>
        </p:nvSpPr>
        <p:spPr>
          <a:xfrm xmlns:a="http://schemas.openxmlformats.org/drawingml/2006/main">
            <a:off x="2571750"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D5DF6CB1-70C8-4045-B749-6E1CED8FE408}"/>
              </a:ext>
            </a:extLst>
          </p:cNvPr>
          <p:cNvSpPr>
            <a:spLocks xmlns:a="http://schemas.openxmlformats.org/drawingml/2006/main" noGrp="1"/>
          </p:cNvSpPr>
          <p:nvPr/>
        </p:nvSpPr>
        <p:spPr>
          <a:xfrm xmlns:a="http://schemas.openxmlformats.org/drawingml/2006/main">
            <a:off x="2571750"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PREPARE</a:t>
            </a:r>
          </a:p>
        </p:txBody>
      </p:sp>
      <p:sp>
        <p:nvSpPr>
          <p:cNvPr id="16" name="">
            <a:extLst xmlns:a="http://schemas.openxmlformats.org/drawingml/2006/main">
              <a:ext uri="{FF2B5EF4-FFF2-40B4-BE49-F238E27FC236}">
                <a16:creationId xmlns:a16="http://schemas.microsoft.com/office/drawing/2014/main" id="{DB2E0F35-866A-4EAA-BD0E-4FCE6E4947A8}"/>
              </a:ext>
            </a:extLst>
          </p:cNvPr>
          <p:cNvSpPr>
            <a:spLocks xmlns:a="http://schemas.openxmlformats.org/drawingml/2006/main" noGrp="1"/>
          </p:cNvSpPr>
          <p:nvPr/>
        </p:nvSpPr>
        <p:spPr>
          <a:xfrm xmlns:a="http://schemas.openxmlformats.org/drawingml/2006/main">
            <a:off x="2571750"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Text + borough</a:t>
            </a:r>
          </a:p>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 complaint type</a:t>
            </a:r>
          </a:p>
        </p:txBody>
      </p:sp>
      <p:sp>
        <p:nvSpPr>
          <p:cNvPr id="17" name="">
            <a:extLst xmlns:a="http://schemas.openxmlformats.org/drawingml/2006/main">
              <a:ext uri="{FF2B5EF4-FFF2-40B4-BE49-F238E27FC236}">
                <a16:creationId xmlns:a16="http://schemas.microsoft.com/office/drawing/2014/main" id="{AA426584-4683-4A8E-99E3-4A465BE60544}"/>
              </a:ext>
            </a:extLst>
          </p:cNvPr>
          <p:cNvSpPr>
            <a:spLocks xmlns:a="http://schemas.openxmlformats.org/drawingml/2006/main" noGrp="1"/>
          </p:cNvSpPr>
          <p:nvPr/>
        </p:nvSpPr>
        <p:spPr>
          <a:xfrm xmlns:a="http://schemas.openxmlformats.org/drawingml/2006/main">
            <a:off x="4057650" y="3057525"/>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76B4F"/>
                </a:solidFill>
                <a:latin typeface="Arial"/>
                <a:ea typeface="Arial"/>
                <a:cs typeface="Arial"/>
              </a:defRPr>
            </a:defPPr>
          </a:lstStyle>
          <a:p xmlns:a="http://schemas.openxmlformats.org/drawingml/2006/main">
            <a:pPr algn="ctr">
              <a:defRPr sz="1425" b="1">
                <a:solidFill>
                  <a:srgbClr val="276B4F"/>
                </a:solidFill>
                <a:latin typeface="Arial"/>
                <a:ea typeface="Arial"/>
                <a:cs typeface="Arial"/>
              </a:defRPr>
            </a:pPr>
            <a:r>
              <a:rPr sz="1425" b="1">
                <a:solidFill>
                  <a:srgbClr val="276B4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53FD8D2D-C799-413A-BD85-C09B0AFCB0BD}"/>
              </a:ext>
            </a:extLst>
          </p:cNvPr>
          <p:cNvSpPr>
            <a:spLocks xmlns:a="http://schemas.openxmlformats.org/drawingml/2006/main" noGrp="1"/>
          </p:cNvSpPr>
          <p:nvPr/>
        </p:nvSpPr>
        <p:spPr>
          <a:xfrm xmlns:a="http://schemas.openxmlformats.org/drawingml/2006/main">
            <a:off x="4267200" y="2419350"/>
            <a:ext cx="1600200" cy="1619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EE5DE"/>
            </a:solidFill>
            <a:prstDash val="solid"/>
          </a:ln>
        </p:spPr>
      </p:sp>
      <p:sp>
        <p:nvSpPr>
          <p:cNvPr id="19" name="">
            <a:extLst xmlns:a="http://schemas.openxmlformats.org/drawingml/2006/main">
              <a:ext uri="{FF2B5EF4-FFF2-40B4-BE49-F238E27FC236}">
                <a16:creationId xmlns:a16="http://schemas.microsoft.com/office/drawing/2014/main" id="{D98DC186-47B2-43E8-B3BD-61ABA6C274C5}"/>
              </a:ext>
            </a:extLst>
          </p:cNvPr>
          <p:cNvSpPr>
            <a:spLocks xmlns:a="http://schemas.openxmlformats.org/drawingml/2006/main" noGrp="1"/>
          </p:cNvSpPr>
          <p:nvPr/>
        </p:nvSpPr>
        <p:spPr>
          <a:xfrm xmlns:a="http://schemas.openxmlformats.org/drawingml/2006/main">
            <a:off x="4410075"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C998EA28-C4CA-431B-A01B-827AA4E77AA1}"/>
              </a:ext>
            </a:extLst>
          </p:cNvPr>
          <p:cNvSpPr>
            <a:spLocks xmlns:a="http://schemas.openxmlformats.org/drawingml/2006/main" noGrp="1"/>
          </p:cNvSpPr>
          <p:nvPr/>
        </p:nvSpPr>
        <p:spPr>
          <a:xfrm xmlns:a="http://schemas.openxmlformats.org/drawingml/2006/main">
            <a:off x="4410075"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TRAIN</a:t>
            </a:r>
          </a:p>
        </p:txBody>
      </p:sp>
      <p:sp>
        <p:nvSpPr>
          <p:cNvPr id="21" name="">
            <a:extLst xmlns:a="http://schemas.openxmlformats.org/drawingml/2006/main">
              <a:ext uri="{FF2B5EF4-FFF2-40B4-BE49-F238E27FC236}">
                <a16:creationId xmlns:a16="http://schemas.microsoft.com/office/drawing/2014/main" id="{6A12D427-740F-4A6B-8780-D4C08B3001A9}"/>
              </a:ext>
            </a:extLst>
          </p:cNvPr>
          <p:cNvSpPr>
            <a:spLocks xmlns:a="http://schemas.openxmlformats.org/drawingml/2006/main" noGrp="1"/>
          </p:cNvSpPr>
          <p:nvPr/>
        </p:nvSpPr>
        <p:spPr>
          <a:xfrm xmlns:a="http://schemas.openxmlformats.org/drawingml/2006/main">
            <a:off x="4410075"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70% train</a:t>
            </a:r>
          </a:p>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10% validation</a:t>
            </a:r>
          </a:p>
        </p:txBody>
      </p:sp>
      <p:sp>
        <p:nvSpPr>
          <p:cNvPr id="22" name="">
            <a:extLst xmlns:a="http://schemas.openxmlformats.org/drawingml/2006/main">
              <a:ext uri="{FF2B5EF4-FFF2-40B4-BE49-F238E27FC236}">
                <a16:creationId xmlns:a16="http://schemas.microsoft.com/office/drawing/2014/main" id="{6C117342-245F-47BE-95F3-93DAADEDEA99}"/>
              </a:ext>
            </a:extLst>
          </p:cNvPr>
          <p:cNvSpPr>
            <a:spLocks xmlns:a="http://schemas.openxmlformats.org/drawingml/2006/main" noGrp="1"/>
          </p:cNvSpPr>
          <p:nvPr/>
        </p:nvSpPr>
        <p:spPr>
          <a:xfrm xmlns:a="http://schemas.openxmlformats.org/drawingml/2006/main">
            <a:off x="5895975" y="3057525"/>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76B4F"/>
                </a:solidFill>
                <a:latin typeface="Arial"/>
                <a:ea typeface="Arial"/>
                <a:cs typeface="Arial"/>
              </a:defRPr>
            </a:defPPr>
          </a:lstStyle>
          <a:p xmlns:a="http://schemas.openxmlformats.org/drawingml/2006/main">
            <a:pPr algn="ctr">
              <a:defRPr sz="1425" b="1">
                <a:solidFill>
                  <a:srgbClr val="276B4F"/>
                </a:solidFill>
                <a:latin typeface="Arial"/>
                <a:ea typeface="Arial"/>
                <a:cs typeface="Arial"/>
              </a:defRPr>
            </a:pPr>
            <a:r>
              <a:rPr sz="1425" b="1">
                <a:solidFill>
                  <a:srgbClr val="276B4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BCFA369F-01C7-4D39-B879-74874C2088B0}"/>
              </a:ext>
            </a:extLst>
          </p:cNvPr>
          <p:cNvSpPr>
            <a:spLocks xmlns:a="http://schemas.openxmlformats.org/drawingml/2006/main" noGrp="1"/>
          </p:cNvSpPr>
          <p:nvPr/>
        </p:nvSpPr>
        <p:spPr>
          <a:xfrm xmlns:a="http://schemas.openxmlformats.org/drawingml/2006/main">
            <a:off x="6105525" y="2419350"/>
            <a:ext cx="1600200" cy="1619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EE5DE"/>
            </a:solidFill>
            <a:prstDash val="solid"/>
          </a:ln>
        </p:spPr>
      </p:sp>
      <p:sp>
        <p:nvSpPr>
          <p:cNvPr id="24" name="">
            <a:extLst xmlns:a="http://schemas.openxmlformats.org/drawingml/2006/main">
              <a:ext uri="{FF2B5EF4-FFF2-40B4-BE49-F238E27FC236}">
                <a16:creationId xmlns:a16="http://schemas.microsoft.com/office/drawing/2014/main" id="{B5B0D96C-C697-4C53-AE23-6F51061AF323}"/>
              </a:ext>
            </a:extLst>
          </p:cNvPr>
          <p:cNvSpPr>
            <a:spLocks xmlns:a="http://schemas.openxmlformats.org/drawingml/2006/main" noGrp="1"/>
          </p:cNvSpPr>
          <p:nvPr/>
        </p:nvSpPr>
        <p:spPr>
          <a:xfrm xmlns:a="http://schemas.openxmlformats.org/drawingml/2006/main">
            <a:off x="6248400"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A6515563-2AEA-4CE5-8836-FDCE92BB756B}"/>
              </a:ext>
            </a:extLst>
          </p:cNvPr>
          <p:cNvSpPr>
            <a:spLocks xmlns:a="http://schemas.openxmlformats.org/drawingml/2006/main" noGrp="1"/>
          </p:cNvSpPr>
          <p:nvPr/>
        </p:nvSpPr>
        <p:spPr>
          <a:xfrm xmlns:a="http://schemas.openxmlformats.org/drawingml/2006/main">
            <a:off x="6248400"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EVALUATE</a:t>
            </a:r>
          </a:p>
        </p:txBody>
      </p:sp>
      <p:sp>
        <p:nvSpPr>
          <p:cNvPr id="26" name="">
            <a:extLst xmlns:a="http://schemas.openxmlformats.org/drawingml/2006/main">
              <a:ext uri="{FF2B5EF4-FFF2-40B4-BE49-F238E27FC236}">
                <a16:creationId xmlns:a16="http://schemas.microsoft.com/office/drawing/2014/main" id="{2A1EC961-9688-4799-AEFC-B0FC214F3EC3}"/>
              </a:ext>
            </a:extLst>
          </p:cNvPr>
          <p:cNvSpPr>
            <a:spLocks xmlns:a="http://schemas.openxmlformats.org/drawingml/2006/main" noGrp="1"/>
          </p:cNvSpPr>
          <p:nvPr/>
        </p:nvSpPr>
        <p:spPr>
          <a:xfrm xmlns:a="http://schemas.openxmlformats.org/drawingml/2006/main">
            <a:off x="6248400"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20% held-out</a:t>
            </a:r>
          </a:p>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test</a:t>
            </a:r>
          </a:p>
        </p:txBody>
      </p:sp>
      <p:sp>
        <p:nvSpPr>
          <p:cNvPr id="27" name="">
            <a:extLst xmlns:a="http://schemas.openxmlformats.org/drawingml/2006/main">
              <a:ext uri="{FF2B5EF4-FFF2-40B4-BE49-F238E27FC236}">
                <a16:creationId xmlns:a16="http://schemas.microsoft.com/office/drawing/2014/main" id="{1FBA0405-E65E-47CF-8ADC-4B5994AB8BF6}"/>
              </a:ext>
            </a:extLst>
          </p:cNvPr>
          <p:cNvSpPr>
            <a:spLocks xmlns:a="http://schemas.openxmlformats.org/drawingml/2006/main" noGrp="1"/>
          </p:cNvSpPr>
          <p:nvPr/>
        </p:nvSpPr>
        <p:spPr>
          <a:xfrm xmlns:a="http://schemas.openxmlformats.org/drawingml/2006/main">
            <a:off x="7734300" y="3057525"/>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76B4F"/>
                </a:solidFill>
                <a:latin typeface="Arial"/>
                <a:ea typeface="Arial"/>
                <a:cs typeface="Arial"/>
              </a:defRPr>
            </a:defPPr>
          </a:lstStyle>
          <a:p xmlns:a="http://schemas.openxmlformats.org/drawingml/2006/main">
            <a:pPr algn="ctr">
              <a:defRPr sz="1425" b="1">
                <a:solidFill>
                  <a:srgbClr val="276B4F"/>
                </a:solidFill>
                <a:latin typeface="Arial"/>
                <a:ea typeface="Arial"/>
                <a:cs typeface="Arial"/>
              </a:defRPr>
            </a:pPr>
            <a:r>
              <a:rPr sz="1425" b="1">
                <a:solidFill>
                  <a:srgbClr val="276B4F"/>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A7C621D-3FF9-4021-A20C-E52BA30748B2}"/>
              </a:ext>
            </a:extLst>
          </p:cNvPr>
          <p:cNvSpPr>
            <a:spLocks xmlns:a="http://schemas.openxmlformats.org/drawingml/2006/main" noGrp="1"/>
          </p:cNvSpPr>
          <p:nvPr/>
        </p:nvSpPr>
        <p:spPr>
          <a:xfrm xmlns:a="http://schemas.openxmlformats.org/drawingml/2006/main">
            <a:off x="7943850" y="2419350"/>
            <a:ext cx="1600200" cy="1619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EE5DE"/>
            </a:solidFill>
            <a:prstDash val="solid"/>
          </a:ln>
        </p:spPr>
      </p:sp>
      <p:sp>
        <p:nvSpPr>
          <p:cNvPr id="29" name="">
            <a:extLst xmlns:a="http://schemas.openxmlformats.org/drawingml/2006/main">
              <a:ext uri="{FF2B5EF4-FFF2-40B4-BE49-F238E27FC236}">
                <a16:creationId xmlns:a16="http://schemas.microsoft.com/office/drawing/2014/main" id="{0330CE94-2EE2-44E3-8AA6-BA5402A5A454}"/>
              </a:ext>
            </a:extLst>
          </p:cNvPr>
          <p:cNvSpPr>
            <a:spLocks xmlns:a="http://schemas.openxmlformats.org/drawingml/2006/main" noGrp="1"/>
          </p:cNvSpPr>
          <p:nvPr/>
        </p:nvSpPr>
        <p:spPr>
          <a:xfrm xmlns:a="http://schemas.openxmlformats.org/drawingml/2006/main">
            <a:off x="8086725"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05</a:t>
            </a:r>
          </a:p>
        </p:txBody>
      </p:sp>
      <p:sp>
        <p:nvSpPr>
          <p:cNvPr id="30" name="">
            <a:extLst xmlns:a="http://schemas.openxmlformats.org/drawingml/2006/main">
              <a:ext uri="{FF2B5EF4-FFF2-40B4-BE49-F238E27FC236}">
                <a16:creationId xmlns:a16="http://schemas.microsoft.com/office/drawing/2014/main" id="{531F3FC2-F97A-43C9-BBC9-C42B37B53291}"/>
              </a:ext>
            </a:extLst>
          </p:cNvPr>
          <p:cNvSpPr>
            <a:spLocks xmlns:a="http://schemas.openxmlformats.org/drawingml/2006/main" noGrp="1"/>
          </p:cNvSpPr>
          <p:nvPr/>
        </p:nvSpPr>
        <p:spPr>
          <a:xfrm xmlns:a="http://schemas.openxmlformats.org/drawingml/2006/main">
            <a:off x="8086725"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PACKAGE</a:t>
            </a:r>
          </a:p>
        </p:txBody>
      </p:sp>
      <p:sp>
        <p:nvSpPr>
          <p:cNvPr id="31" name="">
            <a:extLst xmlns:a="http://schemas.openxmlformats.org/drawingml/2006/main">
              <a:ext uri="{FF2B5EF4-FFF2-40B4-BE49-F238E27FC236}">
                <a16:creationId xmlns:a16="http://schemas.microsoft.com/office/drawing/2014/main" id="{BAAB2F0F-0E4A-4EC9-9705-92CC442E7398}"/>
              </a:ext>
            </a:extLst>
          </p:cNvPr>
          <p:cNvSpPr>
            <a:spLocks xmlns:a="http://schemas.openxmlformats.org/drawingml/2006/main" noGrp="1"/>
          </p:cNvSpPr>
          <p:nvPr/>
        </p:nvSpPr>
        <p:spPr>
          <a:xfrm xmlns:a="http://schemas.openxmlformats.org/drawingml/2006/main">
            <a:off x="8086725"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Saved sklearn</a:t>
            </a:r>
          </a:p>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pipelines</a:t>
            </a:r>
          </a:p>
        </p:txBody>
      </p:sp>
      <p:sp>
        <p:nvSpPr>
          <p:cNvPr id="32" name="">
            <a:extLst xmlns:a="http://schemas.openxmlformats.org/drawingml/2006/main">
              <a:ext uri="{FF2B5EF4-FFF2-40B4-BE49-F238E27FC236}">
                <a16:creationId xmlns:a16="http://schemas.microsoft.com/office/drawing/2014/main" id="{9031AC6E-063F-40DD-B188-000D2701DFB9}"/>
              </a:ext>
            </a:extLst>
          </p:cNvPr>
          <p:cNvSpPr>
            <a:spLocks xmlns:a="http://schemas.openxmlformats.org/drawingml/2006/main" noGrp="1"/>
          </p:cNvSpPr>
          <p:nvPr/>
        </p:nvSpPr>
        <p:spPr>
          <a:xfrm xmlns:a="http://schemas.openxmlformats.org/drawingml/2006/main">
            <a:off x="9572625" y="3057525"/>
            <a:ext cx="20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276B4F"/>
                </a:solidFill>
                <a:latin typeface="Arial"/>
                <a:ea typeface="Arial"/>
                <a:cs typeface="Arial"/>
              </a:defRPr>
            </a:defPPr>
          </a:lstStyle>
          <a:p xmlns:a="http://schemas.openxmlformats.org/drawingml/2006/main">
            <a:pPr algn="ctr">
              <a:defRPr sz="1425" b="1">
                <a:solidFill>
                  <a:srgbClr val="276B4F"/>
                </a:solidFill>
                <a:latin typeface="Arial"/>
                <a:ea typeface="Arial"/>
                <a:cs typeface="Arial"/>
              </a:defRPr>
            </a:pPr>
            <a:r>
              <a:rPr sz="1425" b="1">
                <a:solidFill>
                  <a:srgbClr val="276B4F"/>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977008DA-BCBB-434B-8C90-A13FA0F295D2}"/>
              </a:ext>
            </a:extLst>
          </p:cNvPr>
          <p:cNvSpPr>
            <a:spLocks xmlns:a="http://schemas.openxmlformats.org/drawingml/2006/main" noGrp="1"/>
          </p:cNvSpPr>
          <p:nvPr/>
        </p:nvSpPr>
        <p:spPr>
          <a:xfrm xmlns:a="http://schemas.openxmlformats.org/drawingml/2006/main">
            <a:off x="9782175" y="2419350"/>
            <a:ext cx="1600200" cy="1619250"/>
          </a:xfrm>
          <a:prstGeom xmlns:a="http://schemas.openxmlformats.org/drawingml/2006/main" prst="roundRect">
            <a:avLst>
              <a:gd name="adj" fmla="val 5952"/>
            </a:avLst>
          </a:prstGeom>
          <a:solidFill xmlns:a="http://schemas.openxmlformats.org/drawingml/2006/main">
            <a:srgbClr val="10231B"/>
          </a:solidFill>
          <a:ln xmlns:a="http://schemas.openxmlformats.org/drawingml/2006/main" w="9525">
            <a:solidFill>
              <a:srgbClr val="10231B"/>
            </a:solidFill>
            <a:prstDash val="solid"/>
          </a:ln>
        </p:spPr>
      </p:sp>
      <p:sp>
        <p:nvSpPr>
          <p:cNvPr id="34" name="">
            <a:extLst xmlns:a="http://schemas.openxmlformats.org/drawingml/2006/main">
              <a:ext uri="{FF2B5EF4-FFF2-40B4-BE49-F238E27FC236}">
                <a16:creationId xmlns:a16="http://schemas.microsoft.com/office/drawing/2014/main" id="{EC4AEB8E-BFEF-4F01-BAF8-C60B7F45C84F}"/>
              </a:ext>
            </a:extLst>
          </p:cNvPr>
          <p:cNvSpPr>
            <a:spLocks xmlns:a="http://schemas.openxmlformats.org/drawingml/2006/main" noGrp="1"/>
          </p:cNvSpPr>
          <p:nvPr/>
        </p:nvSpPr>
        <p:spPr>
          <a:xfrm xmlns:a="http://schemas.openxmlformats.org/drawingml/2006/main">
            <a:off x="9925050" y="25908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A9D3B4"/>
                </a:solidFill>
                <a:latin typeface="Arial"/>
                <a:ea typeface="Arial"/>
                <a:cs typeface="Arial"/>
              </a:defRPr>
            </a:defPPr>
          </a:lstStyle>
          <a:p xmlns:a="http://schemas.openxmlformats.org/drawingml/2006/main">
            <a:pPr algn="l">
              <a:defRPr sz="900" b="1">
                <a:solidFill>
                  <a:srgbClr val="A9D3B4"/>
                </a:solidFill>
                <a:latin typeface="Arial"/>
                <a:ea typeface="Arial"/>
                <a:cs typeface="Arial"/>
              </a:defRPr>
            </a:pPr>
            <a:r>
              <a:rPr sz="900" b="1">
                <a:solidFill>
                  <a:srgbClr val="A9D3B4"/>
                </a:solidFill>
                <a:latin typeface="Arial"/>
                <a:ea typeface="Arial"/>
                <a:cs typeface="Arial"/>
              </a:rPr>
              <a:t>06</a:t>
            </a:r>
          </a:p>
        </p:txBody>
      </p:sp>
      <p:sp>
        <p:nvSpPr>
          <p:cNvPr id="35" name="">
            <a:extLst xmlns:a="http://schemas.openxmlformats.org/drawingml/2006/main">
              <a:ext uri="{FF2B5EF4-FFF2-40B4-BE49-F238E27FC236}">
                <a16:creationId xmlns:a16="http://schemas.microsoft.com/office/drawing/2014/main" id="{302001A2-F390-4D7F-9A39-BEE0568210E2}"/>
              </a:ext>
            </a:extLst>
          </p:cNvPr>
          <p:cNvSpPr>
            <a:spLocks xmlns:a="http://schemas.openxmlformats.org/drawingml/2006/main" noGrp="1"/>
          </p:cNvSpPr>
          <p:nvPr/>
        </p:nvSpPr>
        <p:spPr>
          <a:xfrm xmlns:a="http://schemas.openxmlformats.org/drawingml/2006/main">
            <a:off x="9925050" y="2924175"/>
            <a:ext cx="1333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A9D3B4"/>
                </a:solidFill>
                <a:latin typeface="Arial"/>
                <a:ea typeface="Arial"/>
                <a:cs typeface="Arial"/>
              </a:defRPr>
            </a:defPPr>
          </a:lstStyle>
          <a:p xmlns:a="http://schemas.openxmlformats.org/drawingml/2006/main">
            <a:pPr algn="l">
              <a:defRPr sz="750" b="1">
                <a:solidFill>
                  <a:srgbClr val="A9D3B4"/>
                </a:solidFill>
                <a:latin typeface="Arial"/>
                <a:ea typeface="Arial"/>
                <a:cs typeface="Arial"/>
              </a:defRPr>
            </a:pPr>
            <a:r>
              <a:rPr sz="750" b="1">
                <a:solidFill>
                  <a:srgbClr val="A9D3B4"/>
                </a:solidFill>
                <a:latin typeface="Arial"/>
                <a:ea typeface="Arial"/>
                <a:cs typeface="Arial"/>
              </a:rPr>
              <a:t>SERVE</a:t>
            </a:r>
          </a:p>
        </p:txBody>
      </p:sp>
      <p:sp>
        <p:nvSpPr>
          <p:cNvPr id="36" name="">
            <a:extLst xmlns:a="http://schemas.openxmlformats.org/drawingml/2006/main">
              <a:ext uri="{FF2B5EF4-FFF2-40B4-BE49-F238E27FC236}">
                <a16:creationId xmlns:a16="http://schemas.microsoft.com/office/drawing/2014/main" id="{379AF0FA-AF5E-4DC4-B523-5DBE4F55552B}"/>
              </a:ext>
            </a:extLst>
          </p:cNvPr>
          <p:cNvSpPr>
            <a:spLocks xmlns:a="http://schemas.openxmlformats.org/drawingml/2006/main" noGrp="1"/>
          </p:cNvSpPr>
          <p:nvPr/>
        </p:nvSpPr>
        <p:spPr>
          <a:xfrm xmlns:a="http://schemas.openxmlformats.org/drawingml/2006/main">
            <a:off x="9925050" y="3257550"/>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FFFFF"/>
                </a:solidFill>
                <a:latin typeface="Arial"/>
                <a:ea typeface="Arial"/>
                <a:cs typeface="Arial"/>
              </a:defRPr>
            </a:defPPr>
          </a:lstStyle>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Flask form</a:t>
            </a:r>
          </a:p>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 REST API</a:t>
            </a:r>
          </a:p>
        </p:txBody>
      </p:sp>
      <p:sp>
        <p:nvSpPr>
          <p:cNvPr id="37" name="">
            <a:extLst xmlns:a="http://schemas.openxmlformats.org/drawingml/2006/main">
              <a:ext uri="{FF2B5EF4-FFF2-40B4-BE49-F238E27FC236}">
                <a16:creationId xmlns:a16="http://schemas.microsoft.com/office/drawing/2014/main" id="{386B91B6-4418-4D3B-8C09-CF80437753B5}"/>
              </a:ext>
            </a:extLst>
          </p:cNvPr>
          <p:cNvSpPr>
            <a:spLocks xmlns:a="http://schemas.openxmlformats.org/drawingml/2006/main" noGrp="1"/>
          </p:cNvSpPr>
          <p:nvPr/>
        </p:nvSpPr>
        <p:spPr>
          <a:xfrm xmlns:a="http://schemas.openxmlformats.org/drawingml/2006/main">
            <a:off x="590550" y="4410075"/>
            <a:ext cx="11010900" cy="1152525"/>
          </a:xfrm>
          <a:prstGeom xmlns:a="http://schemas.openxmlformats.org/drawingml/2006/main" prst="roundRect">
            <a:avLst>
              <a:gd name="adj" fmla="val 8264"/>
            </a:avLst>
          </a:prstGeom>
          <a:solidFill xmlns:a="http://schemas.openxmlformats.org/drawingml/2006/main">
            <a:srgbClr val="E8F1E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C38652-95DA-4016-913A-929A0779CEA5}"/>
              </a:ext>
            </a:extLst>
          </p:cNvPr>
          <p:cNvSpPr>
            <a:spLocks xmlns:a="http://schemas.openxmlformats.org/drawingml/2006/main" noGrp="1"/>
          </p:cNvSpPr>
          <p:nvPr/>
        </p:nvSpPr>
        <p:spPr>
          <a:xfrm xmlns:a="http://schemas.openxmlformats.org/drawingml/2006/main">
            <a:off x="800100" y="46101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CLASSIFICATION SPLIT</a:t>
            </a:r>
          </a:p>
        </p:txBody>
      </p:sp>
      <p:sp>
        <p:nvSpPr>
          <p:cNvPr id="39" name="">
            <a:extLst xmlns:a="http://schemas.openxmlformats.org/drawingml/2006/main">
              <a:ext uri="{FF2B5EF4-FFF2-40B4-BE49-F238E27FC236}">
                <a16:creationId xmlns:a16="http://schemas.microsoft.com/office/drawing/2014/main" id="{268773B1-B1C0-4480-BF81-AF5B6433B548}"/>
              </a:ext>
            </a:extLst>
          </p:cNvPr>
          <p:cNvSpPr>
            <a:spLocks xmlns:a="http://schemas.openxmlformats.org/drawingml/2006/main" noGrp="1"/>
          </p:cNvSpPr>
          <p:nvPr/>
        </p:nvSpPr>
        <p:spPr>
          <a:xfrm xmlns:a="http://schemas.openxmlformats.org/drawingml/2006/main">
            <a:off x="800100" y="4924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271E"/>
                </a:solidFill>
                <a:latin typeface="Arial"/>
                <a:ea typeface="Arial"/>
                <a:cs typeface="Arial"/>
              </a:defRPr>
            </a:defPPr>
          </a:lstStyle>
          <a:p xmlns:a="http://schemas.openxmlformats.org/drawingml/2006/main">
            <a:pPr algn="l">
              <a:defRPr sz="1350" b="1">
                <a:solidFill>
                  <a:srgbClr val="15271E"/>
                </a:solidFill>
                <a:latin typeface="Arial"/>
                <a:ea typeface="Arial"/>
                <a:cs typeface="Arial"/>
              </a:defRPr>
            </a:pPr>
            <a:r>
              <a:rPr sz="1350" b="1">
                <a:solidFill>
                  <a:srgbClr val="15271E"/>
                </a:solidFill>
                <a:latin typeface="Arial"/>
                <a:ea typeface="Arial"/>
                <a:cs typeface="Arial"/>
              </a:rPr>
              <a:t>13,993 train</a:t>
            </a:r>
          </a:p>
        </p:txBody>
      </p:sp>
      <p:sp>
        <p:nvSpPr>
          <p:cNvPr id="40" name="">
            <a:extLst xmlns:a="http://schemas.openxmlformats.org/drawingml/2006/main">
              <a:ext uri="{FF2B5EF4-FFF2-40B4-BE49-F238E27FC236}">
                <a16:creationId xmlns:a16="http://schemas.microsoft.com/office/drawing/2014/main" id="{CB2E60DE-C82A-4D9D-A79F-4DD5A72B20E7}"/>
              </a:ext>
            </a:extLst>
          </p:cNvPr>
          <p:cNvSpPr>
            <a:spLocks xmlns:a="http://schemas.openxmlformats.org/drawingml/2006/main" noGrp="1"/>
          </p:cNvSpPr>
          <p:nvPr/>
        </p:nvSpPr>
        <p:spPr>
          <a:xfrm xmlns:a="http://schemas.openxmlformats.org/drawingml/2006/main">
            <a:off x="2933700" y="49244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271E"/>
                </a:solidFill>
                <a:latin typeface="Arial"/>
                <a:ea typeface="Arial"/>
                <a:cs typeface="Arial"/>
              </a:defRPr>
            </a:defPPr>
          </a:lstStyle>
          <a:p xmlns:a="http://schemas.openxmlformats.org/drawingml/2006/main">
            <a:pPr algn="l">
              <a:defRPr sz="1350" b="1">
                <a:solidFill>
                  <a:srgbClr val="15271E"/>
                </a:solidFill>
                <a:latin typeface="Arial"/>
                <a:ea typeface="Arial"/>
                <a:cs typeface="Arial"/>
              </a:defRPr>
            </a:pPr>
            <a:r>
              <a:rPr sz="1350" b="1">
                <a:solidFill>
                  <a:srgbClr val="15271E"/>
                </a:solidFill>
                <a:latin typeface="Arial"/>
                <a:ea typeface="Arial"/>
                <a:cs typeface="Arial"/>
              </a:rPr>
              <a:t>2,000 validation</a:t>
            </a:r>
          </a:p>
        </p:txBody>
      </p:sp>
      <p:sp>
        <p:nvSpPr>
          <p:cNvPr id="41" name="">
            <a:extLst xmlns:a="http://schemas.openxmlformats.org/drawingml/2006/main">
              <a:ext uri="{FF2B5EF4-FFF2-40B4-BE49-F238E27FC236}">
                <a16:creationId xmlns:a16="http://schemas.microsoft.com/office/drawing/2014/main" id="{A18A96B6-4010-4260-8043-165A5D70E445}"/>
              </a:ext>
            </a:extLst>
          </p:cNvPr>
          <p:cNvSpPr>
            <a:spLocks xmlns:a="http://schemas.openxmlformats.org/drawingml/2006/main" noGrp="1"/>
          </p:cNvSpPr>
          <p:nvPr/>
        </p:nvSpPr>
        <p:spPr>
          <a:xfrm xmlns:a="http://schemas.openxmlformats.org/drawingml/2006/main">
            <a:off x="5238750"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271E"/>
                </a:solidFill>
                <a:latin typeface="Arial"/>
                <a:ea typeface="Arial"/>
                <a:cs typeface="Arial"/>
              </a:defRPr>
            </a:defPPr>
          </a:lstStyle>
          <a:p xmlns:a="http://schemas.openxmlformats.org/drawingml/2006/main">
            <a:pPr algn="l">
              <a:defRPr sz="1350" b="1">
                <a:solidFill>
                  <a:srgbClr val="15271E"/>
                </a:solidFill>
                <a:latin typeface="Arial"/>
                <a:ea typeface="Arial"/>
                <a:cs typeface="Arial"/>
              </a:defRPr>
            </a:pPr>
            <a:r>
              <a:rPr sz="1350" b="1">
                <a:solidFill>
                  <a:srgbClr val="15271E"/>
                </a:solidFill>
                <a:latin typeface="Arial"/>
                <a:ea typeface="Arial"/>
                <a:cs typeface="Arial"/>
              </a:rPr>
              <a:t>3,999 test</a:t>
            </a:r>
          </a:p>
        </p:txBody>
      </p:sp>
      <p:sp>
        <p:nvSpPr>
          <p:cNvPr id="42" name="">
            <a:extLst xmlns:a="http://schemas.openxmlformats.org/drawingml/2006/main">
              <a:ext uri="{FF2B5EF4-FFF2-40B4-BE49-F238E27FC236}">
                <a16:creationId xmlns:a16="http://schemas.microsoft.com/office/drawing/2014/main" id="{C02CB44B-994E-4695-8A7E-60E98199A9AD}"/>
              </a:ext>
            </a:extLst>
          </p:cNvPr>
          <p:cNvSpPr>
            <a:spLocks xmlns:a="http://schemas.openxmlformats.org/drawingml/2006/main" noGrp="1"/>
          </p:cNvSpPr>
          <p:nvPr/>
        </p:nvSpPr>
        <p:spPr>
          <a:xfrm xmlns:a="http://schemas.openxmlformats.org/drawingml/2006/main">
            <a:off x="800100" y="5276850"/>
            <a:ext cx="1033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66756B"/>
                </a:solidFill>
                <a:latin typeface="Arial"/>
                <a:ea typeface="Arial"/>
                <a:cs typeface="Arial"/>
              </a:defRPr>
            </a:defPPr>
          </a:lstStyle>
          <a:p xmlns:a="http://schemas.openxmlformats.org/drawingml/2006/main">
            <a:pPr algn="l">
              <a:defRPr sz="825" b="0">
                <a:solidFill>
                  <a:srgbClr val="66756B"/>
                </a:solidFill>
                <a:latin typeface="Arial"/>
                <a:ea typeface="Arial"/>
                <a:cs typeface="Arial"/>
              </a:defRPr>
            </a:pPr>
            <a:r>
              <a:rPr sz="825" b="0">
                <a:solidFill>
                  <a:srgbClr val="66756B"/>
                </a:solidFill>
                <a:latin typeface="Arial"/>
                <a:ea typeface="Arial"/>
                <a:cs typeface="Arial"/>
              </a:rPr>
              <a:t>8 low-frequency examples excluded from stratified agency evaluation; all records remain in dataset exploration.</a:t>
            </a:r>
          </a:p>
        </p:txBody>
      </p:sp>
    </p:spTree>
    <p:extLst>
      <p:ext uri="{BB962C8B-B14F-4D97-AF65-F5344CB8AC3E}">
        <p14:creationId xmlns:p14="http://schemas.microsoft.com/office/powerpoint/2010/main" val="472783152"/>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02CE25A-9A70-4F9F-83DA-E0A49AB1670F}"/>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8D8479-1629-4B07-831F-9C883E7C78AC}"/>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04  /  EXPLORATORY DATA ANALYSIS</a:t>
            </a:r>
          </a:p>
        </p:txBody>
      </p:sp>
      <p:sp>
        <p:nvSpPr>
          <p:cNvPr id="3" name="">
            <a:extLst xmlns:a="http://schemas.openxmlformats.org/drawingml/2006/main">
              <a:ext uri="{FF2B5EF4-FFF2-40B4-BE49-F238E27FC236}">
                <a16:creationId xmlns:a16="http://schemas.microsoft.com/office/drawing/2014/main" id="{EC47ED73-DE72-4039-8C67-C5F8B7218360}"/>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What residents report</a:t>
            </a:r>
          </a:p>
        </p:txBody>
      </p:sp>
      <p:sp>
        <p:nvSpPr>
          <p:cNvPr id="4" name="">
            <a:extLst xmlns:a="http://schemas.openxmlformats.org/drawingml/2006/main">
              <a:ext uri="{FF2B5EF4-FFF2-40B4-BE49-F238E27FC236}">
                <a16:creationId xmlns:a16="http://schemas.microsoft.com/office/drawing/2014/main" id="{F37469EE-FA6B-4B5B-9BE3-F67E0FFBD35B}"/>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154A03-ECD0-4887-B211-5A4A7B746617}"/>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626E3AC4-FB10-4C12-AA06-5C90551AEA22}"/>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23FF0EC1-5F6B-4F3C-96CA-03E1E766E08F}"/>
              </a:ext>
            </a:extLst>
          </p:cNvPr>
          <p:cNvSpPr>
            <a:spLocks xmlns:a="http://schemas.openxmlformats.org/drawingml/2006/main" noGrp="1"/>
          </p:cNvSpPr>
          <p:nvPr/>
        </p:nvSpPr>
        <p:spPr>
          <a:xfrm xmlns:a="http://schemas.openxmlformats.org/drawingml/2006/main">
            <a:off x="590550" y="15430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6B"/>
                </a:solidFill>
                <a:latin typeface="Arial"/>
                <a:ea typeface="Arial"/>
                <a:cs typeface="Arial"/>
              </a:defRPr>
            </a:defPPr>
          </a:lstStyle>
          <a:p xmlns:a="http://schemas.openxmlformats.org/drawingml/2006/main">
            <a:pPr algn="l">
              <a:defRPr sz="1275" b="0">
                <a:solidFill>
                  <a:srgbClr val="66756B"/>
                </a:solidFill>
                <a:latin typeface="Arial"/>
                <a:ea typeface="Arial"/>
                <a:cs typeface="Arial"/>
              </a:defRPr>
            </a:pPr>
            <a:r>
              <a:rPr sz="1275" b="0">
                <a:solidFill>
                  <a:srgbClr val="66756B"/>
                </a:solidFill>
                <a:latin typeface="Arial"/>
                <a:ea typeface="Arial"/>
                <a:cs typeface="Arial"/>
              </a:rPr>
              <a:t>The extract is concentrated in a handful of request types. Treat these as counts in this snapshot, not citywide rates.</a:t>
            </a:r>
          </a:p>
        </p:txBody>
      </p:sp>
      <p:sp>
        <p:nvSpPr>
          <p:cNvPr id="8" name="">
            <a:extLst xmlns:a="http://schemas.openxmlformats.org/drawingml/2006/main">
              <a:ext uri="{FF2B5EF4-FFF2-40B4-BE49-F238E27FC236}">
                <a16:creationId xmlns:a16="http://schemas.microsoft.com/office/drawing/2014/main" id="{B1F2C1B4-097B-47B6-9BFF-18AA2DC0A0B7}"/>
              </a:ext>
            </a:extLst>
          </p:cNvPr>
          <p:cNvSpPr>
            <a:spLocks xmlns:a="http://schemas.openxmlformats.org/drawingml/2006/main" noGrp="1"/>
          </p:cNvSpPr>
          <p:nvPr/>
        </p:nvSpPr>
        <p:spPr>
          <a:xfrm xmlns:a="http://schemas.openxmlformats.org/drawingml/2006/main">
            <a:off x="590550" y="22098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Most frequent complaint categories</a:t>
            </a:r>
          </a:p>
        </p:txBody>
      </p:sp>
      <p:sp>
        <p:nvSpPr>
          <p:cNvPr id="9" name="">
            <a:extLst xmlns:a="http://schemas.openxmlformats.org/drawingml/2006/main">
              <a:ext uri="{FF2B5EF4-FFF2-40B4-BE49-F238E27FC236}">
                <a16:creationId xmlns:a16="http://schemas.microsoft.com/office/drawing/2014/main" id="{02CAB107-812B-44BD-BE3D-A2848685AE20}"/>
              </a:ext>
            </a:extLst>
          </p:cNvPr>
          <p:cNvSpPr>
            <a:spLocks xmlns:a="http://schemas.openxmlformats.org/drawingml/2006/main" noGrp="1"/>
          </p:cNvSpPr>
          <p:nvPr/>
        </p:nvSpPr>
        <p:spPr>
          <a:xfrm xmlns:a="http://schemas.openxmlformats.org/drawingml/2006/main">
            <a:off x="2733675" y="2514600"/>
            <a:ext cx="9525" cy="30480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993AA8-7DA0-436D-8A37-8EBC4ED06BB8}"/>
              </a:ext>
            </a:extLst>
          </p:cNvPr>
          <p:cNvSpPr>
            <a:spLocks xmlns:a="http://schemas.openxmlformats.org/drawingml/2006/main" noGrp="1"/>
          </p:cNvSpPr>
          <p:nvPr/>
        </p:nvSpPr>
        <p:spPr>
          <a:xfrm xmlns:a="http://schemas.openxmlformats.org/drawingml/2006/main">
            <a:off x="3879056" y="2514600"/>
            <a:ext cx="9525" cy="30480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956CF8-D3CD-47C6-A44E-743FE4908F61}"/>
              </a:ext>
            </a:extLst>
          </p:cNvPr>
          <p:cNvSpPr>
            <a:spLocks xmlns:a="http://schemas.openxmlformats.org/drawingml/2006/main" noGrp="1"/>
          </p:cNvSpPr>
          <p:nvPr/>
        </p:nvSpPr>
        <p:spPr>
          <a:xfrm xmlns:a="http://schemas.openxmlformats.org/drawingml/2006/main">
            <a:off x="5024438" y="2514600"/>
            <a:ext cx="9525" cy="30480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A16DB3-AC6B-47EF-B829-63DB8A85942C}"/>
              </a:ext>
            </a:extLst>
          </p:cNvPr>
          <p:cNvSpPr>
            <a:spLocks xmlns:a="http://schemas.openxmlformats.org/drawingml/2006/main" noGrp="1"/>
          </p:cNvSpPr>
          <p:nvPr/>
        </p:nvSpPr>
        <p:spPr>
          <a:xfrm xmlns:a="http://schemas.openxmlformats.org/drawingml/2006/main">
            <a:off x="6169819" y="2514600"/>
            <a:ext cx="9525" cy="30480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5CE44CE-0752-43C4-810C-EC619C98D5AE}"/>
              </a:ext>
            </a:extLst>
          </p:cNvPr>
          <p:cNvSpPr>
            <a:spLocks xmlns:a="http://schemas.openxmlformats.org/drawingml/2006/main" noGrp="1"/>
          </p:cNvSpPr>
          <p:nvPr/>
        </p:nvSpPr>
        <p:spPr>
          <a:xfrm xmlns:a="http://schemas.openxmlformats.org/drawingml/2006/main">
            <a:off x="7315200" y="2514600"/>
            <a:ext cx="9525" cy="304800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EA5A60-AC14-4C3E-955E-C89C81189E5D}"/>
              </a:ext>
            </a:extLst>
          </p:cNvPr>
          <p:cNvSpPr>
            <a:spLocks xmlns:a="http://schemas.openxmlformats.org/drawingml/2006/main" noGrp="1"/>
          </p:cNvSpPr>
          <p:nvPr/>
        </p:nvSpPr>
        <p:spPr>
          <a:xfrm xmlns:a="http://schemas.openxmlformats.org/drawingml/2006/main">
            <a:off x="590550" y="2682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Illegal Parking</a:t>
            </a:r>
          </a:p>
        </p:txBody>
      </p:sp>
      <p:sp>
        <p:nvSpPr>
          <p:cNvPr id="15" name="">
            <a:extLst xmlns:a="http://schemas.openxmlformats.org/drawingml/2006/main">
              <a:ext uri="{FF2B5EF4-FFF2-40B4-BE49-F238E27FC236}">
                <a16:creationId xmlns:a16="http://schemas.microsoft.com/office/drawing/2014/main" id="{CD205F2C-1588-4866-9A03-D21D32E4F1D9}"/>
              </a:ext>
            </a:extLst>
          </p:cNvPr>
          <p:cNvSpPr>
            <a:spLocks xmlns:a="http://schemas.openxmlformats.org/drawingml/2006/main" noGrp="1"/>
          </p:cNvSpPr>
          <p:nvPr/>
        </p:nvSpPr>
        <p:spPr>
          <a:xfrm xmlns:a="http://schemas.openxmlformats.org/drawingml/2006/main">
            <a:off x="2733675" y="2659063"/>
            <a:ext cx="4090647"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ADF2EE5-F79B-4A00-8A40-3C86EA7039A4}"/>
              </a:ext>
            </a:extLst>
          </p:cNvPr>
          <p:cNvSpPr>
            <a:spLocks xmlns:a="http://schemas.openxmlformats.org/drawingml/2006/main" noGrp="1"/>
          </p:cNvSpPr>
          <p:nvPr/>
        </p:nvSpPr>
        <p:spPr>
          <a:xfrm xmlns:a="http://schemas.openxmlformats.org/drawingml/2006/main">
            <a:off x="7391400" y="2682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3,055</a:t>
            </a:r>
          </a:p>
        </p:txBody>
      </p:sp>
      <p:sp>
        <p:nvSpPr>
          <p:cNvPr id="17" name="">
            <a:extLst xmlns:a="http://schemas.openxmlformats.org/drawingml/2006/main">
              <a:ext uri="{FF2B5EF4-FFF2-40B4-BE49-F238E27FC236}">
                <a16:creationId xmlns:a16="http://schemas.microsoft.com/office/drawing/2014/main" id="{B8550791-CD88-4B4C-91F4-CEF0A055FD75}"/>
              </a:ext>
            </a:extLst>
          </p:cNvPr>
          <p:cNvSpPr>
            <a:spLocks xmlns:a="http://schemas.openxmlformats.org/drawingml/2006/main" noGrp="1"/>
          </p:cNvSpPr>
          <p:nvPr/>
        </p:nvSpPr>
        <p:spPr>
          <a:xfrm xmlns:a="http://schemas.openxmlformats.org/drawingml/2006/main">
            <a:off x="590550" y="3190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Noise — Residential</a:t>
            </a:r>
          </a:p>
        </p:txBody>
      </p:sp>
      <p:sp>
        <p:nvSpPr>
          <p:cNvPr id="18" name="">
            <a:extLst xmlns:a="http://schemas.openxmlformats.org/drawingml/2006/main">
              <a:ext uri="{FF2B5EF4-FFF2-40B4-BE49-F238E27FC236}">
                <a16:creationId xmlns:a16="http://schemas.microsoft.com/office/drawing/2014/main" id="{CDA2A37D-8BD3-4BC3-A7C2-6883E9E3CEF5}"/>
              </a:ext>
            </a:extLst>
          </p:cNvPr>
          <p:cNvSpPr>
            <a:spLocks xmlns:a="http://schemas.openxmlformats.org/drawingml/2006/main" noGrp="1"/>
          </p:cNvSpPr>
          <p:nvPr/>
        </p:nvSpPr>
        <p:spPr>
          <a:xfrm xmlns:a="http://schemas.openxmlformats.org/drawingml/2006/main">
            <a:off x="2733675" y="3167063"/>
            <a:ext cx="2731562"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2663E60-A7F1-40E7-A8F7-7150A4BEB077}"/>
              </a:ext>
            </a:extLst>
          </p:cNvPr>
          <p:cNvSpPr>
            <a:spLocks xmlns:a="http://schemas.openxmlformats.org/drawingml/2006/main" noGrp="1"/>
          </p:cNvSpPr>
          <p:nvPr/>
        </p:nvSpPr>
        <p:spPr>
          <a:xfrm xmlns:a="http://schemas.openxmlformats.org/drawingml/2006/main">
            <a:off x="7391400" y="3190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2,040</a:t>
            </a:r>
          </a:p>
        </p:txBody>
      </p:sp>
      <p:sp>
        <p:nvSpPr>
          <p:cNvPr id="20" name="">
            <a:extLst xmlns:a="http://schemas.openxmlformats.org/drawingml/2006/main">
              <a:ext uri="{FF2B5EF4-FFF2-40B4-BE49-F238E27FC236}">
                <a16:creationId xmlns:a16="http://schemas.microsoft.com/office/drawing/2014/main" id="{79679A86-E4B3-4F7F-B647-BE45F0ABEA09}"/>
              </a:ext>
            </a:extLst>
          </p:cNvPr>
          <p:cNvSpPr>
            <a:spLocks xmlns:a="http://schemas.openxmlformats.org/drawingml/2006/main" noGrp="1"/>
          </p:cNvSpPr>
          <p:nvPr/>
        </p:nvSpPr>
        <p:spPr>
          <a:xfrm xmlns:a="http://schemas.openxmlformats.org/drawingml/2006/main">
            <a:off x="590550" y="3698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Noise — Street / Sidewalk</a:t>
            </a:r>
          </a:p>
        </p:txBody>
      </p:sp>
      <p:sp>
        <p:nvSpPr>
          <p:cNvPr id="21" name="">
            <a:extLst xmlns:a="http://schemas.openxmlformats.org/drawingml/2006/main">
              <a:ext uri="{FF2B5EF4-FFF2-40B4-BE49-F238E27FC236}">
                <a16:creationId xmlns:a16="http://schemas.microsoft.com/office/drawing/2014/main" id="{8DD7CCB4-C318-4D8C-8136-FEECE488A60D}"/>
              </a:ext>
            </a:extLst>
          </p:cNvPr>
          <p:cNvSpPr>
            <a:spLocks xmlns:a="http://schemas.openxmlformats.org/drawingml/2006/main" noGrp="1"/>
          </p:cNvSpPr>
          <p:nvPr/>
        </p:nvSpPr>
        <p:spPr>
          <a:xfrm xmlns:a="http://schemas.openxmlformats.org/drawingml/2006/main">
            <a:off x="2733675" y="3675063"/>
            <a:ext cx="2518660"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19479B9-6F72-419C-BFB0-FFB26EDDB700}"/>
              </a:ext>
            </a:extLst>
          </p:cNvPr>
          <p:cNvSpPr>
            <a:spLocks xmlns:a="http://schemas.openxmlformats.org/drawingml/2006/main" noGrp="1"/>
          </p:cNvSpPr>
          <p:nvPr/>
        </p:nvSpPr>
        <p:spPr>
          <a:xfrm xmlns:a="http://schemas.openxmlformats.org/drawingml/2006/main">
            <a:off x="7391400" y="3698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1,881</a:t>
            </a:r>
          </a:p>
        </p:txBody>
      </p:sp>
      <p:sp>
        <p:nvSpPr>
          <p:cNvPr id="23" name="">
            <a:extLst xmlns:a="http://schemas.openxmlformats.org/drawingml/2006/main">
              <a:ext uri="{FF2B5EF4-FFF2-40B4-BE49-F238E27FC236}">
                <a16:creationId xmlns:a16="http://schemas.microsoft.com/office/drawing/2014/main" id="{439F0C89-E7F9-4FF9-8EAA-35EDDC5F0DF1}"/>
              </a:ext>
            </a:extLst>
          </p:cNvPr>
          <p:cNvSpPr>
            <a:spLocks xmlns:a="http://schemas.openxmlformats.org/drawingml/2006/main" noGrp="1"/>
          </p:cNvSpPr>
          <p:nvPr/>
        </p:nvSpPr>
        <p:spPr>
          <a:xfrm xmlns:a="http://schemas.openxmlformats.org/drawingml/2006/main">
            <a:off x="590550" y="4206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Water Maintenance</a:t>
            </a:r>
          </a:p>
        </p:txBody>
      </p:sp>
      <p:sp>
        <p:nvSpPr>
          <p:cNvPr id="24" name="">
            <a:extLst xmlns:a="http://schemas.openxmlformats.org/drawingml/2006/main">
              <a:ext uri="{FF2B5EF4-FFF2-40B4-BE49-F238E27FC236}">
                <a16:creationId xmlns:a16="http://schemas.microsoft.com/office/drawing/2014/main" id="{CB92E5E4-E883-4B5C-AF28-4D1AA3398E53}"/>
              </a:ext>
            </a:extLst>
          </p:cNvPr>
          <p:cNvSpPr>
            <a:spLocks xmlns:a="http://schemas.openxmlformats.org/drawingml/2006/main" noGrp="1"/>
          </p:cNvSpPr>
          <p:nvPr/>
        </p:nvSpPr>
        <p:spPr>
          <a:xfrm xmlns:a="http://schemas.openxmlformats.org/drawingml/2006/main">
            <a:off x="2733675" y="4183063"/>
            <a:ext cx="1407290"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6D86EE-DA7E-49FD-86DB-1F8EC0FC3994}"/>
              </a:ext>
            </a:extLst>
          </p:cNvPr>
          <p:cNvSpPr>
            <a:spLocks xmlns:a="http://schemas.openxmlformats.org/drawingml/2006/main" noGrp="1"/>
          </p:cNvSpPr>
          <p:nvPr/>
        </p:nvSpPr>
        <p:spPr>
          <a:xfrm xmlns:a="http://schemas.openxmlformats.org/drawingml/2006/main">
            <a:off x="7391400" y="4206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1,051</a:t>
            </a:r>
          </a:p>
        </p:txBody>
      </p:sp>
      <p:sp>
        <p:nvSpPr>
          <p:cNvPr id="26" name="">
            <a:extLst xmlns:a="http://schemas.openxmlformats.org/drawingml/2006/main">
              <a:ext uri="{FF2B5EF4-FFF2-40B4-BE49-F238E27FC236}">
                <a16:creationId xmlns:a16="http://schemas.microsoft.com/office/drawing/2014/main" id="{DC42718C-4920-4A92-BF94-52E9ECD77BD1}"/>
              </a:ext>
            </a:extLst>
          </p:cNvPr>
          <p:cNvSpPr>
            <a:spLocks xmlns:a="http://schemas.openxmlformats.org/drawingml/2006/main" noGrp="1"/>
          </p:cNvSpPr>
          <p:nvPr/>
        </p:nvSpPr>
        <p:spPr>
          <a:xfrm xmlns:a="http://schemas.openxmlformats.org/drawingml/2006/main">
            <a:off x="590550" y="4714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Blocked Driveway</a:t>
            </a:r>
          </a:p>
        </p:txBody>
      </p:sp>
      <p:sp>
        <p:nvSpPr>
          <p:cNvPr id="27" name="">
            <a:extLst xmlns:a="http://schemas.openxmlformats.org/drawingml/2006/main">
              <a:ext uri="{FF2B5EF4-FFF2-40B4-BE49-F238E27FC236}">
                <a16:creationId xmlns:a16="http://schemas.microsoft.com/office/drawing/2014/main" id="{DB514F33-177F-4CF3-AF2D-57632D918862}"/>
              </a:ext>
            </a:extLst>
          </p:cNvPr>
          <p:cNvSpPr>
            <a:spLocks xmlns:a="http://schemas.openxmlformats.org/drawingml/2006/main" noGrp="1"/>
          </p:cNvSpPr>
          <p:nvPr/>
        </p:nvSpPr>
        <p:spPr>
          <a:xfrm xmlns:a="http://schemas.openxmlformats.org/drawingml/2006/main">
            <a:off x="2733675" y="4691063"/>
            <a:ext cx="1292136"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E82C0F6-B96F-4C25-AE95-B4204648710E}"/>
              </a:ext>
            </a:extLst>
          </p:cNvPr>
          <p:cNvSpPr>
            <a:spLocks xmlns:a="http://schemas.openxmlformats.org/drawingml/2006/main" noGrp="1"/>
          </p:cNvSpPr>
          <p:nvPr/>
        </p:nvSpPr>
        <p:spPr>
          <a:xfrm xmlns:a="http://schemas.openxmlformats.org/drawingml/2006/main">
            <a:off x="7391400" y="4714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965</a:t>
            </a:r>
          </a:p>
        </p:txBody>
      </p:sp>
      <p:sp>
        <p:nvSpPr>
          <p:cNvPr id="29" name="">
            <a:extLst xmlns:a="http://schemas.openxmlformats.org/drawingml/2006/main">
              <a:ext uri="{FF2B5EF4-FFF2-40B4-BE49-F238E27FC236}">
                <a16:creationId xmlns:a16="http://schemas.microsoft.com/office/drawing/2014/main" id="{65748BB2-58CB-4F67-8972-366936849C96}"/>
              </a:ext>
            </a:extLst>
          </p:cNvPr>
          <p:cNvSpPr>
            <a:spLocks xmlns:a="http://schemas.openxmlformats.org/drawingml/2006/main" noGrp="1"/>
          </p:cNvSpPr>
          <p:nvPr/>
        </p:nvSpPr>
        <p:spPr>
          <a:xfrm xmlns:a="http://schemas.openxmlformats.org/drawingml/2006/main">
            <a:off x="590550" y="5222875"/>
            <a:ext cx="2028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Unsanitary Condition</a:t>
            </a:r>
          </a:p>
        </p:txBody>
      </p:sp>
      <p:sp>
        <p:nvSpPr>
          <p:cNvPr id="30" name="">
            <a:extLst xmlns:a="http://schemas.openxmlformats.org/drawingml/2006/main">
              <a:ext uri="{FF2B5EF4-FFF2-40B4-BE49-F238E27FC236}">
                <a16:creationId xmlns:a16="http://schemas.microsoft.com/office/drawing/2014/main" id="{4DCAB207-C77C-4F2C-8BAA-1C82CA570B88}"/>
              </a:ext>
            </a:extLst>
          </p:cNvPr>
          <p:cNvSpPr>
            <a:spLocks xmlns:a="http://schemas.openxmlformats.org/drawingml/2006/main" noGrp="1"/>
          </p:cNvSpPr>
          <p:nvPr/>
        </p:nvSpPr>
        <p:spPr>
          <a:xfrm xmlns:a="http://schemas.openxmlformats.org/drawingml/2006/main">
            <a:off x="2733675" y="5199063"/>
            <a:ext cx="1055133" cy="219075"/>
          </a:xfrm>
          <a:prstGeom xmlns:a="http://schemas.openxmlformats.org/drawingml/2006/main" prst="roundRect">
            <a:avLst>
              <a:gd name="adj" fmla="val 43478"/>
            </a:avLst>
          </a:prstGeom>
          <a:solidFill xmlns:a="http://schemas.openxmlformats.org/drawingml/2006/main">
            <a:srgbClr val="43866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3468636-1586-4FFB-8649-E81F97D784EB}"/>
              </a:ext>
            </a:extLst>
          </p:cNvPr>
          <p:cNvSpPr>
            <a:spLocks xmlns:a="http://schemas.openxmlformats.org/drawingml/2006/main" noGrp="1"/>
          </p:cNvSpPr>
          <p:nvPr/>
        </p:nvSpPr>
        <p:spPr>
          <a:xfrm xmlns:a="http://schemas.openxmlformats.org/drawingml/2006/main">
            <a:off x="7391400" y="5222875"/>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788</a:t>
            </a:r>
          </a:p>
        </p:txBody>
      </p:sp>
      <p:sp>
        <p:nvSpPr>
          <p:cNvPr id="32" name="">
            <a:extLst xmlns:a="http://schemas.openxmlformats.org/drawingml/2006/main">
              <a:ext uri="{FF2B5EF4-FFF2-40B4-BE49-F238E27FC236}">
                <a16:creationId xmlns:a16="http://schemas.microsoft.com/office/drawing/2014/main" id="{3EB8FC6F-7789-4F29-B082-288618114A17}"/>
              </a:ext>
            </a:extLst>
          </p:cNvPr>
          <p:cNvSpPr>
            <a:spLocks xmlns:a="http://schemas.openxmlformats.org/drawingml/2006/main" noGrp="1"/>
          </p:cNvSpPr>
          <p:nvPr/>
        </p:nvSpPr>
        <p:spPr>
          <a:xfrm xmlns:a="http://schemas.openxmlformats.org/drawingml/2006/main">
            <a:off x="8248650" y="2428875"/>
            <a:ext cx="3352800" cy="3171825"/>
          </a:xfrm>
          <a:prstGeom xmlns:a="http://schemas.openxmlformats.org/drawingml/2006/main" prst="roundRect">
            <a:avLst>
              <a:gd name="adj" fmla="val 3003"/>
            </a:avLst>
          </a:prstGeom>
          <a:solidFill xmlns:a="http://schemas.openxmlformats.org/drawingml/2006/main">
            <a:srgbClr val="10231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18EF4C3-5A63-4940-9F0D-0252E368541F}"/>
              </a:ext>
            </a:extLst>
          </p:cNvPr>
          <p:cNvSpPr>
            <a:spLocks xmlns:a="http://schemas.openxmlformats.org/drawingml/2006/main" noGrp="1"/>
          </p:cNvSpPr>
          <p:nvPr/>
        </p:nvSpPr>
        <p:spPr>
          <a:xfrm xmlns:a="http://schemas.openxmlformats.org/drawingml/2006/main">
            <a:off x="8515350" y="26955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A useful modeling clue</a:t>
            </a:r>
          </a:p>
        </p:txBody>
      </p:sp>
      <p:sp>
        <p:nvSpPr>
          <p:cNvPr id="34" name="">
            <a:extLst xmlns:a="http://schemas.openxmlformats.org/drawingml/2006/main">
              <a:ext uri="{FF2B5EF4-FFF2-40B4-BE49-F238E27FC236}">
                <a16:creationId xmlns:a16="http://schemas.microsoft.com/office/drawing/2014/main" id="{5828CCB2-3FEC-4673-9F8B-7C471E5451C0}"/>
              </a:ext>
            </a:extLst>
          </p:cNvPr>
          <p:cNvSpPr>
            <a:spLocks xmlns:a="http://schemas.openxmlformats.org/drawingml/2006/main" noGrp="1"/>
          </p:cNvSpPr>
          <p:nvPr/>
        </p:nvSpPr>
        <p:spPr>
          <a:xfrm xmlns:a="http://schemas.openxmlformats.org/drawingml/2006/main">
            <a:off x="8515350" y="3114675"/>
            <a:ext cx="2714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D6E1D8"/>
                </a:solidFill>
                <a:latin typeface="Arial"/>
                <a:ea typeface="Arial"/>
                <a:cs typeface="Arial"/>
              </a:defRPr>
            </a:defPPr>
          </a:lstStyle>
          <a:p xmlns:a="http://schemas.openxmlformats.org/drawingml/2006/main">
            <a:pPr algn="l">
              <a:defRPr sz="1125" b="0">
                <a:solidFill>
                  <a:srgbClr val="D6E1D8"/>
                </a:solidFill>
                <a:latin typeface="Arial"/>
                <a:ea typeface="Arial"/>
                <a:cs typeface="Arial"/>
              </a:defRPr>
            </a:pPr>
            <a:r>
              <a:rPr sz="1125" b="0">
                <a:solidFill>
                  <a:srgbClr val="D6E1D8"/>
                </a:solidFill>
                <a:latin typeface="Arial"/>
                <a:ea typeface="Arial"/>
                <a:cs typeface="Arial"/>
              </a:rPr>
              <a:t>Complaint type and description are strong routing signals—but patterns can also reflect how this short extract was assembled.</a:t>
            </a:r>
          </a:p>
        </p:txBody>
      </p:sp>
      <p:sp>
        <p:nvSpPr>
          <p:cNvPr id="35" name="">
            <a:extLst xmlns:a="http://schemas.openxmlformats.org/drawingml/2006/main">
              <a:ext uri="{FF2B5EF4-FFF2-40B4-BE49-F238E27FC236}">
                <a16:creationId xmlns:a16="http://schemas.microsoft.com/office/drawing/2014/main" id="{2771B642-A8D8-46A1-913A-B4D0960812BB}"/>
              </a:ext>
            </a:extLst>
          </p:cNvPr>
          <p:cNvSpPr>
            <a:spLocks xmlns:a="http://schemas.openxmlformats.org/drawingml/2006/main" noGrp="1"/>
          </p:cNvSpPr>
          <p:nvPr/>
        </p:nvSpPr>
        <p:spPr>
          <a:xfrm xmlns:a="http://schemas.openxmlformats.org/drawingml/2006/main">
            <a:off x="8515350" y="4124325"/>
            <a:ext cx="2724150" cy="9525"/>
          </a:xfrm>
          <a:prstGeom xmlns:a="http://schemas.openxmlformats.org/drawingml/2006/main" prst="rect">
            <a:avLst/>
          </a:prstGeom>
          <a:solidFill xmlns:a="http://schemas.openxmlformats.org/drawingml/2006/main">
            <a:srgbClr val="35514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E672125-8AD3-4148-9982-859C88146EC0}"/>
              </a:ext>
            </a:extLst>
          </p:cNvPr>
          <p:cNvSpPr>
            <a:spLocks xmlns:a="http://schemas.openxmlformats.org/drawingml/2006/main" noGrp="1"/>
          </p:cNvSpPr>
          <p:nvPr/>
        </p:nvSpPr>
        <p:spPr>
          <a:xfrm xmlns:a="http://schemas.openxmlformats.org/drawingml/2006/main">
            <a:off x="8515350" y="4352925"/>
            <a:ext cx="2762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A9D3B4"/>
                </a:solidFill>
                <a:latin typeface="Arial"/>
                <a:ea typeface="Arial"/>
                <a:cs typeface="Arial"/>
              </a:defRPr>
            </a:defPPr>
          </a:lstStyle>
          <a:p xmlns:a="http://schemas.openxmlformats.org/drawingml/2006/main">
            <a:pPr algn="l">
              <a:defRPr sz="750" b="1">
                <a:solidFill>
                  <a:srgbClr val="A9D3B4"/>
                </a:solidFill>
                <a:latin typeface="Arial"/>
                <a:ea typeface="Arial"/>
                <a:cs typeface="Arial"/>
              </a:defRPr>
            </a:pPr>
            <a:r>
              <a:rPr sz="750" b="1">
                <a:solidFill>
                  <a:srgbClr val="A9D3B4"/>
                </a:solidFill>
                <a:latin typeface="Arial"/>
                <a:ea typeface="Arial"/>
                <a:cs typeface="Arial"/>
              </a:rPr>
              <a:t>EXPLORATION QUESTIONS</a:t>
            </a:r>
          </a:p>
        </p:txBody>
      </p:sp>
      <p:sp>
        <p:nvSpPr>
          <p:cNvPr id="37" name="">
            <a:extLst xmlns:a="http://schemas.openxmlformats.org/drawingml/2006/main">
              <a:ext uri="{FF2B5EF4-FFF2-40B4-BE49-F238E27FC236}">
                <a16:creationId xmlns:a16="http://schemas.microsoft.com/office/drawing/2014/main" id="{F797DDD2-9AA1-4543-9E7B-BCB1009AE237}"/>
              </a:ext>
            </a:extLst>
          </p:cNvPr>
          <p:cNvSpPr>
            <a:spLocks xmlns:a="http://schemas.openxmlformats.org/drawingml/2006/main" noGrp="1"/>
          </p:cNvSpPr>
          <p:nvPr/>
        </p:nvSpPr>
        <p:spPr>
          <a:xfrm xmlns:a="http://schemas.openxmlformats.org/drawingml/2006/main">
            <a:off x="8515350" y="4667250"/>
            <a:ext cx="276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C0CDC3"/>
                </a:solidFill>
                <a:latin typeface="Arial"/>
                <a:ea typeface="Arial"/>
                <a:cs typeface="Arial"/>
              </a:defRPr>
            </a:defPPr>
          </a:lstStyle>
          <a:p xmlns:a="http://schemas.openxmlformats.org/drawingml/2006/main">
            <a:pPr algn="l">
              <a:defRPr sz="900" b="0">
                <a:solidFill>
                  <a:srgbClr val="C0CDC3"/>
                </a:solidFill>
                <a:latin typeface="Arial"/>
                <a:ea typeface="Arial"/>
                <a:cs typeface="Arial"/>
              </a:defRPr>
            </a:pPr>
            <a:r>
              <a:rPr sz="900" b="0">
                <a:solidFill>
                  <a:srgbClr val="C0CDC3"/>
                </a:solidFill>
                <a:latin typeface="Arial"/>
                <a:ea typeface="Arial"/>
                <a:cs typeface="Arial"/>
              </a:rPr>
              <a:t>Which agencies receive the most reports?</a:t>
            </a:r>
          </a:p>
          <a:p xmlns:a="http://schemas.openxmlformats.org/drawingml/2006/main">
            <a:pPr algn="l">
              <a:defRPr sz="900" b="0">
                <a:solidFill>
                  <a:srgbClr val="C0CDC3"/>
                </a:solidFill>
                <a:latin typeface="Arial"/>
                <a:ea typeface="Arial"/>
                <a:cs typeface="Arial"/>
              </a:defRPr>
            </a:pPr>
            <a:r>
              <a:rPr sz="900" b="0">
                <a:solidFill>
                  <a:srgbClr val="C0CDC3"/>
                </a:solidFill>
                <a:latin typeface="Arial"/>
                <a:ea typeface="Arial"/>
                <a:cs typeface="Arial"/>
              </a:rPr>
              <a:t>How does the issue mix vary by borough?</a:t>
            </a:r>
          </a:p>
          <a:p xmlns:a="http://schemas.openxmlformats.org/drawingml/2006/main">
            <a:pPr algn="l">
              <a:defRPr sz="900" b="0">
                <a:solidFill>
                  <a:srgbClr val="C0CDC3"/>
                </a:solidFill>
                <a:latin typeface="Arial"/>
                <a:ea typeface="Arial"/>
                <a:cs typeface="Arial"/>
              </a:defRPr>
            </a:pPr>
            <a:r>
              <a:rPr sz="900" b="0">
                <a:solidFill>
                  <a:srgbClr val="C0CDC3"/>
                </a:solidFill>
                <a:latin typeface="Arial"/>
                <a:ea typeface="Arial"/>
                <a:cs typeface="Arial"/>
              </a:rPr>
              <a:t>Which reports have unusual feature patterns?</a:t>
            </a:r>
          </a:p>
        </p:txBody>
      </p:sp>
    </p:spTree>
    <p:extLst>
      <p:ext uri="{BB962C8B-B14F-4D97-AF65-F5344CB8AC3E}">
        <p14:creationId xmlns:p14="http://schemas.microsoft.com/office/powerpoint/2010/main" val="52984571"/>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F7BE5B2-8E53-4F49-A445-BA269A1DCC46}"/>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8B9C29-0BA8-469E-ABF6-E494BCD7A5BF}"/>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05  /  SUPERVISED LEARNING</a:t>
            </a:r>
          </a:p>
        </p:txBody>
      </p:sp>
      <p:sp>
        <p:nvSpPr>
          <p:cNvPr id="3" name="">
            <a:extLst xmlns:a="http://schemas.openxmlformats.org/drawingml/2006/main">
              <a:ext uri="{FF2B5EF4-FFF2-40B4-BE49-F238E27FC236}">
                <a16:creationId xmlns:a16="http://schemas.microsoft.com/office/drawing/2014/main" id="{83CFF5FE-CB81-468C-B13B-503A616D3B48}"/>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Models matched to the questions</a:t>
            </a:r>
          </a:p>
        </p:txBody>
      </p:sp>
      <p:sp>
        <p:nvSpPr>
          <p:cNvPr id="4" name="">
            <a:extLst xmlns:a="http://schemas.openxmlformats.org/drawingml/2006/main">
              <a:ext uri="{FF2B5EF4-FFF2-40B4-BE49-F238E27FC236}">
                <a16:creationId xmlns:a16="http://schemas.microsoft.com/office/drawing/2014/main" id="{E4C3AB8B-3030-49F9-8E62-891BB04A8846}"/>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9F77BD-714F-49E8-9D24-6690C2CFD75F}"/>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99B2FF60-9413-4501-B29A-CFDB4BD93D9A}"/>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13683EE4-E593-4FDB-9BD0-3717C7E20382}"/>
              </a:ext>
            </a:extLst>
          </p:cNvPr>
          <p:cNvSpPr>
            <a:spLocks xmlns:a="http://schemas.openxmlformats.org/drawingml/2006/main" noGrp="1"/>
          </p:cNvSpPr>
          <p:nvPr/>
        </p:nvSpPr>
        <p:spPr>
          <a:xfrm xmlns:a="http://schemas.openxmlformats.org/drawingml/2006/main">
            <a:off x="590550" y="15430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66756B"/>
                </a:solidFill>
                <a:latin typeface="Arial"/>
                <a:ea typeface="Arial"/>
                <a:cs typeface="Arial"/>
              </a:defRPr>
            </a:defPPr>
          </a:lstStyle>
          <a:p xmlns:a="http://schemas.openxmlformats.org/drawingml/2006/main">
            <a:pPr algn="l">
              <a:defRPr sz="1350" b="0">
                <a:solidFill>
                  <a:srgbClr val="66756B"/>
                </a:solidFill>
                <a:latin typeface="Arial"/>
                <a:ea typeface="Arial"/>
                <a:cs typeface="Arial"/>
              </a:defRPr>
            </a:pPr>
            <a:r>
              <a:rPr sz="1350" b="0">
                <a:solidFill>
                  <a:srgbClr val="66756B"/>
                </a:solidFill>
                <a:latin typeface="Arial"/>
                <a:ea typeface="Arial"/>
                <a:cs typeface="Arial"/>
              </a:rPr>
              <a:t>Two supervised tasks, compared against linear and tree-based baselines.</a:t>
            </a:r>
          </a:p>
        </p:txBody>
      </p:sp>
      <p:sp>
        <p:nvSpPr>
          <p:cNvPr id="8" name="">
            <a:extLst xmlns:a="http://schemas.openxmlformats.org/drawingml/2006/main">
              <a:ext uri="{FF2B5EF4-FFF2-40B4-BE49-F238E27FC236}">
                <a16:creationId xmlns:a16="http://schemas.microsoft.com/office/drawing/2014/main" id="{1DCB3785-90A9-434D-AB15-B9F0D63B73FF}"/>
              </a:ext>
            </a:extLst>
          </p:cNvPr>
          <p:cNvSpPr>
            <a:spLocks xmlns:a="http://schemas.openxmlformats.org/drawingml/2006/main" noGrp="1"/>
          </p:cNvSpPr>
          <p:nvPr/>
        </p:nvSpPr>
        <p:spPr>
          <a:xfrm xmlns:a="http://schemas.openxmlformats.org/drawingml/2006/main">
            <a:off x="6096000" y="2143125"/>
            <a:ext cx="9525" cy="3657600"/>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51C4FB-8A6D-4408-B01A-0FA2A688DF73}"/>
              </a:ext>
            </a:extLst>
          </p:cNvPr>
          <p:cNvSpPr>
            <a:spLocks xmlns:a="http://schemas.openxmlformats.org/drawingml/2006/main" noGrp="1"/>
          </p:cNvSpPr>
          <p:nvPr/>
        </p:nvSpPr>
        <p:spPr>
          <a:xfrm xmlns:a="http://schemas.openxmlformats.org/drawingml/2006/main">
            <a:off x="590550" y="21621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01  /  ROUTE THE REQUEST</a:t>
            </a:r>
          </a:p>
        </p:txBody>
      </p:sp>
      <p:sp>
        <p:nvSpPr>
          <p:cNvPr id="10" name="">
            <a:extLst xmlns:a="http://schemas.openxmlformats.org/drawingml/2006/main">
              <a:ext uri="{FF2B5EF4-FFF2-40B4-BE49-F238E27FC236}">
                <a16:creationId xmlns:a16="http://schemas.microsoft.com/office/drawing/2014/main" id="{A2870E7C-1BA3-4064-948E-A189F750E0C3}"/>
              </a:ext>
            </a:extLst>
          </p:cNvPr>
          <p:cNvSpPr>
            <a:spLocks xmlns:a="http://schemas.openxmlformats.org/drawingml/2006/main" noGrp="1"/>
          </p:cNvSpPr>
          <p:nvPr/>
        </p:nvSpPr>
        <p:spPr>
          <a:xfrm xmlns:a="http://schemas.openxmlformats.org/drawingml/2006/main">
            <a:off x="590550" y="2457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271E"/>
                </a:solidFill>
                <a:latin typeface="Arial"/>
                <a:ea typeface="Arial"/>
                <a:cs typeface="Arial"/>
              </a:defRPr>
            </a:defPPr>
          </a:lstStyle>
          <a:p xmlns:a="http://schemas.openxmlformats.org/drawingml/2006/main">
            <a:pPr algn="l">
              <a:defRPr sz="1725" b="1">
                <a:solidFill>
                  <a:srgbClr val="15271E"/>
                </a:solidFill>
                <a:latin typeface="Arial"/>
                <a:ea typeface="Arial"/>
                <a:cs typeface="Arial"/>
              </a:defRPr>
            </a:pPr>
            <a:r>
              <a:rPr sz="1725" b="1">
                <a:solidFill>
                  <a:srgbClr val="15271E"/>
                </a:solidFill>
                <a:latin typeface="Arial"/>
                <a:ea typeface="Arial"/>
                <a:cs typeface="Arial"/>
              </a:rPr>
              <a:t>Multiclass agency classification</a:t>
            </a:r>
          </a:p>
        </p:txBody>
      </p:sp>
      <p:sp>
        <p:nvSpPr>
          <p:cNvPr id="11" name="">
            <a:extLst xmlns:a="http://schemas.openxmlformats.org/drawingml/2006/main">
              <a:ext uri="{FF2B5EF4-FFF2-40B4-BE49-F238E27FC236}">
                <a16:creationId xmlns:a16="http://schemas.microsoft.com/office/drawing/2014/main" id="{AED381FD-57AE-435F-BFE7-6E8E0E025EA0}"/>
              </a:ext>
            </a:extLst>
          </p:cNvPr>
          <p:cNvSpPr>
            <a:spLocks xmlns:a="http://schemas.openxmlformats.org/drawingml/2006/main" noGrp="1"/>
          </p:cNvSpPr>
          <p:nvPr/>
        </p:nvSpPr>
        <p:spPr>
          <a:xfrm xmlns:a="http://schemas.openxmlformats.org/drawingml/2006/main">
            <a:off x="590550" y="30099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Inputs</a:t>
            </a:r>
          </a:p>
        </p:txBody>
      </p:sp>
      <p:sp>
        <p:nvSpPr>
          <p:cNvPr id="12" name="">
            <a:extLst xmlns:a="http://schemas.openxmlformats.org/drawingml/2006/main">
              <a:ext uri="{FF2B5EF4-FFF2-40B4-BE49-F238E27FC236}">
                <a16:creationId xmlns:a16="http://schemas.microsoft.com/office/drawing/2014/main" id="{33B9759D-8645-4891-8E9F-274FAD68D879}"/>
              </a:ext>
            </a:extLst>
          </p:cNvPr>
          <p:cNvSpPr>
            <a:spLocks xmlns:a="http://schemas.openxmlformats.org/drawingml/2006/main" noGrp="1"/>
          </p:cNvSpPr>
          <p:nvPr/>
        </p:nvSpPr>
        <p:spPr>
          <a:xfrm xmlns:a="http://schemas.openxmlformats.org/drawingml/2006/main">
            <a:off x="590550" y="3276600"/>
            <a:ext cx="1638300" cy="238125"/>
          </a:xfrm>
          <a:prstGeom xmlns:a="http://schemas.openxmlformats.org/drawingml/2006/main" prst="roundRect">
            <a:avLst>
              <a:gd name="adj" fmla="val 40000"/>
            </a:avLst>
          </a:prstGeom>
          <a:solidFill xmlns:a="http://schemas.openxmlformats.org/drawingml/2006/main">
            <a:srgbClr val="E8F1E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ABC64DE-7D14-4663-A78F-9F6804F16F2D}"/>
              </a:ext>
            </a:extLst>
          </p:cNvPr>
          <p:cNvSpPr>
            <a:spLocks xmlns:a="http://schemas.openxmlformats.org/drawingml/2006/main" noGrp="1"/>
          </p:cNvSpPr>
          <p:nvPr/>
        </p:nvSpPr>
        <p:spPr>
          <a:xfrm xmlns:a="http://schemas.openxmlformats.org/drawingml/2006/main">
            <a:off x="676275" y="3324225"/>
            <a:ext cx="1466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Complaint description</a:t>
            </a:r>
          </a:p>
        </p:txBody>
      </p:sp>
      <p:sp>
        <p:nvSpPr>
          <p:cNvPr id="14" name="">
            <a:extLst xmlns:a="http://schemas.openxmlformats.org/drawingml/2006/main">
              <a:ext uri="{FF2B5EF4-FFF2-40B4-BE49-F238E27FC236}">
                <a16:creationId xmlns:a16="http://schemas.microsoft.com/office/drawing/2014/main" id="{3D1F4EA2-E5F1-4681-BD39-5311BF7788BB}"/>
              </a:ext>
            </a:extLst>
          </p:cNvPr>
          <p:cNvSpPr>
            <a:spLocks xmlns:a="http://schemas.openxmlformats.org/drawingml/2006/main" noGrp="1"/>
          </p:cNvSpPr>
          <p:nvPr/>
        </p:nvSpPr>
        <p:spPr>
          <a:xfrm xmlns:a="http://schemas.openxmlformats.org/drawingml/2006/main">
            <a:off x="2324100" y="3276600"/>
            <a:ext cx="1257300" cy="238125"/>
          </a:xfrm>
          <a:prstGeom xmlns:a="http://schemas.openxmlformats.org/drawingml/2006/main" prst="roundRect">
            <a:avLst>
              <a:gd name="adj" fmla="val 40000"/>
            </a:avLst>
          </a:prstGeom>
          <a:solidFill xmlns:a="http://schemas.openxmlformats.org/drawingml/2006/main">
            <a:srgbClr val="E8EE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17647A7-5CD0-4297-A281-FE200111B0A8}"/>
              </a:ext>
            </a:extLst>
          </p:cNvPr>
          <p:cNvSpPr>
            <a:spLocks xmlns:a="http://schemas.openxmlformats.org/drawingml/2006/main" noGrp="1"/>
          </p:cNvSpPr>
          <p:nvPr/>
        </p:nvSpPr>
        <p:spPr>
          <a:xfrm xmlns:a="http://schemas.openxmlformats.org/drawingml/2006/main">
            <a:off x="2409825" y="3324225"/>
            <a:ext cx="1085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597FA6"/>
                </a:solidFill>
                <a:latin typeface="Arial"/>
                <a:ea typeface="Arial"/>
                <a:cs typeface="Arial"/>
              </a:defRPr>
            </a:defPPr>
          </a:lstStyle>
          <a:p xmlns:a="http://schemas.openxmlformats.org/drawingml/2006/main">
            <a:pPr algn="l">
              <a:defRPr sz="750" b="1">
                <a:solidFill>
                  <a:srgbClr val="597FA6"/>
                </a:solidFill>
                <a:latin typeface="Arial"/>
                <a:ea typeface="Arial"/>
                <a:cs typeface="Arial"/>
              </a:defRPr>
            </a:pPr>
            <a:r>
              <a:rPr sz="750" b="1">
                <a:solidFill>
                  <a:srgbClr val="597FA6"/>
                </a:solidFill>
                <a:latin typeface="Arial"/>
                <a:ea typeface="Arial"/>
                <a:cs typeface="Arial"/>
              </a:rPr>
              <a:t>Complaint type</a:t>
            </a:r>
          </a:p>
        </p:txBody>
      </p:sp>
      <p:sp>
        <p:nvSpPr>
          <p:cNvPr id="16" name="">
            <a:extLst xmlns:a="http://schemas.openxmlformats.org/drawingml/2006/main">
              <a:ext uri="{FF2B5EF4-FFF2-40B4-BE49-F238E27FC236}">
                <a16:creationId xmlns:a16="http://schemas.microsoft.com/office/drawing/2014/main" id="{0DE6AE1B-8CEE-4D2A-B5D3-8C9767872382}"/>
              </a:ext>
            </a:extLst>
          </p:cNvPr>
          <p:cNvSpPr>
            <a:spLocks xmlns:a="http://schemas.openxmlformats.org/drawingml/2006/main" noGrp="1"/>
          </p:cNvSpPr>
          <p:nvPr/>
        </p:nvSpPr>
        <p:spPr>
          <a:xfrm xmlns:a="http://schemas.openxmlformats.org/drawingml/2006/main">
            <a:off x="3676650" y="3276600"/>
            <a:ext cx="876300" cy="238125"/>
          </a:xfrm>
          <a:prstGeom xmlns:a="http://schemas.openxmlformats.org/drawingml/2006/main" prst="roundRect">
            <a:avLst>
              <a:gd name="adj" fmla="val 40000"/>
            </a:avLst>
          </a:prstGeom>
          <a:solidFill xmlns:a="http://schemas.openxmlformats.org/drawingml/2006/main">
            <a:srgbClr val="F7EDE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F00F442-C74D-47F6-B34C-9AC4753AF8D3}"/>
              </a:ext>
            </a:extLst>
          </p:cNvPr>
          <p:cNvSpPr>
            <a:spLocks xmlns:a="http://schemas.openxmlformats.org/drawingml/2006/main" noGrp="1"/>
          </p:cNvSpPr>
          <p:nvPr/>
        </p:nvSpPr>
        <p:spPr>
          <a:xfrm xmlns:a="http://schemas.openxmlformats.org/drawingml/2006/main">
            <a:off x="3762375" y="3324225"/>
            <a:ext cx="704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986437"/>
                </a:solidFill>
                <a:latin typeface="Arial"/>
                <a:ea typeface="Arial"/>
                <a:cs typeface="Arial"/>
              </a:defRPr>
            </a:defPPr>
          </a:lstStyle>
          <a:p xmlns:a="http://schemas.openxmlformats.org/drawingml/2006/main">
            <a:pPr algn="l">
              <a:defRPr sz="750" b="1">
                <a:solidFill>
                  <a:srgbClr val="986437"/>
                </a:solidFill>
                <a:latin typeface="Arial"/>
                <a:ea typeface="Arial"/>
                <a:cs typeface="Arial"/>
              </a:defRPr>
            </a:pPr>
            <a:r>
              <a:rPr sz="750" b="1">
                <a:solidFill>
                  <a:srgbClr val="986437"/>
                </a:solidFill>
                <a:latin typeface="Arial"/>
                <a:ea typeface="Arial"/>
                <a:cs typeface="Arial"/>
              </a:rPr>
              <a:t>Borough</a:t>
            </a:r>
          </a:p>
        </p:txBody>
      </p:sp>
      <p:sp>
        <p:nvSpPr>
          <p:cNvPr id="18" name="">
            <a:extLst xmlns:a="http://schemas.openxmlformats.org/drawingml/2006/main">
              <a:ext uri="{FF2B5EF4-FFF2-40B4-BE49-F238E27FC236}">
                <a16:creationId xmlns:a16="http://schemas.microsoft.com/office/drawing/2014/main" id="{02A5EA1C-2551-4B5E-93DA-F52A388CA12E}"/>
              </a:ext>
            </a:extLst>
          </p:cNvPr>
          <p:cNvSpPr>
            <a:spLocks xmlns:a="http://schemas.openxmlformats.org/drawingml/2006/main" noGrp="1"/>
          </p:cNvSpPr>
          <p:nvPr/>
        </p:nvSpPr>
        <p:spPr>
          <a:xfrm xmlns:a="http://schemas.openxmlformats.org/drawingml/2006/main">
            <a:off x="590550" y="37623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Compared</a:t>
            </a:r>
          </a:p>
        </p:txBody>
      </p:sp>
      <p:sp>
        <p:nvSpPr>
          <p:cNvPr id="19" name="">
            <a:extLst xmlns:a="http://schemas.openxmlformats.org/drawingml/2006/main">
              <a:ext uri="{FF2B5EF4-FFF2-40B4-BE49-F238E27FC236}">
                <a16:creationId xmlns:a16="http://schemas.microsoft.com/office/drawing/2014/main" id="{319D839D-845A-4A4B-93B2-BF07640D5A68}"/>
              </a:ext>
            </a:extLst>
          </p:cNvPr>
          <p:cNvSpPr>
            <a:spLocks xmlns:a="http://schemas.openxmlformats.org/drawingml/2006/main" noGrp="1"/>
          </p:cNvSpPr>
          <p:nvPr/>
        </p:nvSpPr>
        <p:spPr>
          <a:xfrm xmlns:a="http://schemas.openxmlformats.org/drawingml/2006/main">
            <a:off x="590550" y="4038600"/>
            <a:ext cx="4905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Logistic regression · decision tree · random forest · extra trees · gradient boosting · XGBoost</a:t>
            </a:r>
          </a:p>
        </p:txBody>
      </p:sp>
      <p:sp>
        <p:nvSpPr>
          <p:cNvPr id="20" name="">
            <a:extLst xmlns:a="http://schemas.openxmlformats.org/drawingml/2006/main">
              <a:ext uri="{FF2B5EF4-FFF2-40B4-BE49-F238E27FC236}">
                <a16:creationId xmlns:a16="http://schemas.microsoft.com/office/drawing/2014/main" id="{0135B3C7-54C2-4565-875B-967669BF7A2B}"/>
              </a:ext>
            </a:extLst>
          </p:cNvPr>
          <p:cNvSpPr>
            <a:spLocks xmlns:a="http://schemas.openxmlformats.org/drawingml/2006/main" noGrp="1"/>
          </p:cNvSpPr>
          <p:nvPr/>
        </p:nvSpPr>
        <p:spPr>
          <a:xfrm xmlns:a="http://schemas.openxmlformats.org/drawingml/2006/main">
            <a:off x="590550" y="501015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Packaged route model: logistic regression selected using validation-set weighted F1.</a:t>
            </a:r>
          </a:p>
        </p:txBody>
      </p:sp>
      <p:sp>
        <p:nvSpPr>
          <p:cNvPr id="21" name="">
            <a:extLst xmlns:a="http://schemas.openxmlformats.org/drawingml/2006/main">
              <a:ext uri="{FF2B5EF4-FFF2-40B4-BE49-F238E27FC236}">
                <a16:creationId xmlns:a16="http://schemas.microsoft.com/office/drawing/2014/main" id="{B25DE884-2DD4-4192-8E80-A1D28A9172E6}"/>
              </a:ext>
            </a:extLst>
          </p:cNvPr>
          <p:cNvSpPr>
            <a:spLocks xmlns:a="http://schemas.openxmlformats.org/drawingml/2006/main" noGrp="1"/>
          </p:cNvSpPr>
          <p:nvPr/>
        </p:nvSpPr>
        <p:spPr>
          <a:xfrm xmlns:a="http://schemas.openxmlformats.org/drawingml/2006/main">
            <a:off x="6543675" y="21621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02  /  ESTIMATE TIME</a:t>
            </a:r>
          </a:p>
        </p:txBody>
      </p:sp>
      <p:sp>
        <p:nvSpPr>
          <p:cNvPr id="22" name="">
            <a:extLst xmlns:a="http://schemas.openxmlformats.org/drawingml/2006/main">
              <a:ext uri="{FF2B5EF4-FFF2-40B4-BE49-F238E27FC236}">
                <a16:creationId xmlns:a16="http://schemas.microsoft.com/office/drawing/2014/main" id="{0C6AEE41-B4EF-46A9-8226-50ACC708A551}"/>
              </a:ext>
            </a:extLst>
          </p:cNvPr>
          <p:cNvSpPr>
            <a:spLocks xmlns:a="http://schemas.openxmlformats.org/drawingml/2006/main" noGrp="1"/>
          </p:cNvSpPr>
          <p:nvPr/>
        </p:nvSpPr>
        <p:spPr>
          <a:xfrm xmlns:a="http://schemas.openxmlformats.org/drawingml/2006/main">
            <a:off x="6543675" y="2457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271E"/>
                </a:solidFill>
                <a:latin typeface="Arial"/>
                <a:ea typeface="Arial"/>
                <a:cs typeface="Arial"/>
              </a:defRPr>
            </a:defPPr>
          </a:lstStyle>
          <a:p xmlns:a="http://schemas.openxmlformats.org/drawingml/2006/main">
            <a:pPr algn="l">
              <a:defRPr sz="1725" b="1">
                <a:solidFill>
                  <a:srgbClr val="15271E"/>
                </a:solidFill>
                <a:latin typeface="Arial"/>
                <a:ea typeface="Arial"/>
                <a:cs typeface="Arial"/>
              </a:defRPr>
            </a:pPr>
            <a:r>
              <a:rPr sz="1725" b="1">
                <a:solidFill>
                  <a:srgbClr val="15271E"/>
                </a:solidFill>
                <a:latin typeface="Arial"/>
                <a:ea typeface="Arial"/>
                <a:cs typeface="Arial"/>
              </a:rPr>
              <a:t>Regression on closed requests</a:t>
            </a:r>
          </a:p>
        </p:txBody>
      </p:sp>
      <p:sp>
        <p:nvSpPr>
          <p:cNvPr id="23" name="">
            <a:extLst xmlns:a="http://schemas.openxmlformats.org/drawingml/2006/main">
              <a:ext uri="{FF2B5EF4-FFF2-40B4-BE49-F238E27FC236}">
                <a16:creationId xmlns:a16="http://schemas.microsoft.com/office/drawing/2014/main" id="{5F7B0241-8192-45A7-9E9C-D0F6B95AAB7C}"/>
              </a:ext>
            </a:extLst>
          </p:cNvPr>
          <p:cNvSpPr>
            <a:spLocks xmlns:a="http://schemas.openxmlformats.org/drawingml/2006/main" noGrp="1"/>
          </p:cNvSpPr>
          <p:nvPr/>
        </p:nvSpPr>
        <p:spPr>
          <a:xfrm xmlns:a="http://schemas.openxmlformats.org/drawingml/2006/main">
            <a:off x="6543675" y="30099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Targets</a:t>
            </a:r>
          </a:p>
        </p:txBody>
      </p:sp>
      <p:sp>
        <p:nvSpPr>
          <p:cNvPr id="24" name="">
            <a:extLst xmlns:a="http://schemas.openxmlformats.org/drawingml/2006/main">
              <a:ext uri="{FF2B5EF4-FFF2-40B4-BE49-F238E27FC236}">
                <a16:creationId xmlns:a16="http://schemas.microsoft.com/office/drawing/2014/main" id="{E6AE423B-C4E9-49CE-A782-0AC15C6BFB12}"/>
              </a:ext>
            </a:extLst>
          </p:cNvPr>
          <p:cNvSpPr>
            <a:spLocks xmlns:a="http://schemas.openxmlformats.org/drawingml/2006/main" noGrp="1"/>
          </p:cNvSpPr>
          <p:nvPr/>
        </p:nvSpPr>
        <p:spPr>
          <a:xfrm xmlns:a="http://schemas.openxmlformats.org/drawingml/2006/main">
            <a:off x="6543675" y="32766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6756B"/>
                </a:solidFill>
                <a:latin typeface="Arial"/>
                <a:ea typeface="Arial"/>
                <a:cs typeface="Arial"/>
              </a:defRPr>
            </a:defPPr>
          </a:lstStyle>
          <a:p xmlns:a="http://schemas.openxmlformats.org/drawingml/2006/main">
            <a:pPr algn="l">
              <a:defRPr sz="1050" b="0">
                <a:solidFill>
                  <a:srgbClr val="66756B"/>
                </a:solidFill>
                <a:latin typeface="Arial"/>
                <a:ea typeface="Arial"/>
                <a:cs typeface="Arial"/>
              </a:defRPr>
            </a:pPr>
            <a:r>
              <a:rPr sz="1050" b="0">
                <a:solidFill>
                  <a:srgbClr val="66756B"/>
                </a:solidFill>
                <a:latin typeface="Arial"/>
                <a:ea typeface="Arial"/>
                <a:cs typeface="Arial"/>
              </a:rPr>
              <a:t>Observed hours between created and closed timestamps; invalid and open cases are not training labels.</a:t>
            </a:r>
          </a:p>
        </p:txBody>
      </p:sp>
      <p:sp>
        <p:nvSpPr>
          <p:cNvPr id="25" name="">
            <a:extLst xmlns:a="http://schemas.openxmlformats.org/drawingml/2006/main">
              <a:ext uri="{FF2B5EF4-FFF2-40B4-BE49-F238E27FC236}">
                <a16:creationId xmlns:a16="http://schemas.microsoft.com/office/drawing/2014/main" id="{53739612-9C09-41E6-B700-C26F2AA6B26C}"/>
              </a:ext>
            </a:extLst>
          </p:cNvPr>
          <p:cNvSpPr>
            <a:spLocks xmlns:a="http://schemas.openxmlformats.org/drawingml/2006/main" noGrp="1"/>
          </p:cNvSpPr>
          <p:nvPr/>
        </p:nvSpPr>
        <p:spPr>
          <a:xfrm xmlns:a="http://schemas.openxmlformats.org/drawingml/2006/main">
            <a:off x="6543675" y="38576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66756B"/>
                </a:solidFill>
                <a:latin typeface="Arial"/>
                <a:ea typeface="Arial"/>
                <a:cs typeface="Arial"/>
              </a:defRPr>
            </a:defPPr>
          </a:lstStyle>
          <a:p xmlns:a="http://schemas.openxmlformats.org/drawingml/2006/main">
            <a:pPr algn="l">
              <a:defRPr sz="750" b="1">
                <a:solidFill>
                  <a:srgbClr val="66756B"/>
                </a:solidFill>
                <a:latin typeface="Arial"/>
                <a:ea typeface="Arial"/>
                <a:cs typeface="Arial"/>
              </a:defRPr>
            </a:pPr>
            <a:r>
              <a:rPr sz="750" b="1">
                <a:solidFill>
                  <a:srgbClr val="66756B"/>
                </a:solidFill>
                <a:latin typeface="Arial"/>
                <a:ea typeface="Arial"/>
                <a:cs typeface="Arial"/>
              </a:rPr>
              <a:t>Compared</a:t>
            </a:r>
          </a:p>
        </p:txBody>
      </p:sp>
      <p:sp>
        <p:nvSpPr>
          <p:cNvPr id="26" name="">
            <a:extLst xmlns:a="http://schemas.openxmlformats.org/drawingml/2006/main">
              <a:ext uri="{FF2B5EF4-FFF2-40B4-BE49-F238E27FC236}">
                <a16:creationId xmlns:a16="http://schemas.microsoft.com/office/drawing/2014/main" id="{364BAE7D-ABE4-4C94-B0FB-918F761B66DD}"/>
              </a:ext>
            </a:extLst>
          </p:cNvPr>
          <p:cNvSpPr>
            <a:spLocks xmlns:a="http://schemas.openxmlformats.org/drawingml/2006/main" noGrp="1"/>
          </p:cNvSpPr>
          <p:nvPr/>
        </p:nvSpPr>
        <p:spPr>
          <a:xfrm xmlns:a="http://schemas.openxmlformats.org/drawingml/2006/main">
            <a:off x="6543675" y="4133850"/>
            <a:ext cx="47625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Linear · Ridge · Lasso · Elastic Net · decision tree · random forest · gradient boosting · XGBoost</a:t>
            </a:r>
          </a:p>
        </p:txBody>
      </p:sp>
      <p:sp>
        <p:nvSpPr>
          <p:cNvPr id="27" name="">
            <a:extLst xmlns:a="http://schemas.openxmlformats.org/drawingml/2006/main">
              <a:ext uri="{FF2B5EF4-FFF2-40B4-BE49-F238E27FC236}">
                <a16:creationId xmlns:a16="http://schemas.microsoft.com/office/drawing/2014/main" id="{789061F9-181B-4C01-AEC8-EBF1AD206CFF}"/>
              </a:ext>
            </a:extLst>
          </p:cNvPr>
          <p:cNvSpPr>
            <a:spLocks xmlns:a="http://schemas.openxmlformats.org/drawingml/2006/main" noGrp="1"/>
          </p:cNvSpPr>
          <p:nvPr/>
        </p:nvSpPr>
        <p:spPr>
          <a:xfrm xmlns:a="http://schemas.openxmlformats.org/drawingml/2006/main">
            <a:off x="6543675" y="50101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Packaged route model: Ridge regression. Lasso had slightly lower test MAE in this run.</a:t>
            </a:r>
          </a:p>
        </p:txBody>
      </p:sp>
      <p:sp>
        <p:nvSpPr>
          <p:cNvPr id="28" name="">
            <a:extLst xmlns:a="http://schemas.openxmlformats.org/drawingml/2006/main">
              <a:ext uri="{FF2B5EF4-FFF2-40B4-BE49-F238E27FC236}">
                <a16:creationId xmlns:a16="http://schemas.microsoft.com/office/drawing/2014/main" id="{F7ABE3FD-2D95-43CC-A3BE-9A8A5328AB70}"/>
              </a:ext>
            </a:extLst>
          </p:cNvPr>
          <p:cNvSpPr>
            <a:spLocks xmlns:a="http://schemas.openxmlformats.org/drawingml/2006/main" noGrp="1"/>
          </p:cNvSpPr>
          <p:nvPr/>
        </p:nvSpPr>
        <p:spPr>
          <a:xfrm xmlns:a="http://schemas.openxmlformats.org/drawingml/2006/main">
            <a:off x="590550" y="5734050"/>
            <a:ext cx="11010900" cy="323850"/>
          </a:xfrm>
          <a:prstGeom xmlns:a="http://schemas.openxmlformats.org/drawingml/2006/main" prst="roundRect">
            <a:avLst>
              <a:gd name="adj" fmla="val 29412"/>
            </a:avLst>
          </a:prstGeom>
          <a:solidFill xmlns:a="http://schemas.openxmlformats.org/drawingml/2006/main">
            <a:srgbClr val="F7EDE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E905AFF-5862-42E7-B174-C62A4CA4786C}"/>
              </a:ext>
            </a:extLst>
          </p:cNvPr>
          <p:cNvSpPr>
            <a:spLocks xmlns:a="http://schemas.openxmlformats.org/drawingml/2006/main" noGrp="1"/>
          </p:cNvSpPr>
          <p:nvPr/>
        </p:nvSpPr>
        <p:spPr>
          <a:xfrm xmlns:a="http://schemas.openxmlformats.org/drawingml/2006/main">
            <a:off x="742950" y="5819775"/>
            <a:ext cx="1057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865E35"/>
                </a:solidFill>
                <a:latin typeface="Arial"/>
                <a:ea typeface="Arial"/>
                <a:cs typeface="Arial"/>
              </a:defRPr>
            </a:defPPr>
          </a:lstStyle>
          <a:p xmlns:a="http://schemas.openxmlformats.org/drawingml/2006/main">
            <a:pPr algn="l">
              <a:defRPr sz="825" b="1">
                <a:solidFill>
                  <a:srgbClr val="865E35"/>
                </a:solidFill>
                <a:latin typeface="Arial"/>
                <a:ea typeface="Arial"/>
                <a:cs typeface="Arial"/>
              </a:defRPr>
            </a:pPr>
            <a:r>
              <a:rPr sz="825" b="1">
                <a:solidFill>
                  <a:srgbClr val="865E35"/>
                </a:solidFill>
                <a:latin typeface="Arial"/>
                <a:ea typeface="Arial"/>
                <a:cs typeface="Arial"/>
              </a:rPr>
              <a:t>XGBoost was available in the training environment; LightGBM is supported as an optional install.</a:t>
            </a:r>
          </a:p>
        </p:txBody>
      </p:sp>
    </p:spTree>
    <p:extLst>
      <p:ext uri="{BB962C8B-B14F-4D97-AF65-F5344CB8AC3E}">
        <p14:creationId xmlns:p14="http://schemas.microsoft.com/office/powerpoint/2010/main" val="2090020038"/>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6542A3B4-C9E8-4AC8-A8F5-5EA139B47292}"/>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9782CE-7418-4129-AFCD-2DB3126BF33E}"/>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06  /  MODEL EVALUATION</a:t>
            </a:r>
          </a:p>
        </p:txBody>
      </p:sp>
      <p:sp>
        <p:nvSpPr>
          <p:cNvPr id="3" name="">
            <a:extLst xmlns:a="http://schemas.openxmlformats.org/drawingml/2006/main">
              <a:ext uri="{FF2B5EF4-FFF2-40B4-BE49-F238E27FC236}">
                <a16:creationId xmlns:a16="http://schemas.microsoft.com/office/drawing/2014/main" id="{5DB7D959-7D53-4F77-B00E-575F6A718285}"/>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Measured results on held-out data</a:t>
            </a:r>
          </a:p>
        </p:txBody>
      </p:sp>
      <p:sp>
        <p:nvSpPr>
          <p:cNvPr id="4" name="">
            <a:extLst xmlns:a="http://schemas.openxmlformats.org/drawingml/2006/main">
              <a:ext uri="{FF2B5EF4-FFF2-40B4-BE49-F238E27FC236}">
                <a16:creationId xmlns:a16="http://schemas.microsoft.com/office/drawing/2014/main" id="{2AAC318B-9B9C-4028-A681-0EB3BA9109AB}"/>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F4E334-8DB5-48E1-ABC1-98F2229B9E82}"/>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A1F80464-CFBD-4CBB-A479-737DB91D5AE4}"/>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DB803609-43C5-42D8-92CB-3B376AC623FA}"/>
              </a:ext>
            </a:extLst>
          </p:cNvPr>
          <p:cNvSpPr>
            <a:spLocks xmlns:a="http://schemas.openxmlformats.org/drawingml/2006/main" noGrp="1"/>
          </p:cNvSpPr>
          <p:nvPr/>
        </p:nvSpPr>
        <p:spPr>
          <a:xfrm xmlns:a="http://schemas.openxmlformats.org/drawingml/2006/main">
            <a:off x="590550" y="16764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76B4F"/>
                </a:solidFill>
                <a:latin typeface="Arial"/>
                <a:ea typeface="Arial"/>
                <a:cs typeface="Arial"/>
              </a:defRPr>
            </a:defPPr>
          </a:lstStyle>
          <a:p xmlns:a="http://schemas.openxmlformats.org/drawingml/2006/main">
            <a:pPr algn="l">
              <a:defRPr sz="2250" b="1">
                <a:solidFill>
                  <a:srgbClr val="276B4F"/>
                </a:solidFill>
                <a:latin typeface="Arial"/>
                <a:ea typeface="Arial"/>
                <a:cs typeface="Arial"/>
              </a:defRPr>
            </a:pPr>
            <a:r>
              <a:rPr sz="2250" b="1">
                <a:solidFill>
                  <a:srgbClr val="276B4F"/>
                </a:solidFill>
                <a:latin typeface="Arial"/>
                <a:ea typeface="Arial"/>
                <a:cs typeface="Arial"/>
              </a:rPr>
              <a:t>99.0%</a:t>
            </a:r>
          </a:p>
        </p:txBody>
      </p:sp>
      <p:sp>
        <p:nvSpPr>
          <p:cNvPr id="8" name="">
            <a:extLst xmlns:a="http://schemas.openxmlformats.org/drawingml/2006/main">
              <a:ext uri="{FF2B5EF4-FFF2-40B4-BE49-F238E27FC236}">
                <a16:creationId xmlns:a16="http://schemas.microsoft.com/office/drawing/2014/main" id="{122E1EB1-B0B4-43C2-BDB2-D75672FA3D8B}"/>
              </a:ext>
            </a:extLst>
          </p:cNvPr>
          <p:cNvSpPr>
            <a:spLocks xmlns:a="http://schemas.openxmlformats.org/drawingml/2006/main" noGrp="1"/>
          </p:cNvSpPr>
          <p:nvPr/>
        </p:nvSpPr>
        <p:spPr>
          <a:xfrm xmlns:a="http://schemas.openxmlformats.org/drawingml/2006/main">
            <a:off x="590550" y="2085975"/>
            <a:ext cx="23431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5271E"/>
                </a:solidFill>
                <a:latin typeface="Arial"/>
                <a:ea typeface="Arial"/>
                <a:cs typeface="Arial"/>
              </a:defRPr>
            </a:defPPr>
          </a:lstStyle>
          <a:p xmlns:a="http://schemas.openxmlformats.org/drawingml/2006/main">
            <a:pPr algn="l">
              <a:defRPr sz="900" b="1">
                <a:solidFill>
                  <a:srgbClr val="15271E"/>
                </a:solidFill>
                <a:latin typeface="Arial"/>
                <a:ea typeface="Arial"/>
                <a:cs typeface="Arial"/>
              </a:defRPr>
            </a:pPr>
            <a:r>
              <a:rPr sz="900" b="1">
                <a:solidFill>
                  <a:srgbClr val="15271E"/>
                </a:solidFill>
                <a:latin typeface="Arial"/>
                <a:ea typeface="Arial"/>
                <a:cs typeface="Arial"/>
              </a:rPr>
              <a:t>Routing accuracy</a:t>
            </a:r>
          </a:p>
        </p:txBody>
      </p:sp>
      <p:sp>
        <p:nvSpPr>
          <p:cNvPr id="9" name="">
            <a:extLst xmlns:a="http://schemas.openxmlformats.org/drawingml/2006/main">
              <a:ext uri="{FF2B5EF4-FFF2-40B4-BE49-F238E27FC236}">
                <a16:creationId xmlns:a16="http://schemas.microsoft.com/office/drawing/2014/main" id="{C227F739-82A4-4693-A698-EDD309EE47F0}"/>
              </a:ext>
            </a:extLst>
          </p:cNvPr>
          <p:cNvSpPr>
            <a:spLocks xmlns:a="http://schemas.openxmlformats.org/drawingml/2006/main" noGrp="1"/>
          </p:cNvSpPr>
          <p:nvPr/>
        </p:nvSpPr>
        <p:spPr>
          <a:xfrm xmlns:a="http://schemas.openxmlformats.org/drawingml/2006/main">
            <a:off x="590550" y="2295525"/>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3,999 held-out requests</a:t>
            </a:r>
          </a:p>
        </p:txBody>
      </p:sp>
      <p:sp>
        <p:nvSpPr>
          <p:cNvPr id="10" name="">
            <a:extLst xmlns:a="http://schemas.openxmlformats.org/drawingml/2006/main">
              <a:ext uri="{FF2B5EF4-FFF2-40B4-BE49-F238E27FC236}">
                <a16:creationId xmlns:a16="http://schemas.microsoft.com/office/drawing/2014/main" id="{69EF7381-4641-48A9-8EF4-2EA3627530B6}"/>
              </a:ext>
            </a:extLst>
          </p:cNvPr>
          <p:cNvSpPr>
            <a:spLocks xmlns:a="http://schemas.openxmlformats.org/drawingml/2006/main" noGrp="1"/>
          </p:cNvSpPr>
          <p:nvPr/>
        </p:nvSpPr>
        <p:spPr>
          <a:xfrm xmlns:a="http://schemas.openxmlformats.org/drawingml/2006/main">
            <a:off x="3257550" y="16764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271E"/>
                </a:solidFill>
                <a:latin typeface="Arial"/>
                <a:ea typeface="Arial"/>
                <a:cs typeface="Arial"/>
              </a:defRPr>
            </a:defPPr>
          </a:lstStyle>
          <a:p xmlns:a="http://schemas.openxmlformats.org/drawingml/2006/main">
            <a:pPr algn="l">
              <a:defRPr sz="2250" b="1">
                <a:solidFill>
                  <a:srgbClr val="15271E"/>
                </a:solidFill>
                <a:latin typeface="Arial"/>
                <a:ea typeface="Arial"/>
                <a:cs typeface="Arial"/>
              </a:defRPr>
            </a:pPr>
            <a:r>
              <a:rPr sz="2250" b="1">
                <a:solidFill>
                  <a:srgbClr val="15271E"/>
                </a:solidFill>
                <a:latin typeface="Arial"/>
                <a:ea typeface="Arial"/>
                <a:cs typeface="Arial"/>
              </a:rPr>
              <a:t>99.3%</a:t>
            </a:r>
          </a:p>
        </p:txBody>
      </p:sp>
      <p:sp>
        <p:nvSpPr>
          <p:cNvPr id="11" name="">
            <a:extLst xmlns:a="http://schemas.openxmlformats.org/drawingml/2006/main">
              <a:ext uri="{FF2B5EF4-FFF2-40B4-BE49-F238E27FC236}">
                <a16:creationId xmlns:a16="http://schemas.microsoft.com/office/drawing/2014/main" id="{19D3E762-0320-42B2-B45F-75288D7C70FE}"/>
              </a:ext>
            </a:extLst>
          </p:cNvPr>
          <p:cNvSpPr>
            <a:spLocks xmlns:a="http://schemas.openxmlformats.org/drawingml/2006/main" noGrp="1"/>
          </p:cNvSpPr>
          <p:nvPr/>
        </p:nvSpPr>
        <p:spPr>
          <a:xfrm xmlns:a="http://schemas.openxmlformats.org/drawingml/2006/main">
            <a:off x="3257550" y="2085975"/>
            <a:ext cx="23431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5271E"/>
                </a:solidFill>
                <a:latin typeface="Arial"/>
                <a:ea typeface="Arial"/>
                <a:cs typeface="Arial"/>
              </a:defRPr>
            </a:defPPr>
          </a:lstStyle>
          <a:p xmlns:a="http://schemas.openxmlformats.org/drawingml/2006/main">
            <a:pPr algn="l">
              <a:defRPr sz="900" b="1">
                <a:solidFill>
                  <a:srgbClr val="15271E"/>
                </a:solidFill>
                <a:latin typeface="Arial"/>
                <a:ea typeface="Arial"/>
                <a:cs typeface="Arial"/>
              </a:defRPr>
            </a:pPr>
            <a:r>
              <a:rPr sz="900" b="1">
                <a:solidFill>
                  <a:srgbClr val="15271E"/>
                </a:solidFill>
                <a:latin typeface="Arial"/>
                <a:ea typeface="Arial"/>
                <a:cs typeface="Arial"/>
              </a:rPr>
              <a:t>Weighted F1</a:t>
            </a:r>
          </a:p>
        </p:txBody>
      </p:sp>
      <p:sp>
        <p:nvSpPr>
          <p:cNvPr id="12" name="">
            <a:extLst xmlns:a="http://schemas.openxmlformats.org/drawingml/2006/main">
              <a:ext uri="{FF2B5EF4-FFF2-40B4-BE49-F238E27FC236}">
                <a16:creationId xmlns:a16="http://schemas.microsoft.com/office/drawing/2014/main" id="{259B3EAA-477B-4C19-B416-6A1A3E2F8397}"/>
              </a:ext>
            </a:extLst>
          </p:cNvPr>
          <p:cNvSpPr>
            <a:spLocks xmlns:a="http://schemas.openxmlformats.org/drawingml/2006/main" noGrp="1"/>
          </p:cNvSpPr>
          <p:nvPr/>
        </p:nvSpPr>
        <p:spPr>
          <a:xfrm xmlns:a="http://schemas.openxmlformats.org/drawingml/2006/main">
            <a:off x="3257550" y="2295525"/>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Class-weighted performance</a:t>
            </a:r>
          </a:p>
        </p:txBody>
      </p:sp>
      <p:sp>
        <p:nvSpPr>
          <p:cNvPr id="13" name="">
            <a:extLst xmlns:a="http://schemas.openxmlformats.org/drawingml/2006/main">
              <a:ext uri="{FF2B5EF4-FFF2-40B4-BE49-F238E27FC236}">
                <a16:creationId xmlns:a16="http://schemas.microsoft.com/office/drawing/2014/main" id="{0F3DDEFF-EDCA-4BA9-BE87-03F0AC88E267}"/>
              </a:ext>
            </a:extLst>
          </p:cNvPr>
          <p:cNvSpPr>
            <a:spLocks xmlns:a="http://schemas.openxmlformats.org/drawingml/2006/main" noGrp="1"/>
          </p:cNvSpPr>
          <p:nvPr/>
        </p:nvSpPr>
        <p:spPr>
          <a:xfrm xmlns:a="http://schemas.openxmlformats.org/drawingml/2006/main">
            <a:off x="590550" y="2676525"/>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271E"/>
                </a:solidFill>
                <a:latin typeface="Arial"/>
                <a:ea typeface="Arial"/>
                <a:cs typeface="Arial"/>
              </a:defRPr>
            </a:defPPr>
          </a:lstStyle>
          <a:p xmlns:a="http://schemas.openxmlformats.org/drawingml/2006/main">
            <a:pPr algn="l">
              <a:defRPr sz="2250" b="1">
                <a:solidFill>
                  <a:srgbClr val="15271E"/>
                </a:solidFill>
                <a:latin typeface="Arial"/>
                <a:ea typeface="Arial"/>
                <a:cs typeface="Arial"/>
              </a:defRPr>
            </a:pPr>
            <a:r>
              <a:rPr sz="2250" b="1">
                <a:solidFill>
                  <a:srgbClr val="15271E"/>
                </a:solidFill>
                <a:latin typeface="Arial"/>
                <a:ea typeface="Arial"/>
                <a:cs typeface="Arial"/>
              </a:rPr>
              <a:t>100.0%</a:t>
            </a:r>
          </a:p>
        </p:txBody>
      </p:sp>
      <p:sp>
        <p:nvSpPr>
          <p:cNvPr id="14" name="">
            <a:extLst xmlns:a="http://schemas.openxmlformats.org/drawingml/2006/main">
              <a:ext uri="{FF2B5EF4-FFF2-40B4-BE49-F238E27FC236}">
                <a16:creationId xmlns:a16="http://schemas.microsoft.com/office/drawing/2014/main" id="{D782AD80-BDE5-4E6B-ACD4-771BD2BB9FFA}"/>
              </a:ext>
            </a:extLst>
          </p:cNvPr>
          <p:cNvSpPr>
            <a:spLocks xmlns:a="http://schemas.openxmlformats.org/drawingml/2006/main" noGrp="1"/>
          </p:cNvSpPr>
          <p:nvPr/>
        </p:nvSpPr>
        <p:spPr>
          <a:xfrm xmlns:a="http://schemas.openxmlformats.org/drawingml/2006/main">
            <a:off x="590550" y="3086100"/>
            <a:ext cx="23431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5271E"/>
                </a:solidFill>
                <a:latin typeface="Arial"/>
                <a:ea typeface="Arial"/>
                <a:cs typeface="Arial"/>
              </a:defRPr>
            </a:defPPr>
          </a:lstStyle>
          <a:p xmlns:a="http://schemas.openxmlformats.org/drawingml/2006/main">
            <a:pPr algn="l">
              <a:defRPr sz="900" b="1">
                <a:solidFill>
                  <a:srgbClr val="15271E"/>
                </a:solidFill>
                <a:latin typeface="Arial"/>
                <a:ea typeface="Arial"/>
                <a:cs typeface="Arial"/>
              </a:defRPr>
            </a:pPr>
            <a:r>
              <a:rPr sz="900" b="1">
                <a:solidFill>
                  <a:srgbClr val="15271E"/>
                </a:solidFill>
                <a:latin typeface="Arial"/>
                <a:ea typeface="Arial"/>
                <a:cs typeface="Arial"/>
              </a:rPr>
              <a:t>ROC AUC · OVR</a:t>
            </a:r>
          </a:p>
        </p:txBody>
      </p:sp>
      <p:sp>
        <p:nvSpPr>
          <p:cNvPr id="15" name="">
            <a:extLst xmlns:a="http://schemas.openxmlformats.org/drawingml/2006/main">
              <a:ext uri="{FF2B5EF4-FFF2-40B4-BE49-F238E27FC236}">
                <a16:creationId xmlns:a16="http://schemas.microsoft.com/office/drawing/2014/main" id="{C033D683-2444-48CA-8B1E-F7EEA5541724}"/>
              </a:ext>
            </a:extLst>
          </p:cNvPr>
          <p:cNvSpPr>
            <a:spLocks xmlns:a="http://schemas.openxmlformats.org/drawingml/2006/main" noGrp="1"/>
          </p:cNvSpPr>
          <p:nvPr/>
        </p:nvSpPr>
        <p:spPr>
          <a:xfrm xmlns:a="http://schemas.openxmlformats.org/drawingml/2006/main">
            <a:off x="590550" y="329565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Multiclass ranking</a:t>
            </a:r>
          </a:p>
        </p:txBody>
      </p:sp>
      <p:sp>
        <p:nvSpPr>
          <p:cNvPr id="16" name="">
            <a:extLst xmlns:a="http://schemas.openxmlformats.org/drawingml/2006/main">
              <a:ext uri="{FF2B5EF4-FFF2-40B4-BE49-F238E27FC236}">
                <a16:creationId xmlns:a16="http://schemas.microsoft.com/office/drawing/2014/main" id="{E5564578-046A-4FB3-A513-CCD712FAF5AC}"/>
              </a:ext>
            </a:extLst>
          </p:cNvPr>
          <p:cNvSpPr>
            <a:spLocks xmlns:a="http://schemas.openxmlformats.org/drawingml/2006/main" noGrp="1"/>
          </p:cNvSpPr>
          <p:nvPr/>
        </p:nvSpPr>
        <p:spPr>
          <a:xfrm xmlns:a="http://schemas.openxmlformats.org/drawingml/2006/main">
            <a:off x="3257550" y="2676525"/>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5271E"/>
                </a:solidFill>
                <a:latin typeface="Arial"/>
                <a:ea typeface="Arial"/>
                <a:cs typeface="Arial"/>
              </a:defRPr>
            </a:defPPr>
          </a:lstStyle>
          <a:p xmlns:a="http://schemas.openxmlformats.org/drawingml/2006/main">
            <a:pPr algn="l">
              <a:defRPr sz="2250" b="1">
                <a:solidFill>
                  <a:srgbClr val="15271E"/>
                </a:solidFill>
                <a:latin typeface="Arial"/>
                <a:ea typeface="Arial"/>
                <a:cs typeface="Arial"/>
              </a:defRPr>
            </a:pPr>
            <a:r>
              <a:rPr sz="2250" b="1">
                <a:solidFill>
                  <a:srgbClr val="15271E"/>
                </a:solidFill>
                <a:latin typeface="Arial"/>
                <a:ea typeface="Arial"/>
                <a:cs typeface="Arial"/>
              </a:rPr>
              <a:t>93.1%</a:t>
            </a:r>
          </a:p>
        </p:txBody>
      </p:sp>
      <p:sp>
        <p:nvSpPr>
          <p:cNvPr id="17" name="">
            <a:extLst xmlns:a="http://schemas.openxmlformats.org/drawingml/2006/main">
              <a:ext uri="{FF2B5EF4-FFF2-40B4-BE49-F238E27FC236}">
                <a16:creationId xmlns:a16="http://schemas.microsoft.com/office/drawing/2014/main" id="{316581D6-0F4D-4DEA-BFC4-900B4C3B41F6}"/>
              </a:ext>
            </a:extLst>
          </p:cNvPr>
          <p:cNvSpPr>
            <a:spLocks xmlns:a="http://schemas.openxmlformats.org/drawingml/2006/main" noGrp="1"/>
          </p:cNvSpPr>
          <p:nvPr/>
        </p:nvSpPr>
        <p:spPr>
          <a:xfrm xmlns:a="http://schemas.openxmlformats.org/drawingml/2006/main">
            <a:off x="3257550" y="3086100"/>
            <a:ext cx="23431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15271E"/>
                </a:solidFill>
                <a:latin typeface="Arial"/>
                <a:ea typeface="Arial"/>
                <a:cs typeface="Arial"/>
              </a:defRPr>
            </a:defPPr>
          </a:lstStyle>
          <a:p xmlns:a="http://schemas.openxmlformats.org/drawingml/2006/main">
            <a:pPr algn="l">
              <a:defRPr sz="900" b="1">
                <a:solidFill>
                  <a:srgbClr val="15271E"/>
                </a:solidFill>
                <a:latin typeface="Arial"/>
                <a:ea typeface="Arial"/>
                <a:cs typeface="Arial"/>
              </a:defRPr>
            </a:pPr>
            <a:r>
              <a:rPr sz="900" b="1">
                <a:solidFill>
                  <a:srgbClr val="15271E"/>
                </a:solidFill>
                <a:latin typeface="Arial"/>
                <a:ea typeface="Arial"/>
                <a:cs typeface="Arial"/>
              </a:rPr>
              <a:t>PR AUC</a:t>
            </a:r>
          </a:p>
        </p:txBody>
      </p:sp>
      <p:sp>
        <p:nvSpPr>
          <p:cNvPr id="18" name="">
            <a:extLst xmlns:a="http://schemas.openxmlformats.org/drawingml/2006/main">
              <a:ext uri="{FF2B5EF4-FFF2-40B4-BE49-F238E27FC236}">
                <a16:creationId xmlns:a16="http://schemas.microsoft.com/office/drawing/2014/main" id="{3FA53490-04C6-403A-8F11-03E72BF2757A}"/>
              </a:ext>
            </a:extLst>
          </p:cNvPr>
          <p:cNvSpPr>
            <a:spLocks xmlns:a="http://schemas.openxmlformats.org/drawingml/2006/main" noGrp="1"/>
          </p:cNvSpPr>
          <p:nvPr/>
        </p:nvSpPr>
        <p:spPr>
          <a:xfrm xmlns:a="http://schemas.openxmlformats.org/drawingml/2006/main">
            <a:off x="3257550" y="329565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Weighted one-vs-rest</a:t>
            </a:r>
          </a:p>
        </p:txBody>
      </p:sp>
      <p:sp>
        <p:nvSpPr>
          <p:cNvPr id="19" name="">
            <a:extLst xmlns:a="http://schemas.openxmlformats.org/drawingml/2006/main">
              <a:ext uri="{FF2B5EF4-FFF2-40B4-BE49-F238E27FC236}">
                <a16:creationId xmlns:a16="http://schemas.microsoft.com/office/drawing/2014/main" id="{35CE1B25-89AB-4DB7-BE4F-8B7F55DEEF0F}"/>
              </a:ext>
            </a:extLst>
          </p:cNvPr>
          <p:cNvSpPr>
            <a:spLocks xmlns:a="http://schemas.openxmlformats.org/drawingml/2006/main" noGrp="1"/>
          </p:cNvSpPr>
          <p:nvPr/>
        </p:nvSpPr>
        <p:spPr>
          <a:xfrm xmlns:a="http://schemas.openxmlformats.org/drawingml/2006/main">
            <a:off x="6286500" y="1895475"/>
            <a:ext cx="521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5271E"/>
                </a:solidFill>
                <a:latin typeface="Arial"/>
                <a:ea typeface="Arial"/>
                <a:cs typeface="Arial"/>
              </a:defRPr>
            </a:defPPr>
          </a:lstStyle>
          <a:p xmlns:a="http://schemas.openxmlformats.org/drawingml/2006/main">
            <a:pPr algn="l">
              <a:defRPr sz="1125" b="1">
                <a:solidFill>
                  <a:srgbClr val="15271E"/>
                </a:solidFill>
                <a:latin typeface="Arial"/>
                <a:ea typeface="Arial"/>
                <a:cs typeface="Arial"/>
              </a:defRPr>
            </a:pPr>
            <a:r>
              <a:rPr sz="1125" b="1">
                <a:solidFill>
                  <a:srgbClr val="15271E"/>
                </a:solidFill>
                <a:latin typeface="Arial"/>
                <a:ea typeface="Arial"/>
                <a:cs typeface="Arial"/>
              </a:rPr>
              <a:t>Classification model comparison</a:t>
            </a:r>
          </a:p>
        </p:txBody>
      </p:sp>
      <p:sp>
        <p:nvSpPr>
          <p:cNvPr id="20" name="">
            <a:extLst xmlns:a="http://schemas.openxmlformats.org/drawingml/2006/main">
              <a:ext uri="{FF2B5EF4-FFF2-40B4-BE49-F238E27FC236}">
                <a16:creationId xmlns:a16="http://schemas.microsoft.com/office/drawing/2014/main" id="{18C68742-A65C-4FD2-ADC6-3E0AF502133E}"/>
              </a:ext>
            </a:extLst>
          </p:cNvPr>
          <p:cNvSpPr>
            <a:spLocks xmlns:a="http://schemas.openxmlformats.org/drawingml/2006/main" noGrp="1"/>
          </p:cNvSpPr>
          <p:nvPr/>
        </p:nvSpPr>
        <p:spPr>
          <a:xfrm xmlns:a="http://schemas.openxmlformats.org/drawingml/2006/main">
            <a:off x="8374380" y="2200275"/>
            <a:ext cx="9525" cy="272415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39045F5-FDA8-4C3C-A2C1-E16EEA3D80CB}"/>
              </a:ext>
            </a:extLst>
          </p:cNvPr>
          <p:cNvSpPr>
            <a:spLocks xmlns:a="http://schemas.openxmlformats.org/drawingml/2006/main" noGrp="1"/>
          </p:cNvSpPr>
          <p:nvPr/>
        </p:nvSpPr>
        <p:spPr>
          <a:xfrm xmlns:a="http://schemas.openxmlformats.org/drawingml/2006/main">
            <a:off x="9028748" y="2200275"/>
            <a:ext cx="9525" cy="272415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F40BFE4-4B23-44C5-8487-84870CC593EA}"/>
              </a:ext>
            </a:extLst>
          </p:cNvPr>
          <p:cNvSpPr>
            <a:spLocks xmlns:a="http://schemas.openxmlformats.org/drawingml/2006/main" noGrp="1"/>
          </p:cNvSpPr>
          <p:nvPr/>
        </p:nvSpPr>
        <p:spPr>
          <a:xfrm xmlns:a="http://schemas.openxmlformats.org/drawingml/2006/main">
            <a:off x="9683115" y="2200275"/>
            <a:ext cx="9525" cy="272415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E788220-7917-486D-9FB6-B5EFCFAE09B0}"/>
              </a:ext>
            </a:extLst>
          </p:cNvPr>
          <p:cNvSpPr>
            <a:spLocks xmlns:a="http://schemas.openxmlformats.org/drawingml/2006/main" noGrp="1"/>
          </p:cNvSpPr>
          <p:nvPr/>
        </p:nvSpPr>
        <p:spPr>
          <a:xfrm xmlns:a="http://schemas.openxmlformats.org/drawingml/2006/main">
            <a:off x="10337483" y="2200275"/>
            <a:ext cx="9525" cy="272415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E6914F-DDEF-4FD9-880E-28EF66733865}"/>
              </a:ext>
            </a:extLst>
          </p:cNvPr>
          <p:cNvSpPr>
            <a:spLocks xmlns:a="http://schemas.openxmlformats.org/drawingml/2006/main" noGrp="1"/>
          </p:cNvSpPr>
          <p:nvPr/>
        </p:nvSpPr>
        <p:spPr>
          <a:xfrm xmlns:a="http://schemas.openxmlformats.org/drawingml/2006/main">
            <a:off x="10991850" y="2200275"/>
            <a:ext cx="9525" cy="2724150"/>
          </a:xfrm>
          <a:prstGeom xmlns:a="http://schemas.openxmlformats.org/drawingml/2006/main" prst="rect">
            <a:avLst/>
          </a:prstGeom>
          <a:solidFill xmlns:a="http://schemas.openxmlformats.org/drawingml/2006/main">
            <a:srgbClr val="E8EC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D243D8A-9A1C-42EE-A5C3-9C08603DF80B}"/>
              </a:ext>
            </a:extLst>
          </p:cNvPr>
          <p:cNvSpPr>
            <a:spLocks xmlns:a="http://schemas.openxmlformats.org/drawingml/2006/main" noGrp="1"/>
          </p:cNvSpPr>
          <p:nvPr/>
        </p:nvSpPr>
        <p:spPr>
          <a:xfrm xmlns:a="http://schemas.openxmlformats.org/drawingml/2006/main">
            <a:off x="6286500" y="2341563"/>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Logistic</a:t>
            </a:r>
          </a:p>
        </p:txBody>
      </p:sp>
      <p:sp>
        <p:nvSpPr>
          <p:cNvPr id="26" name="">
            <a:extLst xmlns:a="http://schemas.openxmlformats.org/drawingml/2006/main">
              <a:ext uri="{FF2B5EF4-FFF2-40B4-BE49-F238E27FC236}">
                <a16:creationId xmlns:a16="http://schemas.microsoft.com/office/drawing/2014/main" id="{25CBE5FE-AE7C-4355-B4DE-DC64EBED47B1}"/>
              </a:ext>
            </a:extLst>
          </p:cNvPr>
          <p:cNvSpPr>
            <a:spLocks xmlns:a="http://schemas.openxmlformats.org/drawingml/2006/main" noGrp="1"/>
          </p:cNvSpPr>
          <p:nvPr/>
        </p:nvSpPr>
        <p:spPr>
          <a:xfrm xmlns:a="http://schemas.openxmlformats.org/drawingml/2006/main">
            <a:off x="8374380" y="2317750"/>
            <a:ext cx="2218195"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1BFECA0-8FC4-46A4-894F-8C7732DA004A}"/>
              </a:ext>
            </a:extLst>
          </p:cNvPr>
          <p:cNvSpPr>
            <a:spLocks xmlns:a="http://schemas.openxmlformats.org/drawingml/2006/main" noGrp="1"/>
          </p:cNvSpPr>
          <p:nvPr/>
        </p:nvSpPr>
        <p:spPr>
          <a:xfrm xmlns:a="http://schemas.openxmlformats.org/drawingml/2006/main">
            <a:off x="11068050" y="2341563"/>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0.992</a:t>
            </a:r>
          </a:p>
        </p:txBody>
      </p:sp>
      <p:sp>
        <p:nvSpPr>
          <p:cNvPr id="28" name="">
            <a:extLst xmlns:a="http://schemas.openxmlformats.org/drawingml/2006/main">
              <a:ext uri="{FF2B5EF4-FFF2-40B4-BE49-F238E27FC236}">
                <a16:creationId xmlns:a16="http://schemas.microsoft.com/office/drawing/2014/main" id="{DC8CED55-CCD8-4085-8940-570C656ACA13}"/>
              </a:ext>
            </a:extLst>
          </p:cNvPr>
          <p:cNvSpPr>
            <a:spLocks xmlns:a="http://schemas.openxmlformats.org/drawingml/2006/main" noGrp="1"/>
          </p:cNvSpPr>
          <p:nvPr/>
        </p:nvSpPr>
        <p:spPr>
          <a:xfrm xmlns:a="http://schemas.openxmlformats.org/drawingml/2006/main">
            <a:off x="6286500" y="2795588"/>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Decision tree</a:t>
            </a:r>
          </a:p>
        </p:txBody>
      </p:sp>
      <p:sp>
        <p:nvSpPr>
          <p:cNvPr id="29" name="">
            <a:extLst xmlns:a="http://schemas.openxmlformats.org/drawingml/2006/main">
              <a:ext uri="{FF2B5EF4-FFF2-40B4-BE49-F238E27FC236}">
                <a16:creationId xmlns:a16="http://schemas.microsoft.com/office/drawing/2014/main" id="{C6A74052-0EF7-455B-9FE3-2A4F8897B667}"/>
              </a:ext>
            </a:extLst>
          </p:cNvPr>
          <p:cNvSpPr>
            <a:spLocks xmlns:a="http://schemas.openxmlformats.org/drawingml/2006/main" noGrp="1"/>
          </p:cNvSpPr>
          <p:nvPr/>
        </p:nvSpPr>
        <p:spPr>
          <a:xfrm xmlns:a="http://schemas.openxmlformats.org/drawingml/2006/main">
            <a:off x="8374380" y="2771775"/>
            <a:ext cx="1587001"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7856BDC-3D0D-4DCA-8087-D5D41D3D4C1F}"/>
              </a:ext>
            </a:extLst>
          </p:cNvPr>
          <p:cNvSpPr>
            <a:spLocks xmlns:a="http://schemas.openxmlformats.org/drawingml/2006/main" noGrp="1"/>
          </p:cNvSpPr>
          <p:nvPr/>
        </p:nvSpPr>
        <p:spPr>
          <a:xfrm xmlns:a="http://schemas.openxmlformats.org/drawingml/2006/main">
            <a:off x="11068050" y="2795588"/>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0.989</a:t>
            </a:r>
          </a:p>
        </p:txBody>
      </p:sp>
      <p:sp>
        <p:nvSpPr>
          <p:cNvPr id="31" name="">
            <a:extLst xmlns:a="http://schemas.openxmlformats.org/drawingml/2006/main">
              <a:ext uri="{FF2B5EF4-FFF2-40B4-BE49-F238E27FC236}">
                <a16:creationId xmlns:a16="http://schemas.microsoft.com/office/drawing/2014/main" id="{82E2E3B3-DAE0-4473-910E-BA2B79D9DD31}"/>
              </a:ext>
            </a:extLst>
          </p:cNvPr>
          <p:cNvSpPr>
            <a:spLocks xmlns:a="http://schemas.openxmlformats.org/drawingml/2006/main" noGrp="1"/>
          </p:cNvSpPr>
          <p:nvPr/>
        </p:nvSpPr>
        <p:spPr>
          <a:xfrm xmlns:a="http://schemas.openxmlformats.org/drawingml/2006/main">
            <a:off x="6286500" y="3249612"/>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Random forest</a:t>
            </a:r>
          </a:p>
        </p:txBody>
      </p:sp>
      <p:sp>
        <p:nvSpPr>
          <p:cNvPr id="32" name="">
            <a:extLst xmlns:a="http://schemas.openxmlformats.org/drawingml/2006/main">
              <a:ext uri="{FF2B5EF4-FFF2-40B4-BE49-F238E27FC236}">
                <a16:creationId xmlns:a16="http://schemas.microsoft.com/office/drawing/2014/main" id="{B5829EC5-BBBA-4EB1-B94A-DE951513A8DE}"/>
              </a:ext>
            </a:extLst>
          </p:cNvPr>
          <p:cNvSpPr>
            <a:spLocks xmlns:a="http://schemas.openxmlformats.org/drawingml/2006/main" noGrp="1"/>
          </p:cNvSpPr>
          <p:nvPr/>
        </p:nvSpPr>
        <p:spPr>
          <a:xfrm xmlns:a="http://schemas.openxmlformats.org/drawingml/2006/main">
            <a:off x="8374380" y="3225800"/>
            <a:ext cx="1478797"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09A7869-5DB6-40B8-A1BF-DC16B1F3CC89}"/>
              </a:ext>
            </a:extLst>
          </p:cNvPr>
          <p:cNvSpPr>
            <a:spLocks xmlns:a="http://schemas.openxmlformats.org/drawingml/2006/main" noGrp="1"/>
          </p:cNvSpPr>
          <p:nvPr/>
        </p:nvSpPr>
        <p:spPr>
          <a:xfrm xmlns:a="http://schemas.openxmlformats.org/drawingml/2006/main">
            <a:off x="11068050" y="3249612"/>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0.988</a:t>
            </a:r>
          </a:p>
        </p:txBody>
      </p:sp>
      <p:sp>
        <p:nvSpPr>
          <p:cNvPr id="34" name="">
            <a:extLst xmlns:a="http://schemas.openxmlformats.org/drawingml/2006/main">
              <a:ext uri="{FF2B5EF4-FFF2-40B4-BE49-F238E27FC236}">
                <a16:creationId xmlns:a16="http://schemas.microsoft.com/office/drawing/2014/main" id="{AF9F8F99-BA31-468D-9EE5-17842E5FCF5C}"/>
              </a:ext>
            </a:extLst>
          </p:cNvPr>
          <p:cNvSpPr>
            <a:spLocks xmlns:a="http://schemas.openxmlformats.org/drawingml/2006/main" noGrp="1"/>
          </p:cNvSpPr>
          <p:nvPr/>
        </p:nvSpPr>
        <p:spPr>
          <a:xfrm xmlns:a="http://schemas.openxmlformats.org/drawingml/2006/main">
            <a:off x="6286500" y="3703638"/>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Extra trees</a:t>
            </a:r>
          </a:p>
        </p:txBody>
      </p:sp>
      <p:sp>
        <p:nvSpPr>
          <p:cNvPr id="35" name="">
            <a:extLst xmlns:a="http://schemas.openxmlformats.org/drawingml/2006/main">
              <a:ext uri="{FF2B5EF4-FFF2-40B4-BE49-F238E27FC236}">
                <a16:creationId xmlns:a16="http://schemas.microsoft.com/office/drawing/2014/main" id="{28823017-FD61-4A00-9CA8-5125E62D69BE}"/>
              </a:ext>
            </a:extLst>
          </p:cNvPr>
          <p:cNvSpPr>
            <a:spLocks xmlns:a="http://schemas.openxmlformats.org/drawingml/2006/main" noGrp="1"/>
          </p:cNvSpPr>
          <p:nvPr/>
        </p:nvSpPr>
        <p:spPr>
          <a:xfrm xmlns:a="http://schemas.openxmlformats.org/drawingml/2006/main">
            <a:off x="8374380" y="3679825"/>
            <a:ext cx="1641104"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8CD33ED-B54B-4254-9D19-442C95ABB5CF}"/>
              </a:ext>
            </a:extLst>
          </p:cNvPr>
          <p:cNvSpPr>
            <a:spLocks xmlns:a="http://schemas.openxmlformats.org/drawingml/2006/main" noGrp="1"/>
          </p:cNvSpPr>
          <p:nvPr/>
        </p:nvSpPr>
        <p:spPr>
          <a:xfrm xmlns:a="http://schemas.openxmlformats.org/drawingml/2006/main">
            <a:off x="11068050" y="3703638"/>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0.989</a:t>
            </a:r>
          </a:p>
        </p:txBody>
      </p:sp>
      <p:sp>
        <p:nvSpPr>
          <p:cNvPr id="37" name="">
            <a:extLst xmlns:a="http://schemas.openxmlformats.org/drawingml/2006/main">
              <a:ext uri="{FF2B5EF4-FFF2-40B4-BE49-F238E27FC236}">
                <a16:creationId xmlns:a16="http://schemas.microsoft.com/office/drawing/2014/main" id="{6D58EF50-D51B-4668-9787-E9BE8EB6D45F}"/>
              </a:ext>
            </a:extLst>
          </p:cNvPr>
          <p:cNvSpPr>
            <a:spLocks xmlns:a="http://schemas.openxmlformats.org/drawingml/2006/main" noGrp="1"/>
          </p:cNvSpPr>
          <p:nvPr/>
        </p:nvSpPr>
        <p:spPr>
          <a:xfrm xmlns:a="http://schemas.openxmlformats.org/drawingml/2006/main">
            <a:off x="6286500" y="4157662"/>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Gradient boost</a:t>
            </a:r>
          </a:p>
        </p:txBody>
      </p:sp>
      <p:sp>
        <p:nvSpPr>
          <p:cNvPr id="38" name="">
            <a:extLst xmlns:a="http://schemas.openxmlformats.org/drawingml/2006/main">
              <a:ext uri="{FF2B5EF4-FFF2-40B4-BE49-F238E27FC236}">
                <a16:creationId xmlns:a16="http://schemas.microsoft.com/office/drawing/2014/main" id="{19A87CD9-2463-4348-9AE6-C95897307197}"/>
              </a:ext>
            </a:extLst>
          </p:cNvPr>
          <p:cNvSpPr>
            <a:spLocks xmlns:a="http://schemas.openxmlformats.org/drawingml/2006/main" noGrp="1"/>
          </p:cNvSpPr>
          <p:nvPr/>
        </p:nvSpPr>
        <p:spPr>
          <a:xfrm xmlns:a="http://schemas.openxmlformats.org/drawingml/2006/main">
            <a:off x="8374380" y="4133850"/>
            <a:ext cx="2091956"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B5EF293-CAF6-483B-AC08-85F1303A2187}"/>
              </a:ext>
            </a:extLst>
          </p:cNvPr>
          <p:cNvSpPr>
            <a:spLocks xmlns:a="http://schemas.openxmlformats.org/drawingml/2006/main" noGrp="1"/>
          </p:cNvSpPr>
          <p:nvPr/>
        </p:nvSpPr>
        <p:spPr>
          <a:xfrm xmlns:a="http://schemas.openxmlformats.org/drawingml/2006/main">
            <a:off x="11068050" y="4157662"/>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0.992</a:t>
            </a:r>
          </a:p>
        </p:txBody>
      </p:sp>
      <p:sp>
        <p:nvSpPr>
          <p:cNvPr id="40" name="">
            <a:extLst xmlns:a="http://schemas.openxmlformats.org/drawingml/2006/main">
              <a:ext uri="{FF2B5EF4-FFF2-40B4-BE49-F238E27FC236}">
                <a16:creationId xmlns:a16="http://schemas.microsoft.com/office/drawing/2014/main" id="{D4C95FA1-1DF0-4509-8353-8A292C36989C}"/>
              </a:ext>
            </a:extLst>
          </p:cNvPr>
          <p:cNvSpPr>
            <a:spLocks xmlns:a="http://schemas.openxmlformats.org/drawingml/2006/main" noGrp="1"/>
          </p:cNvSpPr>
          <p:nvPr/>
        </p:nvSpPr>
        <p:spPr>
          <a:xfrm xmlns:a="http://schemas.openxmlformats.org/drawingml/2006/main">
            <a:off x="6286500" y="4611688"/>
            <a:ext cx="197358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XGBoost</a:t>
            </a:r>
          </a:p>
        </p:txBody>
      </p:sp>
      <p:sp>
        <p:nvSpPr>
          <p:cNvPr id="41" name="">
            <a:extLst xmlns:a="http://schemas.openxmlformats.org/drawingml/2006/main">
              <a:ext uri="{FF2B5EF4-FFF2-40B4-BE49-F238E27FC236}">
                <a16:creationId xmlns:a16="http://schemas.microsoft.com/office/drawing/2014/main" id="{6C187ADC-FF22-4A84-B205-D7290563AEDE}"/>
              </a:ext>
            </a:extLst>
          </p:cNvPr>
          <p:cNvSpPr>
            <a:spLocks xmlns:a="http://schemas.openxmlformats.org/drawingml/2006/main" noGrp="1"/>
          </p:cNvSpPr>
          <p:nvPr/>
        </p:nvSpPr>
        <p:spPr>
          <a:xfrm xmlns:a="http://schemas.openxmlformats.org/drawingml/2006/main">
            <a:off x="8374380" y="4587875"/>
            <a:ext cx="1911615" cy="219075"/>
          </a:xfrm>
          <a:prstGeom xmlns:a="http://schemas.openxmlformats.org/drawingml/2006/main" prst="roundRect">
            <a:avLst>
              <a:gd name="adj" fmla="val 43478"/>
            </a:avLst>
          </a:prstGeom>
          <a:solidFill xmlns:a="http://schemas.openxmlformats.org/drawingml/2006/main">
            <a:srgbClr val="276B4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7DB24DA-9D1A-40A5-B133-CC0F24290E11}"/>
              </a:ext>
            </a:extLst>
          </p:cNvPr>
          <p:cNvSpPr>
            <a:spLocks xmlns:a="http://schemas.openxmlformats.org/drawingml/2006/main" noGrp="1"/>
          </p:cNvSpPr>
          <p:nvPr/>
        </p:nvSpPr>
        <p:spPr>
          <a:xfrm xmlns:a="http://schemas.openxmlformats.org/drawingml/2006/main">
            <a:off x="11068050" y="4611688"/>
            <a:ext cx="5143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15271E"/>
                </a:solidFill>
                <a:latin typeface="Arial"/>
                <a:ea typeface="Arial"/>
                <a:cs typeface="Arial"/>
              </a:defRPr>
            </a:defPPr>
          </a:lstStyle>
          <a:p xmlns:a="http://schemas.openxmlformats.org/drawingml/2006/main">
            <a:pPr algn="l">
              <a:defRPr sz="750" b="1">
                <a:solidFill>
                  <a:srgbClr val="15271E"/>
                </a:solidFill>
                <a:latin typeface="Arial"/>
                <a:ea typeface="Arial"/>
                <a:cs typeface="Arial"/>
              </a:defRPr>
            </a:pPr>
            <a:r>
              <a:rPr sz="750" b="1">
                <a:solidFill>
                  <a:srgbClr val="15271E"/>
                </a:solidFill>
                <a:latin typeface="Arial"/>
                <a:ea typeface="Arial"/>
                <a:cs typeface="Arial"/>
              </a:rPr>
              <a:t>0.991</a:t>
            </a:r>
          </a:p>
        </p:txBody>
      </p:sp>
      <p:sp>
        <p:nvSpPr>
          <p:cNvPr id="43" name="">
            <a:extLst xmlns:a="http://schemas.openxmlformats.org/drawingml/2006/main">
              <a:ext uri="{FF2B5EF4-FFF2-40B4-BE49-F238E27FC236}">
                <a16:creationId xmlns:a16="http://schemas.microsoft.com/office/drawing/2014/main" id="{CD6338C9-7739-4A7E-AE9A-20CF0CFBBA0E}"/>
              </a:ext>
            </a:extLst>
          </p:cNvPr>
          <p:cNvSpPr>
            <a:spLocks xmlns:a="http://schemas.openxmlformats.org/drawingml/2006/main" noGrp="1"/>
          </p:cNvSpPr>
          <p:nvPr/>
        </p:nvSpPr>
        <p:spPr>
          <a:xfrm xmlns:a="http://schemas.openxmlformats.org/drawingml/2006/main">
            <a:off x="8374380" y="4953000"/>
            <a:ext cx="495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0">
                <a:solidFill>
                  <a:srgbClr val="66756B"/>
                </a:solidFill>
                <a:latin typeface="Arial"/>
                <a:ea typeface="Arial"/>
                <a:cs typeface="Arial"/>
              </a:defRPr>
            </a:defPPr>
          </a:lstStyle>
          <a:p xmlns:a="http://schemas.openxmlformats.org/drawingml/2006/main">
            <a:pPr algn="l">
              <a:defRPr sz="675" b="0">
                <a:solidFill>
                  <a:srgbClr val="66756B"/>
                </a:solidFill>
                <a:latin typeface="Arial"/>
                <a:ea typeface="Arial"/>
                <a:cs typeface="Arial"/>
              </a:defRPr>
            </a:pPr>
            <a:r>
              <a:rPr sz="675" b="0">
                <a:solidFill>
                  <a:srgbClr val="66756B"/>
                </a:solidFill>
                <a:latin typeface="Arial"/>
                <a:ea typeface="Arial"/>
                <a:cs typeface="Arial"/>
              </a:rPr>
              <a:t>0.980</a:t>
            </a:r>
          </a:p>
        </p:txBody>
      </p:sp>
      <p:sp>
        <p:nvSpPr>
          <p:cNvPr id="44" name="">
            <a:extLst xmlns:a="http://schemas.openxmlformats.org/drawingml/2006/main">
              <a:ext uri="{FF2B5EF4-FFF2-40B4-BE49-F238E27FC236}">
                <a16:creationId xmlns:a16="http://schemas.microsoft.com/office/drawing/2014/main" id="{B4D9A0E5-5F63-45C7-8BFE-D8E52BB80F36}"/>
              </a:ext>
            </a:extLst>
          </p:cNvPr>
          <p:cNvSpPr>
            <a:spLocks xmlns:a="http://schemas.openxmlformats.org/drawingml/2006/main" noGrp="1"/>
          </p:cNvSpPr>
          <p:nvPr/>
        </p:nvSpPr>
        <p:spPr>
          <a:xfrm xmlns:a="http://schemas.openxmlformats.org/drawingml/2006/main">
            <a:off x="10534650" y="4953000"/>
            <a:ext cx="495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675" b="0">
                <a:solidFill>
                  <a:srgbClr val="66756B"/>
                </a:solidFill>
                <a:latin typeface="Arial"/>
                <a:ea typeface="Arial"/>
                <a:cs typeface="Arial"/>
              </a:defRPr>
            </a:defPPr>
          </a:lstStyle>
          <a:p xmlns:a="http://schemas.openxmlformats.org/drawingml/2006/main">
            <a:pPr algn="r">
              <a:defRPr sz="675" b="0">
                <a:solidFill>
                  <a:srgbClr val="66756B"/>
                </a:solidFill>
                <a:latin typeface="Arial"/>
                <a:ea typeface="Arial"/>
                <a:cs typeface="Arial"/>
              </a:defRPr>
            </a:pPr>
            <a:r>
              <a:rPr sz="675" b="0">
                <a:solidFill>
                  <a:srgbClr val="66756B"/>
                </a:solidFill>
                <a:latin typeface="Arial"/>
                <a:ea typeface="Arial"/>
                <a:cs typeface="Arial"/>
              </a:rPr>
              <a:t>0.995</a:t>
            </a:r>
          </a:p>
        </p:txBody>
      </p:sp>
      <p:sp>
        <p:nvSpPr>
          <p:cNvPr id="45" name="">
            <a:extLst xmlns:a="http://schemas.openxmlformats.org/drawingml/2006/main">
              <a:ext uri="{FF2B5EF4-FFF2-40B4-BE49-F238E27FC236}">
                <a16:creationId xmlns:a16="http://schemas.microsoft.com/office/drawing/2014/main" id="{0FB785A7-460C-4D4D-8FCE-CD692A7EC533}"/>
              </a:ext>
            </a:extLst>
          </p:cNvPr>
          <p:cNvSpPr>
            <a:spLocks xmlns:a="http://schemas.openxmlformats.org/drawingml/2006/main" noGrp="1"/>
          </p:cNvSpPr>
          <p:nvPr/>
        </p:nvSpPr>
        <p:spPr>
          <a:xfrm xmlns:a="http://schemas.openxmlformats.org/drawingml/2006/main">
            <a:off x="590550" y="3943350"/>
            <a:ext cx="4953000" cy="1800225"/>
          </a:xfrm>
          <a:prstGeom xmlns:a="http://schemas.openxmlformats.org/drawingml/2006/main" prst="roundRect">
            <a:avLst>
              <a:gd name="adj" fmla="val 5291"/>
            </a:avLst>
          </a:prstGeom>
          <a:solidFill xmlns:a="http://schemas.openxmlformats.org/drawingml/2006/main">
            <a:srgbClr val="FFFFFF"/>
          </a:solidFill>
          <a:ln xmlns:a="http://schemas.openxmlformats.org/drawingml/2006/main" w="9525">
            <a:solidFill>
              <a:srgbClr val="DEE5DE"/>
            </a:solidFill>
            <a:prstDash val="solid"/>
          </a:ln>
        </p:spPr>
      </p:sp>
      <p:sp>
        <p:nvSpPr>
          <p:cNvPr id="46" name="">
            <a:extLst xmlns:a="http://schemas.openxmlformats.org/drawingml/2006/main">
              <a:ext uri="{FF2B5EF4-FFF2-40B4-BE49-F238E27FC236}">
                <a16:creationId xmlns:a16="http://schemas.microsoft.com/office/drawing/2014/main" id="{B0FC754B-575F-4252-92E0-7FEFF6241C40}"/>
              </a:ext>
            </a:extLst>
          </p:cNvPr>
          <p:cNvSpPr>
            <a:spLocks xmlns:a="http://schemas.openxmlformats.org/drawingml/2006/main" noGrp="1"/>
          </p:cNvSpPr>
          <p:nvPr/>
        </p:nvSpPr>
        <p:spPr>
          <a:xfrm xmlns:a="http://schemas.openxmlformats.org/drawingml/2006/main">
            <a:off x="800100" y="4143375"/>
            <a:ext cx="433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RESOLUTION-TIME REGRESSION</a:t>
            </a:r>
          </a:p>
        </p:txBody>
      </p:sp>
      <p:sp>
        <p:nvSpPr>
          <p:cNvPr id="47" name="">
            <a:extLst xmlns:a="http://schemas.openxmlformats.org/drawingml/2006/main">
              <a:ext uri="{FF2B5EF4-FFF2-40B4-BE49-F238E27FC236}">
                <a16:creationId xmlns:a16="http://schemas.microsoft.com/office/drawing/2014/main" id="{F85C31F0-8A6D-48A1-8F48-DB2465281FD4}"/>
              </a:ext>
            </a:extLst>
          </p:cNvPr>
          <p:cNvSpPr>
            <a:spLocks xmlns:a="http://schemas.openxmlformats.org/drawingml/2006/main" noGrp="1"/>
          </p:cNvSpPr>
          <p:nvPr/>
        </p:nvSpPr>
        <p:spPr>
          <a:xfrm xmlns:a="http://schemas.openxmlformats.org/drawingml/2006/main">
            <a:off x="800100" y="4467225"/>
            <a:ext cx="214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5271E"/>
                </a:solidFill>
                <a:latin typeface="Arial"/>
                <a:ea typeface="Arial"/>
                <a:cs typeface="Arial"/>
              </a:defRPr>
            </a:defPPr>
          </a:lstStyle>
          <a:p xmlns:a="http://schemas.openxmlformats.org/drawingml/2006/main">
            <a:pPr algn="l">
              <a:defRPr sz="1875" b="1">
                <a:solidFill>
                  <a:srgbClr val="15271E"/>
                </a:solidFill>
                <a:latin typeface="Arial"/>
                <a:ea typeface="Arial"/>
                <a:cs typeface="Arial"/>
              </a:defRPr>
            </a:pPr>
            <a:r>
              <a:rPr sz="1875" b="1">
                <a:solidFill>
                  <a:srgbClr val="15271E"/>
                </a:solidFill>
                <a:latin typeface="Arial"/>
                <a:ea typeface="Arial"/>
                <a:cs typeface="Arial"/>
              </a:rPr>
              <a:t>2.25 hrs</a:t>
            </a:r>
          </a:p>
        </p:txBody>
      </p:sp>
      <p:sp>
        <p:nvSpPr>
          <p:cNvPr id="48" name="">
            <a:extLst xmlns:a="http://schemas.openxmlformats.org/drawingml/2006/main">
              <a:ext uri="{FF2B5EF4-FFF2-40B4-BE49-F238E27FC236}">
                <a16:creationId xmlns:a16="http://schemas.microsoft.com/office/drawing/2014/main" id="{933A78E3-88CA-4C23-B697-DB8449EBBF7D}"/>
              </a:ext>
            </a:extLst>
          </p:cNvPr>
          <p:cNvSpPr>
            <a:spLocks xmlns:a="http://schemas.openxmlformats.org/drawingml/2006/main" noGrp="1"/>
          </p:cNvSpPr>
          <p:nvPr/>
        </p:nvSpPr>
        <p:spPr>
          <a:xfrm xmlns:a="http://schemas.openxmlformats.org/drawingml/2006/main">
            <a:off x="800100" y="48291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6756B"/>
                </a:solidFill>
                <a:latin typeface="Arial"/>
                <a:ea typeface="Arial"/>
                <a:cs typeface="Arial"/>
              </a:defRPr>
            </a:defPPr>
          </a:lstStyle>
          <a:p xmlns:a="http://schemas.openxmlformats.org/drawingml/2006/main">
            <a:pPr algn="l">
              <a:defRPr sz="825" b="1">
                <a:solidFill>
                  <a:srgbClr val="66756B"/>
                </a:solidFill>
                <a:latin typeface="Arial"/>
                <a:ea typeface="Arial"/>
                <a:cs typeface="Arial"/>
              </a:defRPr>
            </a:pPr>
            <a:r>
              <a:rPr sz="825" b="1">
                <a:solidFill>
                  <a:srgbClr val="66756B"/>
                </a:solidFill>
                <a:latin typeface="Arial"/>
                <a:ea typeface="Arial"/>
                <a:cs typeface="Arial"/>
              </a:rPr>
              <a:t>MAE</a:t>
            </a:r>
          </a:p>
        </p:txBody>
      </p:sp>
      <p:sp>
        <p:nvSpPr>
          <p:cNvPr id="49" name="">
            <a:extLst xmlns:a="http://schemas.openxmlformats.org/drawingml/2006/main">
              <a:ext uri="{FF2B5EF4-FFF2-40B4-BE49-F238E27FC236}">
                <a16:creationId xmlns:a16="http://schemas.microsoft.com/office/drawing/2014/main" id="{4D328CAE-763F-409E-ADA9-9E6224D89190}"/>
              </a:ext>
            </a:extLst>
          </p:cNvPr>
          <p:cNvSpPr>
            <a:spLocks xmlns:a="http://schemas.openxmlformats.org/drawingml/2006/main" noGrp="1"/>
          </p:cNvSpPr>
          <p:nvPr/>
        </p:nvSpPr>
        <p:spPr>
          <a:xfrm xmlns:a="http://schemas.openxmlformats.org/drawingml/2006/main">
            <a:off x="2686050" y="457200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RMSE 3.55 hrs   ·   R² 0.38</a:t>
            </a:r>
          </a:p>
        </p:txBody>
      </p:sp>
      <p:sp>
        <p:nvSpPr>
          <p:cNvPr id="50" name="">
            <a:extLst xmlns:a="http://schemas.openxmlformats.org/drawingml/2006/main">
              <a:ext uri="{FF2B5EF4-FFF2-40B4-BE49-F238E27FC236}">
                <a16:creationId xmlns:a16="http://schemas.microsoft.com/office/drawing/2014/main" id="{A292E464-893D-4994-AA59-152E2C945728}"/>
              </a:ext>
            </a:extLst>
          </p:cNvPr>
          <p:cNvSpPr>
            <a:spLocks xmlns:a="http://schemas.openxmlformats.org/drawingml/2006/main" noGrp="1"/>
          </p:cNvSpPr>
          <p:nvPr/>
        </p:nvSpPr>
        <p:spPr>
          <a:xfrm xmlns:a="http://schemas.openxmlformats.org/drawingml/2006/main">
            <a:off x="800100" y="52292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2,210 test cases · closed requests only · target capped at 99th percentile</a:t>
            </a:r>
          </a:p>
        </p:txBody>
      </p:sp>
      <p:sp>
        <p:nvSpPr>
          <p:cNvPr id="51" name="">
            <a:extLst xmlns:a="http://schemas.openxmlformats.org/drawingml/2006/main">
              <a:ext uri="{FF2B5EF4-FFF2-40B4-BE49-F238E27FC236}">
                <a16:creationId xmlns:a16="http://schemas.microsoft.com/office/drawing/2014/main" id="{6392118D-A5E0-4AD5-B704-DE6F893F6ED3}"/>
              </a:ext>
            </a:extLst>
          </p:cNvPr>
          <p:cNvSpPr>
            <a:spLocks xmlns:a="http://schemas.openxmlformats.org/drawingml/2006/main" noGrp="1"/>
          </p:cNvSpPr>
          <p:nvPr/>
        </p:nvSpPr>
        <p:spPr>
          <a:xfrm xmlns:a="http://schemas.openxmlformats.org/drawingml/2006/main">
            <a:off x="6286500" y="52768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66756B"/>
                </a:solidFill>
                <a:latin typeface="Arial"/>
                <a:ea typeface="Arial"/>
                <a:cs typeface="Arial"/>
              </a:defRPr>
            </a:defPPr>
          </a:lstStyle>
          <a:p xmlns:a="http://schemas.openxmlformats.org/drawingml/2006/main">
            <a:pPr algn="l">
              <a:defRPr sz="825" b="1">
                <a:solidFill>
                  <a:srgbClr val="66756B"/>
                </a:solidFill>
                <a:latin typeface="Arial"/>
                <a:ea typeface="Arial"/>
                <a:cs typeface="Arial"/>
              </a:defRPr>
            </a:pPr>
            <a:r>
              <a:rPr sz="825" b="1">
                <a:solidFill>
                  <a:srgbClr val="66756B"/>
                </a:solidFill>
                <a:latin typeface="Arial"/>
                <a:ea typeface="Arial"/>
                <a:cs typeface="Arial"/>
              </a:rPr>
              <a:t>3-fold train CV F1 99.26% ± 0.08%  ·  calibration error 0.60 pp</a:t>
            </a:r>
          </a:p>
        </p:txBody>
      </p:sp>
    </p:spTree>
    <p:extLst>
      <p:ext uri="{BB962C8B-B14F-4D97-AF65-F5344CB8AC3E}">
        <p14:creationId xmlns:p14="http://schemas.microsoft.com/office/powerpoint/2010/main" val="36188923"/>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E193DA9-13B7-4E02-8142-80EC04FA2AC3}"/>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637E0A-FEB9-4D11-88BA-16A04D10F093}"/>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07  /  UNSUPERVISED LEARNING</a:t>
            </a:r>
          </a:p>
        </p:txBody>
      </p:sp>
      <p:sp>
        <p:nvSpPr>
          <p:cNvPr id="3" name="">
            <a:extLst xmlns:a="http://schemas.openxmlformats.org/drawingml/2006/main">
              <a:ext uri="{FF2B5EF4-FFF2-40B4-BE49-F238E27FC236}">
                <a16:creationId xmlns:a16="http://schemas.microsoft.com/office/drawing/2014/main" id="{F6BF50B2-8323-4859-8BE0-CC8E6CA034F2}"/>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Unlabeled structure and unusual cases</a:t>
            </a:r>
          </a:p>
        </p:txBody>
      </p:sp>
      <p:sp>
        <p:nvSpPr>
          <p:cNvPr id="4" name="">
            <a:extLst xmlns:a="http://schemas.openxmlformats.org/drawingml/2006/main">
              <a:ext uri="{FF2B5EF4-FFF2-40B4-BE49-F238E27FC236}">
                <a16:creationId xmlns:a16="http://schemas.microsoft.com/office/drawing/2014/main" id="{B474B61C-BCDA-4267-879E-DA0AD5BDEF04}"/>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BC5D40-5A7C-4F85-837A-66E4717C1EE9}"/>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88983033-159C-40A0-8FC0-3B8069E81776}"/>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6F4A6D33-A0CC-4894-987C-6C727631D75B}"/>
              </a:ext>
            </a:extLst>
          </p:cNvPr>
          <p:cNvSpPr>
            <a:spLocks xmlns:a="http://schemas.openxmlformats.org/drawingml/2006/main" noGrp="1"/>
          </p:cNvSpPr>
          <p:nvPr/>
        </p:nvSpPr>
        <p:spPr>
          <a:xfrm xmlns:a="http://schemas.openxmlformats.org/drawingml/2006/main">
            <a:off x="590550" y="15430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6B"/>
                </a:solidFill>
                <a:latin typeface="Arial"/>
                <a:ea typeface="Arial"/>
                <a:cs typeface="Arial"/>
              </a:defRPr>
            </a:defPPr>
          </a:lstStyle>
          <a:p xmlns:a="http://schemas.openxmlformats.org/drawingml/2006/main">
            <a:pPr algn="l">
              <a:defRPr sz="1275" b="0">
                <a:solidFill>
                  <a:srgbClr val="66756B"/>
                </a:solidFill>
                <a:latin typeface="Arial"/>
                <a:ea typeface="Arial"/>
                <a:cs typeface="Arial"/>
              </a:defRPr>
            </a:pPr>
            <a:r>
              <a:rPr sz="1275" b="0">
                <a:solidFill>
                  <a:srgbClr val="66756B"/>
                </a:solidFill>
                <a:latin typeface="Arial"/>
                <a:ea typeface="Arial"/>
                <a:cs typeface="Arial"/>
              </a:rPr>
              <a:t>Unsupervised methods explore patterns without using the agency label.</a:t>
            </a:r>
          </a:p>
        </p:txBody>
      </p:sp>
      <p:sp>
        <p:nvSpPr>
          <p:cNvPr id="8" name="">
            <a:extLst xmlns:a="http://schemas.openxmlformats.org/drawingml/2006/main">
              <a:ext uri="{FF2B5EF4-FFF2-40B4-BE49-F238E27FC236}">
                <a16:creationId xmlns:a16="http://schemas.microsoft.com/office/drawing/2014/main" id="{E9446AC7-CB08-4CC0-9155-ABF45EA7AE74}"/>
              </a:ext>
            </a:extLst>
          </p:cNvPr>
          <p:cNvSpPr>
            <a:spLocks xmlns:a="http://schemas.openxmlformats.org/drawingml/2006/main" noGrp="1"/>
          </p:cNvSpPr>
          <p:nvPr/>
        </p:nvSpPr>
        <p:spPr>
          <a:xfrm xmlns:a="http://schemas.openxmlformats.org/drawingml/2006/main">
            <a:off x="590550" y="2200275"/>
            <a:ext cx="50673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3C60C24-5842-4870-B963-33A6AD6713C1}"/>
              </a:ext>
            </a:extLst>
          </p:cNvPr>
          <p:cNvSpPr>
            <a:spLocks xmlns:a="http://schemas.openxmlformats.org/drawingml/2006/main" noGrp="1"/>
          </p:cNvSpPr>
          <p:nvPr/>
        </p:nvSpPr>
        <p:spPr>
          <a:xfrm xmlns:a="http://schemas.openxmlformats.org/drawingml/2006/main">
            <a:off x="590550" y="2343150"/>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K-MEANS</a:t>
            </a:r>
          </a:p>
        </p:txBody>
      </p:sp>
      <p:sp>
        <p:nvSpPr>
          <p:cNvPr id="10" name="">
            <a:extLst xmlns:a="http://schemas.openxmlformats.org/drawingml/2006/main">
              <a:ext uri="{FF2B5EF4-FFF2-40B4-BE49-F238E27FC236}">
                <a16:creationId xmlns:a16="http://schemas.microsoft.com/office/drawing/2014/main" id="{9F290FE5-49B2-4E2B-BEF6-DDFFC4EF2001}"/>
              </a:ext>
            </a:extLst>
          </p:cNvPr>
          <p:cNvSpPr>
            <a:spLocks xmlns:a="http://schemas.openxmlformats.org/drawingml/2006/main" noGrp="1"/>
          </p:cNvSpPr>
          <p:nvPr/>
        </p:nvSpPr>
        <p:spPr>
          <a:xfrm xmlns:a="http://schemas.openxmlformats.org/drawingml/2006/main">
            <a:off x="590550" y="264795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5</a:t>
            </a:r>
          </a:p>
        </p:txBody>
      </p:sp>
      <p:sp>
        <p:nvSpPr>
          <p:cNvPr id="11" name="">
            <a:extLst xmlns:a="http://schemas.openxmlformats.org/drawingml/2006/main">
              <a:ext uri="{FF2B5EF4-FFF2-40B4-BE49-F238E27FC236}">
                <a16:creationId xmlns:a16="http://schemas.microsoft.com/office/drawing/2014/main" id="{37AD64C8-FB49-4C08-B03E-FC80B79AF4F2}"/>
              </a:ext>
            </a:extLst>
          </p:cNvPr>
          <p:cNvSpPr>
            <a:spLocks xmlns:a="http://schemas.openxmlformats.org/drawingml/2006/main" noGrp="1"/>
          </p:cNvSpPr>
          <p:nvPr/>
        </p:nvSpPr>
        <p:spPr>
          <a:xfrm xmlns:a="http://schemas.openxmlformats.org/drawingml/2006/main">
            <a:off x="1552575" y="2781300"/>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6756B"/>
                </a:solidFill>
                <a:latin typeface="Arial"/>
                <a:ea typeface="Arial"/>
                <a:cs typeface="Arial"/>
              </a:defRPr>
            </a:defPPr>
          </a:lstStyle>
          <a:p xmlns:a="http://schemas.openxmlformats.org/drawingml/2006/main">
            <a:pPr algn="l">
              <a:defRPr sz="975" b="1">
                <a:solidFill>
                  <a:srgbClr val="66756B"/>
                </a:solidFill>
                <a:latin typeface="Arial"/>
                <a:ea typeface="Arial"/>
                <a:cs typeface="Arial"/>
              </a:defRPr>
            </a:pPr>
            <a:r>
              <a:rPr sz="975" b="1">
                <a:solidFill>
                  <a:srgbClr val="66756B"/>
                </a:solidFill>
                <a:latin typeface="Arial"/>
                <a:ea typeface="Arial"/>
                <a:cs typeface="Arial"/>
              </a:rPr>
              <a:t>clusters</a:t>
            </a:r>
          </a:p>
        </p:txBody>
      </p:sp>
      <p:sp>
        <p:nvSpPr>
          <p:cNvPr id="12" name="">
            <a:extLst xmlns:a="http://schemas.openxmlformats.org/drawingml/2006/main">
              <a:ext uri="{FF2B5EF4-FFF2-40B4-BE49-F238E27FC236}">
                <a16:creationId xmlns:a16="http://schemas.microsoft.com/office/drawing/2014/main" id="{14832B18-8EFA-4D46-BA13-F55D65A9DE4F}"/>
              </a:ext>
            </a:extLst>
          </p:cNvPr>
          <p:cNvSpPr>
            <a:spLocks xmlns:a="http://schemas.openxmlformats.org/drawingml/2006/main" noGrp="1"/>
          </p:cNvSpPr>
          <p:nvPr/>
        </p:nvSpPr>
        <p:spPr>
          <a:xfrm xmlns:a="http://schemas.openxmlformats.org/drawingml/2006/main">
            <a:off x="2895600" y="271462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Silhouette 0.483 on 4,000 sampled requests</a:t>
            </a:r>
          </a:p>
        </p:txBody>
      </p:sp>
      <p:sp>
        <p:nvSpPr>
          <p:cNvPr id="13" name="">
            <a:extLst xmlns:a="http://schemas.openxmlformats.org/drawingml/2006/main">
              <a:ext uri="{FF2B5EF4-FFF2-40B4-BE49-F238E27FC236}">
                <a16:creationId xmlns:a16="http://schemas.microsoft.com/office/drawing/2014/main" id="{8D72F067-30F8-43CB-8A26-FE1152F70D88}"/>
              </a:ext>
            </a:extLst>
          </p:cNvPr>
          <p:cNvSpPr>
            <a:spLocks xmlns:a="http://schemas.openxmlformats.org/drawingml/2006/main" noGrp="1"/>
          </p:cNvSpPr>
          <p:nvPr/>
        </p:nvSpPr>
        <p:spPr>
          <a:xfrm xmlns:a="http://schemas.openxmlformats.org/drawingml/2006/main">
            <a:off x="6096000" y="2200275"/>
            <a:ext cx="50673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3E600A-470E-4A06-8A67-188267D5230F}"/>
              </a:ext>
            </a:extLst>
          </p:cNvPr>
          <p:cNvSpPr>
            <a:spLocks xmlns:a="http://schemas.openxmlformats.org/drawingml/2006/main" noGrp="1"/>
          </p:cNvSpPr>
          <p:nvPr/>
        </p:nvSpPr>
        <p:spPr>
          <a:xfrm xmlns:a="http://schemas.openxmlformats.org/drawingml/2006/main">
            <a:off x="6096000" y="2343150"/>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HIERARCHICAL</a:t>
            </a:r>
          </a:p>
        </p:txBody>
      </p:sp>
      <p:sp>
        <p:nvSpPr>
          <p:cNvPr id="15" name="">
            <a:extLst xmlns:a="http://schemas.openxmlformats.org/drawingml/2006/main">
              <a:ext uri="{FF2B5EF4-FFF2-40B4-BE49-F238E27FC236}">
                <a16:creationId xmlns:a16="http://schemas.microsoft.com/office/drawing/2014/main" id="{21E9F905-5430-4A31-AC9B-103236594FAD}"/>
              </a:ext>
            </a:extLst>
          </p:cNvPr>
          <p:cNvSpPr>
            <a:spLocks xmlns:a="http://schemas.openxmlformats.org/drawingml/2006/main" noGrp="1"/>
          </p:cNvSpPr>
          <p:nvPr/>
        </p:nvSpPr>
        <p:spPr>
          <a:xfrm xmlns:a="http://schemas.openxmlformats.org/drawingml/2006/main">
            <a:off x="6096000" y="264795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744E965D-100B-49ED-8FAB-2A4248EE5E71}"/>
              </a:ext>
            </a:extLst>
          </p:cNvPr>
          <p:cNvSpPr>
            <a:spLocks xmlns:a="http://schemas.openxmlformats.org/drawingml/2006/main" noGrp="1"/>
          </p:cNvSpPr>
          <p:nvPr/>
        </p:nvSpPr>
        <p:spPr>
          <a:xfrm xmlns:a="http://schemas.openxmlformats.org/drawingml/2006/main">
            <a:off x="7058025" y="2781300"/>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6756B"/>
                </a:solidFill>
                <a:latin typeface="Arial"/>
                <a:ea typeface="Arial"/>
                <a:cs typeface="Arial"/>
              </a:defRPr>
            </a:defPPr>
          </a:lstStyle>
          <a:p xmlns:a="http://schemas.openxmlformats.org/drawingml/2006/main">
            <a:pPr algn="l">
              <a:defRPr sz="975" b="1">
                <a:solidFill>
                  <a:srgbClr val="66756B"/>
                </a:solidFill>
                <a:latin typeface="Arial"/>
                <a:ea typeface="Arial"/>
                <a:cs typeface="Arial"/>
              </a:defRPr>
            </a:pPr>
            <a:r>
              <a:rPr sz="975" b="1">
                <a:solidFill>
                  <a:srgbClr val="66756B"/>
                </a:solidFill>
                <a:latin typeface="Arial"/>
                <a:ea typeface="Arial"/>
                <a:cs typeface="Arial"/>
              </a:rPr>
              <a:t>groups</a:t>
            </a:r>
          </a:p>
        </p:txBody>
      </p:sp>
      <p:sp>
        <p:nvSpPr>
          <p:cNvPr id="17" name="">
            <a:extLst xmlns:a="http://schemas.openxmlformats.org/drawingml/2006/main">
              <a:ext uri="{FF2B5EF4-FFF2-40B4-BE49-F238E27FC236}">
                <a16:creationId xmlns:a16="http://schemas.microsoft.com/office/drawing/2014/main" id="{12AF0AC6-612E-43EB-8116-F9F401B9A4C8}"/>
              </a:ext>
            </a:extLst>
          </p:cNvPr>
          <p:cNvSpPr>
            <a:spLocks xmlns:a="http://schemas.openxmlformats.org/drawingml/2006/main" noGrp="1"/>
          </p:cNvSpPr>
          <p:nvPr/>
        </p:nvSpPr>
        <p:spPr>
          <a:xfrm xmlns:a="http://schemas.openxmlformats.org/drawingml/2006/main">
            <a:off x="8401050" y="271462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2,000-request sample · Ward linkage</a:t>
            </a:r>
          </a:p>
        </p:txBody>
      </p:sp>
      <p:sp>
        <p:nvSpPr>
          <p:cNvPr id="18" name="">
            <a:extLst xmlns:a="http://schemas.openxmlformats.org/drawingml/2006/main">
              <a:ext uri="{FF2B5EF4-FFF2-40B4-BE49-F238E27FC236}">
                <a16:creationId xmlns:a16="http://schemas.microsoft.com/office/drawing/2014/main" id="{96BB6643-F3B5-4338-8A6A-42B7DB215971}"/>
              </a:ext>
            </a:extLst>
          </p:cNvPr>
          <p:cNvSpPr>
            <a:spLocks xmlns:a="http://schemas.openxmlformats.org/drawingml/2006/main" noGrp="1"/>
          </p:cNvSpPr>
          <p:nvPr/>
        </p:nvSpPr>
        <p:spPr>
          <a:xfrm xmlns:a="http://schemas.openxmlformats.org/drawingml/2006/main">
            <a:off x="590550" y="3629025"/>
            <a:ext cx="50673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F7EEF9E-CF0B-4F1A-B188-D4FB1E33676D}"/>
              </a:ext>
            </a:extLst>
          </p:cNvPr>
          <p:cNvSpPr>
            <a:spLocks xmlns:a="http://schemas.openxmlformats.org/drawingml/2006/main" noGrp="1"/>
          </p:cNvSpPr>
          <p:nvPr/>
        </p:nvSpPr>
        <p:spPr>
          <a:xfrm xmlns:a="http://schemas.openxmlformats.org/drawingml/2006/main">
            <a:off x="590550" y="3771900"/>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DBSCAN</a:t>
            </a:r>
          </a:p>
        </p:txBody>
      </p:sp>
      <p:sp>
        <p:nvSpPr>
          <p:cNvPr id="20" name="">
            <a:extLst xmlns:a="http://schemas.openxmlformats.org/drawingml/2006/main">
              <a:ext uri="{FF2B5EF4-FFF2-40B4-BE49-F238E27FC236}">
                <a16:creationId xmlns:a16="http://schemas.microsoft.com/office/drawing/2014/main" id="{62B651B2-5628-4392-879D-9935A1DE80C9}"/>
              </a:ext>
            </a:extLst>
          </p:cNvPr>
          <p:cNvSpPr>
            <a:spLocks xmlns:a="http://schemas.openxmlformats.org/drawingml/2006/main" noGrp="1"/>
          </p:cNvSpPr>
          <p:nvPr/>
        </p:nvSpPr>
        <p:spPr>
          <a:xfrm xmlns:a="http://schemas.openxmlformats.org/drawingml/2006/main">
            <a:off x="590550" y="407670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21</a:t>
            </a:r>
          </a:p>
        </p:txBody>
      </p:sp>
      <p:sp>
        <p:nvSpPr>
          <p:cNvPr id="21" name="">
            <a:extLst xmlns:a="http://schemas.openxmlformats.org/drawingml/2006/main">
              <a:ext uri="{FF2B5EF4-FFF2-40B4-BE49-F238E27FC236}">
                <a16:creationId xmlns:a16="http://schemas.microsoft.com/office/drawing/2014/main" id="{C86379CB-6DC9-4C13-8A87-14226642CAF6}"/>
              </a:ext>
            </a:extLst>
          </p:cNvPr>
          <p:cNvSpPr>
            <a:spLocks xmlns:a="http://schemas.openxmlformats.org/drawingml/2006/main" noGrp="1"/>
          </p:cNvSpPr>
          <p:nvPr/>
        </p:nvSpPr>
        <p:spPr>
          <a:xfrm xmlns:a="http://schemas.openxmlformats.org/drawingml/2006/main">
            <a:off x="1552575" y="4210050"/>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6756B"/>
                </a:solidFill>
                <a:latin typeface="Arial"/>
                <a:ea typeface="Arial"/>
                <a:cs typeface="Arial"/>
              </a:defRPr>
            </a:defPPr>
          </a:lstStyle>
          <a:p xmlns:a="http://schemas.openxmlformats.org/drawingml/2006/main">
            <a:pPr algn="l">
              <a:defRPr sz="975" b="1">
                <a:solidFill>
                  <a:srgbClr val="66756B"/>
                </a:solidFill>
                <a:latin typeface="Arial"/>
                <a:ea typeface="Arial"/>
                <a:cs typeface="Arial"/>
              </a:defRPr>
            </a:pPr>
            <a:r>
              <a:rPr sz="975" b="1">
                <a:solidFill>
                  <a:srgbClr val="66756B"/>
                </a:solidFill>
                <a:latin typeface="Arial"/>
                <a:ea typeface="Arial"/>
                <a:cs typeface="Arial"/>
              </a:rPr>
              <a:t>clusters</a:t>
            </a:r>
          </a:p>
        </p:txBody>
      </p:sp>
      <p:sp>
        <p:nvSpPr>
          <p:cNvPr id="22" name="">
            <a:extLst xmlns:a="http://schemas.openxmlformats.org/drawingml/2006/main">
              <a:ext uri="{FF2B5EF4-FFF2-40B4-BE49-F238E27FC236}">
                <a16:creationId xmlns:a16="http://schemas.microsoft.com/office/drawing/2014/main" id="{3F2BAA0A-E990-48B0-A52C-0883CC16D25A}"/>
              </a:ext>
            </a:extLst>
          </p:cNvPr>
          <p:cNvSpPr>
            <a:spLocks xmlns:a="http://schemas.openxmlformats.org/drawingml/2006/main" noGrp="1"/>
          </p:cNvSpPr>
          <p:nvPr/>
        </p:nvSpPr>
        <p:spPr>
          <a:xfrm xmlns:a="http://schemas.openxmlformats.org/drawingml/2006/main">
            <a:off x="2895600" y="41433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85 noise points in 2,000 cases</a:t>
            </a:r>
          </a:p>
        </p:txBody>
      </p:sp>
      <p:sp>
        <p:nvSpPr>
          <p:cNvPr id="23" name="">
            <a:extLst xmlns:a="http://schemas.openxmlformats.org/drawingml/2006/main">
              <a:ext uri="{FF2B5EF4-FFF2-40B4-BE49-F238E27FC236}">
                <a16:creationId xmlns:a16="http://schemas.microsoft.com/office/drawing/2014/main" id="{E9ED14E9-1721-45C5-BB73-5D664D4A0596}"/>
              </a:ext>
            </a:extLst>
          </p:cNvPr>
          <p:cNvSpPr>
            <a:spLocks xmlns:a="http://schemas.openxmlformats.org/drawingml/2006/main" noGrp="1"/>
          </p:cNvSpPr>
          <p:nvPr/>
        </p:nvSpPr>
        <p:spPr>
          <a:xfrm xmlns:a="http://schemas.openxmlformats.org/drawingml/2006/main">
            <a:off x="6096000" y="3629025"/>
            <a:ext cx="50673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C23A01D-B0A0-430B-AE6C-56F9C5DA1EA4}"/>
              </a:ext>
            </a:extLst>
          </p:cNvPr>
          <p:cNvSpPr>
            <a:spLocks xmlns:a="http://schemas.openxmlformats.org/drawingml/2006/main" noGrp="1"/>
          </p:cNvSpPr>
          <p:nvPr/>
        </p:nvSpPr>
        <p:spPr>
          <a:xfrm xmlns:a="http://schemas.openxmlformats.org/drawingml/2006/main">
            <a:off x="6096000" y="3771900"/>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ISOLATION FOREST</a:t>
            </a:r>
          </a:p>
        </p:txBody>
      </p:sp>
      <p:sp>
        <p:nvSpPr>
          <p:cNvPr id="25" name="">
            <a:extLst xmlns:a="http://schemas.openxmlformats.org/drawingml/2006/main">
              <a:ext uri="{FF2B5EF4-FFF2-40B4-BE49-F238E27FC236}">
                <a16:creationId xmlns:a16="http://schemas.microsoft.com/office/drawing/2014/main" id="{6EA0C9CC-095C-4A08-A1C3-1757A1A7644F}"/>
              </a:ext>
            </a:extLst>
          </p:cNvPr>
          <p:cNvSpPr>
            <a:spLocks xmlns:a="http://schemas.openxmlformats.org/drawingml/2006/main" noGrp="1"/>
          </p:cNvSpPr>
          <p:nvPr/>
        </p:nvSpPr>
        <p:spPr>
          <a:xfrm xmlns:a="http://schemas.openxmlformats.org/drawingml/2006/main">
            <a:off x="6096000" y="407670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239</a:t>
            </a:r>
          </a:p>
        </p:txBody>
      </p:sp>
      <p:sp>
        <p:nvSpPr>
          <p:cNvPr id="26" name="">
            <a:extLst xmlns:a="http://schemas.openxmlformats.org/drawingml/2006/main">
              <a:ext uri="{FF2B5EF4-FFF2-40B4-BE49-F238E27FC236}">
                <a16:creationId xmlns:a16="http://schemas.microsoft.com/office/drawing/2014/main" id="{DC1E1845-2392-4D5C-95FB-C1FD092E7494}"/>
              </a:ext>
            </a:extLst>
          </p:cNvPr>
          <p:cNvSpPr>
            <a:spLocks xmlns:a="http://schemas.openxmlformats.org/drawingml/2006/main" noGrp="1"/>
          </p:cNvSpPr>
          <p:nvPr/>
        </p:nvSpPr>
        <p:spPr>
          <a:xfrm xmlns:a="http://schemas.openxmlformats.org/drawingml/2006/main">
            <a:off x="7058025" y="4210050"/>
            <a:ext cx="1190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6756B"/>
                </a:solidFill>
                <a:latin typeface="Arial"/>
                <a:ea typeface="Arial"/>
                <a:cs typeface="Arial"/>
              </a:defRPr>
            </a:defPPr>
          </a:lstStyle>
          <a:p xmlns:a="http://schemas.openxmlformats.org/drawingml/2006/main">
            <a:pPr algn="l">
              <a:defRPr sz="975" b="1">
                <a:solidFill>
                  <a:srgbClr val="66756B"/>
                </a:solidFill>
                <a:latin typeface="Arial"/>
                <a:ea typeface="Arial"/>
                <a:cs typeface="Arial"/>
              </a:defRPr>
            </a:pPr>
            <a:r>
              <a:rPr sz="975" b="1">
                <a:solidFill>
                  <a:srgbClr val="66756B"/>
                </a:solidFill>
                <a:latin typeface="Arial"/>
                <a:ea typeface="Arial"/>
                <a:cs typeface="Arial"/>
              </a:rPr>
              <a:t>outliers</a:t>
            </a:r>
          </a:p>
        </p:txBody>
      </p:sp>
      <p:sp>
        <p:nvSpPr>
          <p:cNvPr id="27" name="">
            <a:extLst xmlns:a="http://schemas.openxmlformats.org/drawingml/2006/main">
              <a:ext uri="{FF2B5EF4-FFF2-40B4-BE49-F238E27FC236}">
                <a16:creationId xmlns:a16="http://schemas.microsoft.com/office/drawing/2014/main" id="{D1906AA5-32FD-46A9-A281-B81CBD4012DE}"/>
              </a:ext>
            </a:extLst>
          </p:cNvPr>
          <p:cNvSpPr>
            <a:spLocks xmlns:a="http://schemas.openxmlformats.org/drawingml/2006/main" noGrp="1"/>
          </p:cNvSpPr>
          <p:nvPr/>
        </p:nvSpPr>
        <p:spPr>
          <a:xfrm xmlns:a="http://schemas.openxmlformats.org/drawingml/2006/main">
            <a:off x="8401050" y="4143375"/>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Flagged from 4,000 sampled requests</a:t>
            </a:r>
          </a:p>
        </p:txBody>
      </p:sp>
      <p:sp>
        <p:nvSpPr>
          <p:cNvPr id="28" name="">
            <a:extLst xmlns:a="http://schemas.openxmlformats.org/drawingml/2006/main">
              <a:ext uri="{FF2B5EF4-FFF2-40B4-BE49-F238E27FC236}">
                <a16:creationId xmlns:a16="http://schemas.microsoft.com/office/drawing/2014/main" id="{793E74CB-42E1-44C6-8AB3-FE2383904F15}"/>
              </a:ext>
            </a:extLst>
          </p:cNvPr>
          <p:cNvSpPr>
            <a:spLocks xmlns:a="http://schemas.openxmlformats.org/drawingml/2006/main" noGrp="1"/>
          </p:cNvSpPr>
          <p:nvPr/>
        </p:nvSpPr>
        <p:spPr>
          <a:xfrm xmlns:a="http://schemas.openxmlformats.org/drawingml/2006/main">
            <a:off x="590550" y="5267325"/>
            <a:ext cx="11010900" cy="723900"/>
          </a:xfrm>
          <a:prstGeom xmlns:a="http://schemas.openxmlformats.org/drawingml/2006/main" prst="roundRect">
            <a:avLst>
              <a:gd name="adj" fmla="val 13158"/>
            </a:avLst>
          </a:prstGeom>
          <a:solidFill xmlns:a="http://schemas.openxmlformats.org/drawingml/2006/main">
            <a:srgbClr val="E8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D48B715-79E4-4692-9AA4-9E5D899BCA27}"/>
              </a:ext>
            </a:extLst>
          </p:cNvPr>
          <p:cNvSpPr>
            <a:spLocks xmlns:a="http://schemas.openxmlformats.org/drawingml/2006/main" noGrp="1"/>
          </p:cNvSpPr>
          <p:nvPr/>
        </p:nvSpPr>
        <p:spPr>
          <a:xfrm xmlns:a="http://schemas.openxmlformats.org/drawingml/2006/main">
            <a:off x="781050" y="5419725"/>
            <a:ext cx="2524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597FA6"/>
                </a:solidFill>
                <a:latin typeface="Arial"/>
                <a:ea typeface="Arial"/>
                <a:cs typeface="Arial"/>
              </a:defRPr>
            </a:defPPr>
          </a:lstStyle>
          <a:p xmlns:a="http://schemas.openxmlformats.org/drawingml/2006/main">
            <a:pPr algn="l">
              <a:defRPr sz="750" b="1">
                <a:solidFill>
                  <a:srgbClr val="597FA6"/>
                </a:solidFill>
                <a:latin typeface="Arial"/>
                <a:ea typeface="Arial"/>
                <a:cs typeface="Arial"/>
              </a:defRPr>
            </a:pPr>
            <a:r>
              <a:rPr sz="750" b="1">
                <a:solidFill>
                  <a:srgbClr val="597FA6"/>
                </a:solidFill>
                <a:latin typeface="Arial"/>
                <a:ea typeface="Arial"/>
                <a:cs typeface="Arial"/>
              </a:rPr>
              <a:t>DIMENSIONALITY REDUCTION</a:t>
            </a:r>
          </a:p>
        </p:txBody>
      </p:sp>
      <p:sp>
        <p:nvSpPr>
          <p:cNvPr id="30" name="">
            <a:extLst xmlns:a="http://schemas.openxmlformats.org/drawingml/2006/main">
              <a:ext uri="{FF2B5EF4-FFF2-40B4-BE49-F238E27FC236}">
                <a16:creationId xmlns:a16="http://schemas.microsoft.com/office/drawing/2014/main" id="{7471E4E2-3071-4E3E-9C7A-C1D9D59816BC}"/>
              </a:ext>
            </a:extLst>
          </p:cNvPr>
          <p:cNvSpPr>
            <a:spLocks xmlns:a="http://schemas.openxmlformats.org/drawingml/2006/main" noGrp="1"/>
          </p:cNvSpPr>
          <p:nvPr/>
        </p:nvSpPr>
        <p:spPr>
          <a:xfrm xmlns:a="http://schemas.openxmlformats.org/drawingml/2006/main">
            <a:off x="781050" y="5657850"/>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5271E"/>
                </a:solidFill>
                <a:latin typeface="Arial"/>
                <a:ea typeface="Arial"/>
                <a:cs typeface="Arial"/>
              </a:defRPr>
            </a:defPPr>
          </a:lstStyle>
          <a:p xmlns:a="http://schemas.openxmlformats.org/drawingml/2006/main">
            <a:pPr algn="l">
              <a:defRPr sz="1050" b="1">
                <a:solidFill>
                  <a:srgbClr val="15271E"/>
                </a:solidFill>
                <a:latin typeface="Arial"/>
                <a:ea typeface="Arial"/>
                <a:cs typeface="Arial"/>
              </a:defRPr>
            </a:pPr>
            <a:r>
              <a:rPr sz="1050" b="1">
                <a:solidFill>
                  <a:srgbClr val="15271E"/>
                </a:solidFill>
                <a:latin typeface="Arial"/>
                <a:ea typeface="Arial"/>
                <a:cs typeface="Arial"/>
              </a:rPr>
              <a:t>PCA 2D explains 41.2% of variance  ·  t-SNE projected 1,000 cases</a:t>
            </a:r>
          </a:p>
        </p:txBody>
      </p:sp>
      <p:sp>
        <p:nvSpPr>
          <p:cNvPr id="31" name="">
            <a:extLst xmlns:a="http://schemas.openxmlformats.org/drawingml/2006/main">
              <a:ext uri="{FF2B5EF4-FFF2-40B4-BE49-F238E27FC236}">
                <a16:creationId xmlns:a16="http://schemas.microsoft.com/office/drawing/2014/main" id="{3683624A-8662-42D3-AAB2-3F4E8184EBCF}"/>
              </a:ext>
            </a:extLst>
          </p:cNvPr>
          <p:cNvSpPr>
            <a:spLocks xmlns:a="http://schemas.openxmlformats.org/drawingml/2006/main" noGrp="1"/>
          </p:cNvSpPr>
          <p:nvPr/>
        </p:nvSpPr>
        <p:spPr>
          <a:xfrm xmlns:a="http://schemas.openxmlformats.org/drawingml/2006/main">
            <a:off x="781050" y="5886450"/>
            <a:ext cx="1028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UMAP is supported as an optional package; it was not installed in this run.</a:t>
            </a:r>
          </a:p>
        </p:txBody>
      </p:sp>
    </p:spTree>
    <p:extLst>
      <p:ext uri="{BB962C8B-B14F-4D97-AF65-F5344CB8AC3E}">
        <p14:creationId xmlns:p14="http://schemas.microsoft.com/office/powerpoint/2010/main" val="115713264"/>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41F8A35-2559-4F05-A9E9-CD63B0C1BD2C}"/>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652ABC-6464-4EB2-B323-A2E927414824}"/>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08  /  APPLICATION EXPERIENCE</a:t>
            </a:r>
          </a:p>
        </p:txBody>
      </p:sp>
      <p:sp>
        <p:nvSpPr>
          <p:cNvPr id="3" name="">
            <a:extLst xmlns:a="http://schemas.openxmlformats.org/drawingml/2006/main">
              <a:ext uri="{FF2B5EF4-FFF2-40B4-BE49-F238E27FC236}">
                <a16:creationId xmlns:a16="http://schemas.microsoft.com/office/drawing/2014/main" id="{CB786DBC-DD77-4FD6-BFD7-F98872F120D9}"/>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A clear path from request to recommendation</a:t>
            </a:r>
          </a:p>
        </p:txBody>
      </p:sp>
      <p:sp>
        <p:nvSpPr>
          <p:cNvPr id="4" name="">
            <a:extLst xmlns:a="http://schemas.openxmlformats.org/drawingml/2006/main">
              <a:ext uri="{FF2B5EF4-FFF2-40B4-BE49-F238E27FC236}">
                <a16:creationId xmlns:a16="http://schemas.microsoft.com/office/drawing/2014/main" id="{0BBF170C-5DBB-4AC5-947E-12A166D8CC05}"/>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74F245-394F-46DE-A928-58812BFDFBDA}"/>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04E50FEF-D8DC-4827-9099-1DD1AB29E080}"/>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E9DEE94E-A6F7-43DA-8C4F-D295500EA6FE}"/>
              </a:ext>
            </a:extLst>
          </p:cNvPr>
          <p:cNvSpPr>
            <a:spLocks xmlns:a="http://schemas.openxmlformats.org/drawingml/2006/main" noGrp="1"/>
          </p:cNvSpPr>
          <p:nvPr/>
        </p:nvSpPr>
        <p:spPr>
          <a:xfrm xmlns:a="http://schemas.openxmlformats.org/drawingml/2006/main">
            <a:off x="590550" y="1543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6B"/>
                </a:solidFill>
                <a:latin typeface="Arial"/>
                <a:ea typeface="Arial"/>
                <a:cs typeface="Arial"/>
              </a:defRPr>
            </a:defPPr>
          </a:lstStyle>
          <a:p xmlns:a="http://schemas.openxmlformats.org/drawingml/2006/main">
            <a:pPr algn="l">
              <a:defRPr sz="1275" b="0">
                <a:solidFill>
                  <a:srgbClr val="66756B"/>
                </a:solidFill>
                <a:latin typeface="Arial"/>
                <a:ea typeface="Arial"/>
                <a:cs typeface="Arial"/>
              </a:defRPr>
            </a:pPr>
            <a:r>
              <a:rPr sz="1275" b="0">
                <a:solidFill>
                  <a:srgbClr val="66756B"/>
                </a:solidFill>
                <a:latin typeface="Arial"/>
                <a:ea typeface="Arial"/>
                <a:cs typeface="Arial"/>
              </a:rPr>
              <a:t>The Flask app turns analysis into a usable workflow while keeping the model decision visible.</a:t>
            </a:r>
          </a:p>
        </p:txBody>
      </p:sp>
      <p:sp>
        <p:nvSpPr>
          <p:cNvPr id="8" name="">
            <a:extLst xmlns:a="http://schemas.openxmlformats.org/drawingml/2006/main">
              <a:ext uri="{FF2B5EF4-FFF2-40B4-BE49-F238E27FC236}">
                <a16:creationId xmlns:a16="http://schemas.microsoft.com/office/drawing/2014/main" id="{993DCEFB-EA26-46B4-AE32-B47F8ACC2902}"/>
              </a:ext>
            </a:extLst>
          </p:cNvPr>
          <p:cNvSpPr>
            <a:spLocks xmlns:a="http://schemas.openxmlformats.org/drawingml/2006/main" noGrp="1"/>
          </p:cNvSpPr>
          <p:nvPr/>
        </p:nvSpPr>
        <p:spPr>
          <a:xfrm xmlns:a="http://schemas.openxmlformats.org/drawingml/2006/main">
            <a:off x="2714625" y="2933700"/>
            <a:ext cx="514350" cy="19050"/>
          </a:xfrm>
          <a:prstGeom xmlns:a="http://schemas.openxmlformats.org/drawingml/2006/main" prst="rect">
            <a:avLst/>
          </a:prstGeom>
          <a:solidFill xmlns:a="http://schemas.openxmlformats.org/drawingml/2006/main">
            <a:srgbClr val="D4E5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FFBEE9-E8CE-434D-86B3-A61CC44451B6}"/>
              </a:ext>
            </a:extLst>
          </p:cNvPr>
          <p:cNvSpPr>
            <a:spLocks xmlns:a="http://schemas.openxmlformats.org/drawingml/2006/main" noGrp="1"/>
          </p:cNvSpPr>
          <p:nvPr/>
        </p:nvSpPr>
        <p:spPr>
          <a:xfrm xmlns:a="http://schemas.openxmlformats.org/drawingml/2006/main">
            <a:off x="590550" y="2352675"/>
            <a:ext cx="2076450" cy="1952625"/>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DEE5DE"/>
            </a:solidFill>
            <a:prstDash val="solid"/>
          </a:ln>
        </p:spPr>
      </p:sp>
      <p:sp>
        <p:nvSpPr>
          <p:cNvPr id="10" name="">
            <a:extLst xmlns:a="http://schemas.openxmlformats.org/drawingml/2006/main">
              <a:ext uri="{FF2B5EF4-FFF2-40B4-BE49-F238E27FC236}">
                <a16:creationId xmlns:a16="http://schemas.microsoft.com/office/drawing/2014/main" id="{CA5011BD-9D39-46E4-8041-6521589ADF47}"/>
              </a:ext>
            </a:extLst>
          </p:cNvPr>
          <p:cNvSpPr>
            <a:spLocks xmlns:a="http://schemas.openxmlformats.org/drawingml/2006/main" noGrp="1"/>
          </p:cNvSpPr>
          <p:nvPr/>
        </p:nvSpPr>
        <p:spPr>
          <a:xfrm xmlns:a="http://schemas.openxmlformats.org/drawingml/2006/main">
            <a:off x="771525" y="2533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6B4F"/>
                </a:solidFill>
                <a:latin typeface="Arial"/>
                <a:ea typeface="Arial"/>
                <a:cs typeface="Arial"/>
              </a:defRPr>
            </a:defPPr>
          </a:lstStyle>
          <a:p xmlns:a="http://schemas.openxmlformats.org/drawingml/2006/main">
            <a:pPr algn="l">
              <a:defRPr sz="1050" b="1">
                <a:solidFill>
                  <a:srgbClr val="276B4F"/>
                </a:solidFill>
                <a:latin typeface="Arial"/>
                <a:ea typeface="Arial"/>
                <a:cs typeface="Arial"/>
              </a:defRPr>
            </a:pPr>
            <a:r>
              <a:rPr sz="1050" b="1">
                <a:solidFill>
                  <a:srgbClr val="276B4F"/>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5677DB6-39FB-4475-8620-CA6C148B9443}"/>
              </a:ext>
            </a:extLst>
          </p:cNvPr>
          <p:cNvSpPr>
            <a:spLocks xmlns:a="http://schemas.openxmlformats.org/drawingml/2006/main" noGrp="1"/>
          </p:cNvSpPr>
          <p:nvPr/>
        </p:nvSpPr>
        <p:spPr>
          <a:xfrm xmlns:a="http://schemas.openxmlformats.org/drawingml/2006/main">
            <a:off x="771525" y="2933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Explore</a:t>
            </a:r>
          </a:p>
        </p:txBody>
      </p:sp>
      <p:sp>
        <p:nvSpPr>
          <p:cNvPr id="12" name="">
            <a:extLst xmlns:a="http://schemas.openxmlformats.org/drawingml/2006/main">
              <a:ext uri="{FF2B5EF4-FFF2-40B4-BE49-F238E27FC236}">
                <a16:creationId xmlns:a16="http://schemas.microsoft.com/office/drawing/2014/main" id="{1D7EF918-6C5E-487D-9C25-9DE32EA465A1}"/>
              </a:ext>
            </a:extLst>
          </p:cNvPr>
          <p:cNvSpPr>
            <a:spLocks xmlns:a="http://schemas.openxmlformats.org/drawingml/2006/main" noGrp="1"/>
          </p:cNvSpPr>
          <p:nvPr/>
        </p:nvSpPr>
        <p:spPr>
          <a:xfrm xmlns:a="http://schemas.openxmlformats.org/drawingml/2006/main">
            <a:off x="771525" y="33528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See borough totals,</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common issues,</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recent records.</a:t>
            </a:r>
          </a:p>
        </p:txBody>
      </p:sp>
      <p:sp>
        <p:nvSpPr>
          <p:cNvPr id="13" name="">
            <a:extLst xmlns:a="http://schemas.openxmlformats.org/drawingml/2006/main">
              <a:ext uri="{FF2B5EF4-FFF2-40B4-BE49-F238E27FC236}">
                <a16:creationId xmlns:a16="http://schemas.microsoft.com/office/drawing/2014/main" id="{97087B50-C9BE-4849-B044-114B775D87B9}"/>
              </a:ext>
            </a:extLst>
          </p:cNvPr>
          <p:cNvSpPr>
            <a:spLocks xmlns:a="http://schemas.openxmlformats.org/drawingml/2006/main" noGrp="1"/>
          </p:cNvSpPr>
          <p:nvPr/>
        </p:nvSpPr>
        <p:spPr>
          <a:xfrm xmlns:a="http://schemas.openxmlformats.org/drawingml/2006/main">
            <a:off x="5476875" y="2933700"/>
            <a:ext cx="514350" cy="19050"/>
          </a:xfrm>
          <a:prstGeom xmlns:a="http://schemas.openxmlformats.org/drawingml/2006/main" prst="rect">
            <a:avLst/>
          </a:prstGeom>
          <a:solidFill xmlns:a="http://schemas.openxmlformats.org/drawingml/2006/main">
            <a:srgbClr val="D4E5D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F458B2-E26A-4C99-8144-F0C42EE4C8CE}"/>
              </a:ext>
            </a:extLst>
          </p:cNvPr>
          <p:cNvSpPr>
            <a:spLocks xmlns:a="http://schemas.openxmlformats.org/drawingml/2006/main" noGrp="1"/>
          </p:cNvSpPr>
          <p:nvPr/>
        </p:nvSpPr>
        <p:spPr>
          <a:xfrm xmlns:a="http://schemas.openxmlformats.org/drawingml/2006/main">
            <a:off x="3352800" y="2352675"/>
            <a:ext cx="2076450" cy="1952625"/>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DEE5DE"/>
            </a:solidFill>
            <a:prstDash val="solid"/>
          </a:ln>
        </p:spPr>
      </p:sp>
      <p:sp>
        <p:nvSpPr>
          <p:cNvPr id="15" name="">
            <a:extLst xmlns:a="http://schemas.openxmlformats.org/drawingml/2006/main">
              <a:ext uri="{FF2B5EF4-FFF2-40B4-BE49-F238E27FC236}">
                <a16:creationId xmlns:a16="http://schemas.microsoft.com/office/drawing/2014/main" id="{F2B1F4C8-0C19-468B-AB26-9E52E7AD328D}"/>
              </a:ext>
            </a:extLst>
          </p:cNvPr>
          <p:cNvSpPr>
            <a:spLocks xmlns:a="http://schemas.openxmlformats.org/drawingml/2006/main" noGrp="1"/>
          </p:cNvSpPr>
          <p:nvPr/>
        </p:nvSpPr>
        <p:spPr>
          <a:xfrm xmlns:a="http://schemas.openxmlformats.org/drawingml/2006/main">
            <a:off x="3533775" y="2533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6B4F"/>
                </a:solidFill>
                <a:latin typeface="Arial"/>
                <a:ea typeface="Arial"/>
                <a:cs typeface="Arial"/>
              </a:defRPr>
            </a:defPPr>
          </a:lstStyle>
          <a:p xmlns:a="http://schemas.openxmlformats.org/drawingml/2006/main">
            <a:pPr algn="l">
              <a:defRPr sz="1050" b="1">
                <a:solidFill>
                  <a:srgbClr val="276B4F"/>
                </a:solidFill>
                <a:latin typeface="Arial"/>
                <a:ea typeface="Arial"/>
                <a:cs typeface="Arial"/>
              </a:defRPr>
            </a:pPr>
            <a:r>
              <a:rPr sz="1050" b="1">
                <a:solidFill>
                  <a:srgbClr val="276B4F"/>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2521B76-F9E0-49FB-93E5-9418AE03A627}"/>
              </a:ext>
            </a:extLst>
          </p:cNvPr>
          <p:cNvSpPr>
            <a:spLocks xmlns:a="http://schemas.openxmlformats.org/drawingml/2006/main" noGrp="1"/>
          </p:cNvSpPr>
          <p:nvPr/>
        </p:nvSpPr>
        <p:spPr>
          <a:xfrm xmlns:a="http://schemas.openxmlformats.org/drawingml/2006/main">
            <a:off x="3533775" y="2933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Describe</a:t>
            </a:r>
          </a:p>
        </p:txBody>
      </p:sp>
      <p:sp>
        <p:nvSpPr>
          <p:cNvPr id="17" name="">
            <a:extLst xmlns:a="http://schemas.openxmlformats.org/drawingml/2006/main">
              <a:ext uri="{FF2B5EF4-FFF2-40B4-BE49-F238E27FC236}">
                <a16:creationId xmlns:a16="http://schemas.microsoft.com/office/drawing/2014/main" id="{B33148D2-4440-4ED7-B8AE-38C3A7CC568A}"/>
              </a:ext>
            </a:extLst>
          </p:cNvPr>
          <p:cNvSpPr>
            <a:spLocks xmlns:a="http://schemas.openxmlformats.org/drawingml/2006/main" noGrp="1"/>
          </p:cNvSpPr>
          <p:nvPr/>
        </p:nvSpPr>
        <p:spPr>
          <a:xfrm xmlns:a="http://schemas.openxmlformats.org/drawingml/2006/main">
            <a:off x="3533775" y="33528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Choose borough +</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complaint type; add</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a short description.</a:t>
            </a:r>
          </a:p>
        </p:txBody>
      </p:sp>
      <p:sp>
        <p:nvSpPr>
          <p:cNvPr id="18" name="">
            <a:extLst xmlns:a="http://schemas.openxmlformats.org/drawingml/2006/main">
              <a:ext uri="{FF2B5EF4-FFF2-40B4-BE49-F238E27FC236}">
                <a16:creationId xmlns:a16="http://schemas.microsoft.com/office/drawing/2014/main" id="{8D2C4B62-52BC-400C-B5F9-6AF452BEF935}"/>
              </a:ext>
            </a:extLst>
          </p:cNvPr>
          <p:cNvSpPr>
            <a:spLocks xmlns:a="http://schemas.openxmlformats.org/drawingml/2006/main" noGrp="1"/>
          </p:cNvSpPr>
          <p:nvPr/>
        </p:nvSpPr>
        <p:spPr>
          <a:xfrm xmlns:a="http://schemas.openxmlformats.org/drawingml/2006/main">
            <a:off x="8239125" y="2933700"/>
            <a:ext cx="514350" cy="19050"/>
          </a:xfrm>
          <a:prstGeom xmlns:a="http://schemas.openxmlformats.org/drawingml/2006/main" prst="rect">
            <a:avLst/>
          </a:prstGeom>
          <a:solidFill xmlns:a="http://schemas.openxmlformats.org/drawingml/2006/main">
            <a:srgbClr val="D4E5D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6B95D4-D2EB-4530-88EF-6B2834635986}"/>
              </a:ext>
            </a:extLst>
          </p:cNvPr>
          <p:cNvSpPr>
            <a:spLocks xmlns:a="http://schemas.openxmlformats.org/drawingml/2006/main" noGrp="1"/>
          </p:cNvSpPr>
          <p:nvPr/>
        </p:nvSpPr>
        <p:spPr>
          <a:xfrm xmlns:a="http://schemas.openxmlformats.org/drawingml/2006/main">
            <a:off x="6115050" y="2352675"/>
            <a:ext cx="2076450" cy="1952625"/>
          </a:xfrm>
          <a:prstGeom xmlns:a="http://schemas.openxmlformats.org/drawingml/2006/main" prst="roundRect">
            <a:avLst>
              <a:gd name="adj" fmla="val 4878"/>
            </a:avLst>
          </a:prstGeom>
          <a:solidFill xmlns:a="http://schemas.openxmlformats.org/drawingml/2006/main">
            <a:srgbClr val="10231B"/>
          </a:solidFill>
          <a:ln xmlns:a="http://schemas.openxmlformats.org/drawingml/2006/main" w="9525">
            <a:solidFill>
              <a:srgbClr val="10231B"/>
            </a:solidFill>
            <a:prstDash val="solid"/>
          </a:ln>
        </p:spPr>
      </p:sp>
      <p:sp>
        <p:nvSpPr>
          <p:cNvPr id="20" name="">
            <a:extLst xmlns:a="http://schemas.openxmlformats.org/drawingml/2006/main">
              <a:ext uri="{FF2B5EF4-FFF2-40B4-BE49-F238E27FC236}">
                <a16:creationId xmlns:a16="http://schemas.microsoft.com/office/drawing/2014/main" id="{C85A7486-93DC-46D5-ACA1-FBAF4A7FAD55}"/>
              </a:ext>
            </a:extLst>
          </p:cNvPr>
          <p:cNvSpPr>
            <a:spLocks xmlns:a="http://schemas.openxmlformats.org/drawingml/2006/main" noGrp="1"/>
          </p:cNvSpPr>
          <p:nvPr/>
        </p:nvSpPr>
        <p:spPr>
          <a:xfrm xmlns:a="http://schemas.openxmlformats.org/drawingml/2006/main">
            <a:off x="6296025" y="2533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9D3B4"/>
                </a:solidFill>
                <a:latin typeface="Arial"/>
                <a:ea typeface="Arial"/>
                <a:cs typeface="Arial"/>
              </a:defRPr>
            </a:defPPr>
          </a:lstStyle>
          <a:p xmlns:a="http://schemas.openxmlformats.org/drawingml/2006/main">
            <a:pPr algn="l">
              <a:defRPr sz="1050" b="1">
                <a:solidFill>
                  <a:srgbClr val="A9D3B4"/>
                </a:solidFill>
                <a:latin typeface="Arial"/>
                <a:ea typeface="Arial"/>
                <a:cs typeface="Arial"/>
              </a:defRPr>
            </a:pPr>
            <a:r>
              <a:rPr sz="1050" b="1">
                <a:solidFill>
                  <a:srgbClr val="A9D3B4"/>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BD78E42-9B24-4AE3-83FC-7AB34083021D}"/>
              </a:ext>
            </a:extLst>
          </p:cNvPr>
          <p:cNvSpPr>
            <a:spLocks xmlns:a="http://schemas.openxmlformats.org/drawingml/2006/main" noGrp="1"/>
          </p:cNvSpPr>
          <p:nvPr/>
        </p:nvSpPr>
        <p:spPr>
          <a:xfrm xmlns:a="http://schemas.openxmlformats.org/drawingml/2006/main">
            <a:off x="6296025" y="2933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Review</a:t>
            </a:r>
          </a:p>
        </p:txBody>
      </p:sp>
      <p:sp>
        <p:nvSpPr>
          <p:cNvPr id="22" name="">
            <a:extLst xmlns:a="http://schemas.openxmlformats.org/drawingml/2006/main">
              <a:ext uri="{FF2B5EF4-FFF2-40B4-BE49-F238E27FC236}">
                <a16:creationId xmlns:a16="http://schemas.microsoft.com/office/drawing/2014/main" id="{8DC78916-DB88-43F8-B9AF-8A5A99F00975}"/>
              </a:ext>
            </a:extLst>
          </p:cNvPr>
          <p:cNvSpPr>
            <a:spLocks xmlns:a="http://schemas.openxmlformats.org/drawingml/2006/main" noGrp="1"/>
          </p:cNvSpPr>
          <p:nvPr/>
        </p:nvSpPr>
        <p:spPr>
          <a:xfrm xmlns:a="http://schemas.openxmlformats.org/drawingml/2006/main">
            <a:off x="6296025" y="33528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D5E2D8"/>
                </a:solidFill>
                <a:latin typeface="Arial"/>
                <a:ea typeface="Arial"/>
                <a:cs typeface="Arial"/>
              </a:defRPr>
            </a:defPPr>
          </a:lstStyle>
          <a:p xmlns:a="http://schemas.openxmlformats.org/drawingml/2006/main">
            <a:pPr algn="l">
              <a:defRPr sz="975" b="0">
                <a:solidFill>
                  <a:srgbClr val="D5E2D8"/>
                </a:solidFill>
                <a:latin typeface="Arial"/>
                <a:ea typeface="Arial"/>
                <a:cs typeface="Arial"/>
              </a:defRPr>
            </a:pPr>
            <a:r>
              <a:rPr sz="975" b="0">
                <a:solidFill>
                  <a:srgbClr val="D5E2D8"/>
                </a:solidFill>
                <a:latin typeface="Arial"/>
                <a:ea typeface="Arial"/>
                <a:cs typeface="Arial"/>
              </a:rPr>
              <a:t>See agency, time</a:t>
            </a:r>
          </a:p>
          <a:p xmlns:a="http://schemas.openxmlformats.org/drawingml/2006/main">
            <a:pPr algn="l">
              <a:defRPr sz="975" b="0">
                <a:solidFill>
                  <a:srgbClr val="D5E2D8"/>
                </a:solidFill>
                <a:latin typeface="Arial"/>
                <a:ea typeface="Arial"/>
                <a:cs typeface="Arial"/>
              </a:defRPr>
            </a:pPr>
            <a:r>
              <a:rPr sz="975" b="0">
                <a:solidFill>
                  <a:srgbClr val="D5E2D8"/>
                </a:solidFill>
                <a:latin typeface="Arial"/>
                <a:ea typeface="Arial"/>
                <a:cs typeface="Arial"/>
              </a:rPr>
              <a:t>estimate, confidence</a:t>
            </a:r>
          </a:p>
          <a:p xmlns:a="http://schemas.openxmlformats.org/drawingml/2006/main">
            <a:pPr algn="l">
              <a:defRPr sz="975" b="0">
                <a:solidFill>
                  <a:srgbClr val="D5E2D8"/>
                </a:solidFill>
                <a:latin typeface="Arial"/>
                <a:ea typeface="Arial"/>
                <a:cs typeface="Arial"/>
              </a:defRPr>
            </a:pPr>
            <a:r>
              <a:rPr sz="975" b="0">
                <a:solidFill>
                  <a:srgbClr val="D5E2D8"/>
                </a:solidFill>
                <a:latin typeface="Arial"/>
                <a:ea typeface="Arial"/>
                <a:cs typeface="Arial"/>
              </a:rPr>
              <a:t>and latency.</a:t>
            </a:r>
          </a:p>
        </p:txBody>
      </p:sp>
      <p:sp>
        <p:nvSpPr>
          <p:cNvPr id="23" name="">
            <a:extLst xmlns:a="http://schemas.openxmlformats.org/drawingml/2006/main">
              <a:ext uri="{FF2B5EF4-FFF2-40B4-BE49-F238E27FC236}">
                <a16:creationId xmlns:a16="http://schemas.microsoft.com/office/drawing/2014/main" id="{8797B1C9-48BC-431A-8AD3-AA11910BC48F}"/>
              </a:ext>
            </a:extLst>
          </p:cNvPr>
          <p:cNvSpPr>
            <a:spLocks xmlns:a="http://schemas.openxmlformats.org/drawingml/2006/main" noGrp="1"/>
          </p:cNvSpPr>
          <p:nvPr/>
        </p:nvSpPr>
        <p:spPr>
          <a:xfrm xmlns:a="http://schemas.openxmlformats.org/drawingml/2006/main">
            <a:off x="8877300" y="2352675"/>
            <a:ext cx="2076450" cy="1952625"/>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DEE5DE"/>
            </a:solidFill>
            <a:prstDash val="solid"/>
          </a:ln>
        </p:spPr>
      </p:sp>
      <p:sp>
        <p:nvSpPr>
          <p:cNvPr id="24" name="">
            <a:extLst xmlns:a="http://schemas.openxmlformats.org/drawingml/2006/main">
              <a:ext uri="{FF2B5EF4-FFF2-40B4-BE49-F238E27FC236}">
                <a16:creationId xmlns:a16="http://schemas.microsoft.com/office/drawing/2014/main" id="{4D9A2207-F081-48C9-A5B5-43DE3ABBB409}"/>
              </a:ext>
            </a:extLst>
          </p:cNvPr>
          <p:cNvSpPr>
            <a:spLocks xmlns:a="http://schemas.openxmlformats.org/drawingml/2006/main" noGrp="1"/>
          </p:cNvSpPr>
          <p:nvPr/>
        </p:nvSpPr>
        <p:spPr>
          <a:xfrm xmlns:a="http://schemas.openxmlformats.org/drawingml/2006/main">
            <a:off x="9058275" y="25336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76B4F"/>
                </a:solidFill>
                <a:latin typeface="Arial"/>
                <a:ea typeface="Arial"/>
                <a:cs typeface="Arial"/>
              </a:defRPr>
            </a:defPPr>
          </a:lstStyle>
          <a:p xmlns:a="http://schemas.openxmlformats.org/drawingml/2006/main">
            <a:pPr algn="l">
              <a:defRPr sz="1050" b="1">
                <a:solidFill>
                  <a:srgbClr val="276B4F"/>
                </a:solidFill>
                <a:latin typeface="Arial"/>
                <a:ea typeface="Arial"/>
                <a:cs typeface="Arial"/>
              </a:defRPr>
            </a:pPr>
            <a:r>
              <a:rPr sz="1050" b="1">
                <a:solidFill>
                  <a:srgbClr val="276B4F"/>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F3DA5BB7-84BE-4EA3-AB79-46E0A5A4B1DF}"/>
              </a:ext>
            </a:extLst>
          </p:cNvPr>
          <p:cNvSpPr>
            <a:spLocks xmlns:a="http://schemas.openxmlformats.org/drawingml/2006/main" noGrp="1"/>
          </p:cNvSpPr>
          <p:nvPr/>
        </p:nvSpPr>
        <p:spPr>
          <a:xfrm xmlns:a="http://schemas.openxmlformats.org/drawingml/2006/main">
            <a:off x="9058275" y="2933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Follow up</a:t>
            </a:r>
          </a:p>
        </p:txBody>
      </p:sp>
      <p:sp>
        <p:nvSpPr>
          <p:cNvPr id="26" name="">
            <a:extLst xmlns:a="http://schemas.openxmlformats.org/drawingml/2006/main">
              <a:ext uri="{FF2B5EF4-FFF2-40B4-BE49-F238E27FC236}">
                <a16:creationId xmlns:a16="http://schemas.microsoft.com/office/drawing/2014/main" id="{6441F895-242A-4A2C-B9C4-7399EAE96D14}"/>
              </a:ext>
            </a:extLst>
          </p:cNvPr>
          <p:cNvSpPr>
            <a:spLocks xmlns:a="http://schemas.openxmlformats.org/drawingml/2006/main" noGrp="1"/>
          </p:cNvSpPr>
          <p:nvPr/>
        </p:nvSpPr>
        <p:spPr>
          <a:xfrm xmlns:a="http://schemas.openxmlformats.org/drawingml/2006/main">
            <a:off x="9058275" y="335280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66756B"/>
                </a:solidFill>
                <a:latin typeface="Arial"/>
                <a:ea typeface="Arial"/>
                <a:cs typeface="Arial"/>
              </a:defRPr>
            </a:defPPr>
          </a:lstStyle>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Trace the response;</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record the real outcome</a:t>
            </a:r>
          </a:p>
          <a:p xmlns:a="http://schemas.openxmlformats.org/drawingml/2006/main">
            <a:pPr algn="l">
              <a:defRPr sz="975" b="0">
                <a:solidFill>
                  <a:srgbClr val="66756B"/>
                </a:solidFill>
                <a:latin typeface="Arial"/>
                <a:ea typeface="Arial"/>
                <a:cs typeface="Arial"/>
              </a:defRPr>
            </a:pPr>
            <a:r>
              <a:rPr sz="975" b="0">
                <a:solidFill>
                  <a:srgbClr val="66756B"/>
                </a:solidFill>
                <a:latin typeface="Arial"/>
                <a:ea typeface="Arial"/>
                <a:cs typeface="Arial"/>
              </a:rPr>
              <a:t>when available.</a:t>
            </a:r>
          </a:p>
        </p:txBody>
      </p:sp>
      <p:sp>
        <p:nvSpPr>
          <p:cNvPr id="27" name="">
            <a:extLst xmlns:a="http://schemas.openxmlformats.org/drawingml/2006/main">
              <a:ext uri="{FF2B5EF4-FFF2-40B4-BE49-F238E27FC236}">
                <a16:creationId xmlns:a16="http://schemas.microsoft.com/office/drawing/2014/main" id="{A1379932-2F70-44E0-9667-2152352DAC87}"/>
              </a:ext>
            </a:extLst>
          </p:cNvPr>
          <p:cNvSpPr>
            <a:spLocks xmlns:a="http://schemas.openxmlformats.org/drawingml/2006/main" noGrp="1"/>
          </p:cNvSpPr>
          <p:nvPr/>
        </p:nvSpPr>
        <p:spPr>
          <a:xfrm xmlns:a="http://schemas.openxmlformats.org/drawingml/2006/main">
            <a:off x="590550" y="4762500"/>
            <a:ext cx="11010900" cy="1019175"/>
          </a:xfrm>
          <a:prstGeom xmlns:a="http://schemas.openxmlformats.org/drawingml/2006/main" prst="roundRect">
            <a:avLst>
              <a:gd name="adj" fmla="val 9346"/>
            </a:avLst>
          </a:prstGeom>
          <a:solidFill xmlns:a="http://schemas.openxmlformats.org/drawingml/2006/main">
            <a:srgbClr val="E8F1E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3530CF-E7FC-4115-8E81-33A12B662DB2}"/>
              </a:ext>
            </a:extLst>
          </p:cNvPr>
          <p:cNvSpPr>
            <a:spLocks xmlns:a="http://schemas.openxmlformats.org/drawingml/2006/main" noGrp="1"/>
          </p:cNvSpPr>
          <p:nvPr/>
        </p:nvSpPr>
        <p:spPr>
          <a:xfrm xmlns:a="http://schemas.openxmlformats.org/drawingml/2006/main">
            <a:off x="790575" y="4953000"/>
            <a:ext cx="161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UX CHOICES</a:t>
            </a:r>
          </a:p>
        </p:txBody>
      </p:sp>
      <p:sp>
        <p:nvSpPr>
          <p:cNvPr id="29" name="">
            <a:extLst xmlns:a="http://schemas.openxmlformats.org/drawingml/2006/main">
              <a:ext uri="{FF2B5EF4-FFF2-40B4-BE49-F238E27FC236}">
                <a16:creationId xmlns:a16="http://schemas.microsoft.com/office/drawing/2014/main" id="{F8FFDB27-85AF-43C2-A40E-AD2B5925A942}"/>
              </a:ext>
            </a:extLst>
          </p:cNvPr>
          <p:cNvSpPr>
            <a:spLocks xmlns:a="http://schemas.openxmlformats.org/drawingml/2006/main" noGrp="1"/>
          </p:cNvSpPr>
          <p:nvPr/>
        </p:nvSpPr>
        <p:spPr>
          <a:xfrm xmlns:a="http://schemas.openxmlformats.org/drawingml/2006/main">
            <a:off x="790575" y="52482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5271E"/>
                </a:solidFill>
                <a:latin typeface="Arial"/>
                <a:ea typeface="Arial"/>
                <a:cs typeface="Arial"/>
              </a:defRPr>
            </a:defPPr>
          </a:lstStyle>
          <a:p xmlns:a="http://schemas.openxmlformats.org/drawingml/2006/main">
            <a:pPr algn="l">
              <a:defRPr sz="1200" b="1">
                <a:solidFill>
                  <a:srgbClr val="15271E"/>
                </a:solidFill>
                <a:latin typeface="Arial"/>
                <a:ea typeface="Arial"/>
                <a:cs typeface="Arial"/>
              </a:defRPr>
            </a:pPr>
            <a:r>
              <a:rPr sz="1200" b="1">
                <a:solidFill>
                  <a:srgbClr val="15271E"/>
                </a:solidFill>
                <a:latin typeface="Arial"/>
                <a:ea typeface="Arial"/>
                <a:cs typeface="Arial"/>
              </a:rPr>
              <a:t>One primary action  ·  borough and complaint selectors  ·  concise prediction result  ·  keyboard-friendly forms  ·  responsive layout</a:t>
            </a:r>
          </a:p>
        </p:txBody>
      </p:sp>
      <p:sp>
        <p:nvSpPr>
          <p:cNvPr id="30" name="">
            <a:extLst xmlns:a="http://schemas.openxmlformats.org/drawingml/2006/main">
              <a:ext uri="{FF2B5EF4-FFF2-40B4-BE49-F238E27FC236}">
                <a16:creationId xmlns:a16="http://schemas.microsoft.com/office/drawing/2014/main" id="{575B63F4-E901-4C6A-9041-E97C69A55082}"/>
              </a:ext>
            </a:extLst>
          </p:cNvPr>
          <p:cNvSpPr>
            <a:spLocks xmlns:a="http://schemas.openxmlformats.org/drawingml/2006/main" noGrp="1"/>
          </p:cNvSpPr>
          <p:nvPr/>
        </p:nvSpPr>
        <p:spPr>
          <a:xfrm xmlns:a="http://schemas.openxmlformats.org/drawingml/2006/main">
            <a:off x="790575" y="5572125"/>
            <a:ext cx="10287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66756B"/>
                </a:solidFill>
                <a:latin typeface="Arial"/>
                <a:ea typeface="Arial"/>
                <a:cs typeface="Arial"/>
              </a:defRPr>
            </a:defPPr>
          </a:lstStyle>
          <a:p xmlns:a="http://schemas.openxmlformats.org/drawingml/2006/main">
            <a:pPr algn="l">
              <a:defRPr sz="825" b="0">
                <a:solidFill>
                  <a:srgbClr val="66756B"/>
                </a:solidFill>
                <a:latin typeface="Arial"/>
                <a:ea typeface="Arial"/>
                <a:cs typeface="Arial"/>
              </a:defRPr>
            </a:pPr>
            <a:r>
              <a:rPr sz="825" b="0">
                <a:solidFill>
                  <a:srgbClr val="66756B"/>
                </a:solidFill>
                <a:latin typeface="Arial"/>
                <a:ea typeface="Arial"/>
                <a:cs typeface="Arial"/>
              </a:rPr>
              <a:t>The recommendation supports a human decision; it is not an official dispatch confirmation.</a:t>
            </a:r>
          </a:p>
        </p:txBody>
      </p:sp>
    </p:spTree>
    <p:extLst>
      <p:ext uri="{BB962C8B-B14F-4D97-AF65-F5344CB8AC3E}">
        <p14:creationId xmlns:p14="http://schemas.microsoft.com/office/powerpoint/2010/main" val="717186396"/>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50D590E-2D2A-4A8B-AAA9-576AFC58DBFC}"/>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5F1CDB-B5BC-48D4-B94D-C27C216105FB}"/>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09  /  ML ENGINEERING</a:t>
            </a:r>
          </a:p>
        </p:txBody>
      </p:sp>
      <p:sp>
        <p:nvSpPr>
          <p:cNvPr id="3" name="">
            <a:extLst xmlns:a="http://schemas.openxmlformats.org/drawingml/2006/main">
              <a:ext uri="{FF2B5EF4-FFF2-40B4-BE49-F238E27FC236}">
                <a16:creationId xmlns:a16="http://schemas.microsoft.com/office/drawing/2014/main" id="{04E167C3-4A04-44CC-8369-5602053EFF60}"/>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Serving, traceability and feedback</a:t>
            </a:r>
          </a:p>
        </p:txBody>
      </p:sp>
      <p:sp>
        <p:nvSpPr>
          <p:cNvPr id="4" name="">
            <a:extLst xmlns:a="http://schemas.openxmlformats.org/drawingml/2006/main">
              <a:ext uri="{FF2B5EF4-FFF2-40B4-BE49-F238E27FC236}">
                <a16:creationId xmlns:a16="http://schemas.microsoft.com/office/drawing/2014/main" id="{A90A919D-767D-4156-8184-65F832A3CEA1}"/>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120765-22A5-488E-8D55-1FCCB46F0970}"/>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AC94EDA4-FD8A-4B98-AE3A-7E7E73597A5F}"/>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AECD0FE0-FE06-446E-81A7-BA97F1427C01}"/>
              </a:ext>
            </a:extLst>
          </p:cNvPr>
          <p:cNvSpPr>
            <a:spLocks xmlns:a="http://schemas.openxmlformats.org/drawingml/2006/main" noGrp="1"/>
          </p:cNvSpPr>
          <p:nvPr/>
        </p:nvSpPr>
        <p:spPr>
          <a:xfrm xmlns:a="http://schemas.openxmlformats.org/drawingml/2006/main">
            <a:off x="590550" y="1543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6756B"/>
                </a:solidFill>
                <a:latin typeface="Arial"/>
                <a:ea typeface="Arial"/>
                <a:cs typeface="Arial"/>
              </a:defRPr>
            </a:defPPr>
          </a:lstStyle>
          <a:p xmlns:a="http://schemas.openxmlformats.org/drawingml/2006/main">
            <a:pPr algn="l">
              <a:defRPr sz="1275" b="0">
                <a:solidFill>
                  <a:srgbClr val="66756B"/>
                </a:solidFill>
                <a:latin typeface="Arial"/>
                <a:ea typeface="Arial"/>
                <a:cs typeface="Arial"/>
              </a:defRPr>
            </a:pPr>
            <a:r>
              <a:rPr sz="1275" b="0">
                <a:solidFill>
                  <a:srgbClr val="66756B"/>
                </a:solidFill>
                <a:latin typeface="Arial"/>
                <a:ea typeface="Arial"/>
                <a:cs typeface="Arial"/>
              </a:rPr>
              <a:t>The same feature contract is used offline and online to reduce training-serving skew.</a:t>
            </a:r>
          </a:p>
        </p:txBody>
      </p:sp>
      <p:sp>
        <p:nvSpPr>
          <p:cNvPr id="8" name="">
            <a:extLst xmlns:a="http://schemas.openxmlformats.org/drawingml/2006/main">
              <a:ext uri="{FF2B5EF4-FFF2-40B4-BE49-F238E27FC236}">
                <a16:creationId xmlns:a16="http://schemas.microsoft.com/office/drawing/2014/main" id="{377A471B-CE23-4428-ACED-F8B21789C102}"/>
              </a:ext>
            </a:extLst>
          </p:cNvPr>
          <p:cNvSpPr>
            <a:spLocks xmlns:a="http://schemas.openxmlformats.org/drawingml/2006/main" noGrp="1"/>
          </p:cNvSpPr>
          <p:nvPr/>
        </p:nvSpPr>
        <p:spPr>
          <a:xfrm xmlns:a="http://schemas.openxmlformats.org/drawingml/2006/main">
            <a:off x="590550" y="2190750"/>
            <a:ext cx="2038350"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EE5DE"/>
            </a:solidFill>
            <a:prstDash val="solid"/>
          </a:ln>
        </p:spPr>
      </p:sp>
      <p:sp>
        <p:nvSpPr>
          <p:cNvPr id="9" name="">
            <a:extLst xmlns:a="http://schemas.openxmlformats.org/drawingml/2006/main">
              <a:ext uri="{FF2B5EF4-FFF2-40B4-BE49-F238E27FC236}">
                <a16:creationId xmlns:a16="http://schemas.microsoft.com/office/drawing/2014/main" id="{39F9EBD8-AB0F-4F47-A701-93AE50827ADC}"/>
              </a:ext>
            </a:extLst>
          </p:cNvPr>
          <p:cNvSpPr>
            <a:spLocks xmlns:a="http://schemas.openxmlformats.org/drawingml/2006/main" noGrp="1"/>
          </p:cNvSpPr>
          <p:nvPr/>
        </p:nvSpPr>
        <p:spPr>
          <a:xfrm xmlns:a="http://schemas.openxmlformats.org/drawingml/2006/main">
            <a:off x="714375" y="23622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WEB APP</a:t>
            </a:r>
          </a:p>
        </p:txBody>
      </p:sp>
      <p:sp>
        <p:nvSpPr>
          <p:cNvPr id="10" name="">
            <a:extLst xmlns:a="http://schemas.openxmlformats.org/drawingml/2006/main">
              <a:ext uri="{FF2B5EF4-FFF2-40B4-BE49-F238E27FC236}">
                <a16:creationId xmlns:a16="http://schemas.microsoft.com/office/drawing/2014/main" id="{DDB57A61-248A-4B7F-9903-EF1EDC6910F2}"/>
              </a:ext>
            </a:extLst>
          </p:cNvPr>
          <p:cNvSpPr>
            <a:spLocks xmlns:a="http://schemas.openxmlformats.org/drawingml/2006/main" noGrp="1"/>
          </p:cNvSpPr>
          <p:nvPr/>
        </p:nvSpPr>
        <p:spPr>
          <a:xfrm xmlns:a="http://schemas.openxmlformats.org/drawingml/2006/main">
            <a:off x="714375" y="266700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Flask pages + forms</a:t>
            </a:r>
          </a:p>
        </p:txBody>
      </p:sp>
      <p:sp>
        <p:nvSpPr>
          <p:cNvPr id="11" name="">
            <a:extLst xmlns:a="http://schemas.openxmlformats.org/drawingml/2006/main">
              <a:ext uri="{FF2B5EF4-FFF2-40B4-BE49-F238E27FC236}">
                <a16:creationId xmlns:a16="http://schemas.microsoft.com/office/drawing/2014/main" id="{F6A6CDA4-B630-4AD2-B4AF-506BDCD6DB61}"/>
              </a:ext>
            </a:extLst>
          </p:cNvPr>
          <p:cNvSpPr>
            <a:spLocks xmlns:a="http://schemas.openxmlformats.org/drawingml/2006/main" noGrp="1"/>
          </p:cNvSpPr>
          <p:nvPr/>
        </p:nvSpPr>
        <p:spPr>
          <a:xfrm xmlns:a="http://schemas.openxmlformats.org/drawingml/2006/main">
            <a:off x="2695575" y="2571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6B4F"/>
                </a:solidFill>
                <a:latin typeface="Arial"/>
                <a:ea typeface="Arial"/>
                <a:cs typeface="Arial"/>
              </a:defRPr>
            </a:defPPr>
          </a:lstStyle>
          <a:p xmlns:a="http://schemas.openxmlformats.org/drawingml/2006/main">
            <a:pPr algn="ctr">
              <a:defRPr sz="1275" b="1">
                <a:solidFill>
                  <a:srgbClr val="276B4F"/>
                </a:solidFill>
                <a:latin typeface="Arial"/>
                <a:ea typeface="Arial"/>
                <a:cs typeface="Arial"/>
              </a:defRPr>
            </a:pPr>
            <a:r>
              <a:rPr sz="1275" b="1">
                <a:solidFill>
                  <a:srgbClr val="276B4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82173E76-A889-40DC-B1C8-04EE7C094D8B}"/>
              </a:ext>
            </a:extLst>
          </p:cNvPr>
          <p:cNvSpPr>
            <a:spLocks xmlns:a="http://schemas.openxmlformats.org/drawingml/2006/main" noGrp="1"/>
          </p:cNvSpPr>
          <p:nvPr/>
        </p:nvSpPr>
        <p:spPr>
          <a:xfrm xmlns:a="http://schemas.openxmlformats.org/drawingml/2006/main">
            <a:off x="3038475" y="2190750"/>
            <a:ext cx="2038350"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EE5DE"/>
            </a:solidFill>
            <a:prstDash val="solid"/>
          </a:ln>
        </p:spPr>
      </p:sp>
      <p:sp>
        <p:nvSpPr>
          <p:cNvPr id="13" name="">
            <a:extLst xmlns:a="http://schemas.openxmlformats.org/drawingml/2006/main">
              <a:ext uri="{FF2B5EF4-FFF2-40B4-BE49-F238E27FC236}">
                <a16:creationId xmlns:a16="http://schemas.microsoft.com/office/drawing/2014/main" id="{087BC2AB-C317-4F1E-AAEC-947D03567375}"/>
              </a:ext>
            </a:extLst>
          </p:cNvPr>
          <p:cNvSpPr>
            <a:spLocks xmlns:a="http://schemas.openxmlformats.org/drawingml/2006/main" noGrp="1"/>
          </p:cNvSpPr>
          <p:nvPr/>
        </p:nvSpPr>
        <p:spPr>
          <a:xfrm xmlns:a="http://schemas.openxmlformats.org/drawingml/2006/main">
            <a:off x="3162300" y="23622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REST API</a:t>
            </a:r>
          </a:p>
        </p:txBody>
      </p:sp>
      <p:sp>
        <p:nvSpPr>
          <p:cNvPr id="14" name="">
            <a:extLst xmlns:a="http://schemas.openxmlformats.org/drawingml/2006/main">
              <a:ext uri="{FF2B5EF4-FFF2-40B4-BE49-F238E27FC236}">
                <a16:creationId xmlns:a16="http://schemas.microsoft.com/office/drawing/2014/main" id="{6D5C63DA-DA12-4497-8B17-5B2B9410F258}"/>
              </a:ext>
            </a:extLst>
          </p:cNvPr>
          <p:cNvSpPr>
            <a:spLocks xmlns:a="http://schemas.openxmlformats.org/drawingml/2006/main" noGrp="1"/>
          </p:cNvSpPr>
          <p:nvPr/>
        </p:nvSpPr>
        <p:spPr>
          <a:xfrm xmlns:a="http://schemas.openxmlformats.org/drawingml/2006/main">
            <a:off x="3162300" y="266700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/api/predict</a:t>
            </a:r>
          </a:p>
        </p:txBody>
      </p:sp>
      <p:sp>
        <p:nvSpPr>
          <p:cNvPr id="15" name="">
            <a:extLst xmlns:a="http://schemas.openxmlformats.org/drawingml/2006/main">
              <a:ext uri="{FF2B5EF4-FFF2-40B4-BE49-F238E27FC236}">
                <a16:creationId xmlns:a16="http://schemas.microsoft.com/office/drawing/2014/main" id="{5555BCEF-1E94-4769-9F16-21319C4F760C}"/>
              </a:ext>
            </a:extLst>
          </p:cNvPr>
          <p:cNvSpPr>
            <a:spLocks xmlns:a="http://schemas.openxmlformats.org/drawingml/2006/main" noGrp="1"/>
          </p:cNvSpPr>
          <p:nvPr/>
        </p:nvSpPr>
        <p:spPr>
          <a:xfrm xmlns:a="http://schemas.openxmlformats.org/drawingml/2006/main">
            <a:off x="5143500" y="2571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6B4F"/>
                </a:solidFill>
                <a:latin typeface="Arial"/>
                <a:ea typeface="Arial"/>
                <a:cs typeface="Arial"/>
              </a:defRPr>
            </a:defPPr>
          </a:lstStyle>
          <a:p xmlns:a="http://schemas.openxmlformats.org/drawingml/2006/main">
            <a:pPr algn="ctr">
              <a:defRPr sz="1275" b="1">
                <a:solidFill>
                  <a:srgbClr val="276B4F"/>
                </a:solidFill>
                <a:latin typeface="Arial"/>
                <a:ea typeface="Arial"/>
                <a:cs typeface="Arial"/>
              </a:defRPr>
            </a:pPr>
            <a:r>
              <a:rPr sz="1275" b="1">
                <a:solidFill>
                  <a:srgbClr val="276B4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4D828449-EB06-4097-803F-DE840C9CD154}"/>
              </a:ext>
            </a:extLst>
          </p:cNvPr>
          <p:cNvSpPr>
            <a:spLocks xmlns:a="http://schemas.openxmlformats.org/drawingml/2006/main" noGrp="1"/>
          </p:cNvSpPr>
          <p:nvPr/>
        </p:nvSpPr>
        <p:spPr>
          <a:xfrm xmlns:a="http://schemas.openxmlformats.org/drawingml/2006/main">
            <a:off x="5486400" y="2190750"/>
            <a:ext cx="2038350"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EE5DE"/>
            </a:solidFill>
            <a:prstDash val="solid"/>
          </a:ln>
        </p:spPr>
      </p:sp>
      <p:sp>
        <p:nvSpPr>
          <p:cNvPr id="17" name="">
            <a:extLst xmlns:a="http://schemas.openxmlformats.org/drawingml/2006/main">
              <a:ext uri="{FF2B5EF4-FFF2-40B4-BE49-F238E27FC236}">
                <a16:creationId xmlns:a16="http://schemas.microsoft.com/office/drawing/2014/main" id="{AAF87301-0F0C-4DC0-85D4-790DDE1B9882}"/>
              </a:ext>
            </a:extLst>
          </p:cNvPr>
          <p:cNvSpPr>
            <a:spLocks xmlns:a="http://schemas.openxmlformats.org/drawingml/2006/main" noGrp="1"/>
          </p:cNvSpPr>
          <p:nvPr/>
        </p:nvSpPr>
        <p:spPr>
          <a:xfrm xmlns:a="http://schemas.openxmlformats.org/drawingml/2006/main">
            <a:off x="5610225" y="23622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FEATURE CONTRACT</a:t>
            </a:r>
          </a:p>
        </p:txBody>
      </p:sp>
      <p:sp>
        <p:nvSpPr>
          <p:cNvPr id="18" name="">
            <a:extLst xmlns:a="http://schemas.openxmlformats.org/drawingml/2006/main">
              <a:ext uri="{FF2B5EF4-FFF2-40B4-BE49-F238E27FC236}">
                <a16:creationId xmlns:a16="http://schemas.microsoft.com/office/drawing/2014/main" id="{D63FD37F-1C9F-436E-B1B9-EFAADC97F8BF}"/>
              </a:ext>
            </a:extLst>
          </p:cNvPr>
          <p:cNvSpPr>
            <a:spLocks xmlns:a="http://schemas.openxmlformats.org/drawingml/2006/main" noGrp="1"/>
          </p:cNvSpPr>
          <p:nvPr/>
        </p:nvSpPr>
        <p:spPr>
          <a:xfrm xmlns:a="http://schemas.openxmlformats.org/drawingml/2006/main">
            <a:off x="5610225" y="266700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build_features()</a:t>
            </a:r>
          </a:p>
        </p:txBody>
      </p:sp>
      <p:sp>
        <p:nvSpPr>
          <p:cNvPr id="19" name="">
            <a:extLst xmlns:a="http://schemas.openxmlformats.org/drawingml/2006/main">
              <a:ext uri="{FF2B5EF4-FFF2-40B4-BE49-F238E27FC236}">
                <a16:creationId xmlns:a16="http://schemas.microsoft.com/office/drawing/2014/main" id="{200E4912-1750-4C90-ADED-444850C176E0}"/>
              </a:ext>
            </a:extLst>
          </p:cNvPr>
          <p:cNvSpPr>
            <a:spLocks xmlns:a="http://schemas.openxmlformats.org/drawingml/2006/main" noGrp="1"/>
          </p:cNvSpPr>
          <p:nvPr/>
        </p:nvSpPr>
        <p:spPr>
          <a:xfrm xmlns:a="http://schemas.openxmlformats.org/drawingml/2006/main">
            <a:off x="7591425" y="2571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6B4F"/>
                </a:solidFill>
                <a:latin typeface="Arial"/>
                <a:ea typeface="Arial"/>
                <a:cs typeface="Arial"/>
              </a:defRPr>
            </a:defPPr>
          </a:lstStyle>
          <a:p xmlns:a="http://schemas.openxmlformats.org/drawingml/2006/main">
            <a:pPr algn="ctr">
              <a:defRPr sz="1275" b="1">
                <a:solidFill>
                  <a:srgbClr val="276B4F"/>
                </a:solidFill>
                <a:latin typeface="Arial"/>
                <a:ea typeface="Arial"/>
                <a:cs typeface="Arial"/>
              </a:defRPr>
            </a:pPr>
            <a:r>
              <a:rPr sz="1275" b="1">
                <a:solidFill>
                  <a:srgbClr val="276B4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126EA75C-6F84-4883-8920-2C34C85EB18E}"/>
              </a:ext>
            </a:extLst>
          </p:cNvPr>
          <p:cNvSpPr>
            <a:spLocks xmlns:a="http://schemas.openxmlformats.org/drawingml/2006/main" noGrp="1"/>
          </p:cNvSpPr>
          <p:nvPr/>
        </p:nvSpPr>
        <p:spPr>
          <a:xfrm xmlns:a="http://schemas.openxmlformats.org/drawingml/2006/main">
            <a:off x="7934325" y="2190750"/>
            <a:ext cx="1657350" cy="1000125"/>
          </a:xfrm>
          <a:prstGeom xmlns:a="http://schemas.openxmlformats.org/drawingml/2006/main" prst="roundRect">
            <a:avLst>
              <a:gd name="adj" fmla="val 9524"/>
            </a:avLst>
          </a:prstGeom>
          <a:solidFill xmlns:a="http://schemas.openxmlformats.org/drawingml/2006/main">
            <a:srgbClr val="10231B"/>
          </a:solidFill>
          <a:ln xmlns:a="http://schemas.openxmlformats.org/drawingml/2006/main" w="9525">
            <a:solidFill>
              <a:srgbClr val="10231B"/>
            </a:solidFill>
            <a:prstDash val="solid"/>
          </a:ln>
        </p:spPr>
      </p:sp>
      <p:sp>
        <p:nvSpPr>
          <p:cNvPr id="21" name="">
            <a:extLst xmlns:a="http://schemas.openxmlformats.org/drawingml/2006/main">
              <a:ext uri="{FF2B5EF4-FFF2-40B4-BE49-F238E27FC236}">
                <a16:creationId xmlns:a16="http://schemas.microsoft.com/office/drawing/2014/main" id="{36CDF8A0-4A7F-458F-AA9A-C88889DCFC13}"/>
              </a:ext>
            </a:extLst>
          </p:cNvPr>
          <p:cNvSpPr>
            <a:spLocks xmlns:a="http://schemas.openxmlformats.org/drawingml/2006/main" noGrp="1"/>
          </p:cNvSpPr>
          <p:nvPr/>
        </p:nvSpPr>
        <p:spPr>
          <a:xfrm xmlns:a="http://schemas.openxmlformats.org/drawingml/2006/main">
            <a:off x="8058150" y="236220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A9D3B4"/>
                </a:solidFill>
                <a:latin typeface="Arial"/>
                <a:ea typeface="Arial"/>
                <a:cs typeface="Arial"/>
              </a:defRPr>
            </a:defPPr>
          </a:lstStyle>
          <a:p xmlns:a="http://schemas.openxmlformats.org/drawingml/2006/main">
            <a:pPr algn="l">
              <a:defRPr sz="750" b="1">
                <a:solidFill>
                  <a:srgbClr val="A9D3B4"/>
                </a:solidFill>
                <a:latin typeface="Arial"/>
                <a:ea typeface="Arial"/>
                <a:cs typeface="Arial"/>
              </a:defRPr>
            </a:pPr>
            <a:r>
              <a:rPr sz="750" b="1">
                <a:solidFill>
                  <a:srgbClr val="A9D3B4"/>
                </a:solidFill>
                <a:latin typeface="Arial"/>
                <a:ea typeface="Arial"/>
                <a:cs typeface="Arial"/>
              </a:rPr>
              <a:t>MODEL PIPELINES</a:t>
            </a:r>
          </a:p>
        </p:txBody>
      </p:sp>
      <p:sp>
        <p:nvSpPr>
          <p:cNvPr id="22" name="">
            <a:extLst xmlns:a="http://schemas.openxmlformats.org/drawingml/2006/main">
              <a:ext uri="{FF2B5EF4-FFF2-40B4-BE49-F238E27FC236}">
                <a16:creationId xmlns:a16="http://schemas.microsoft.com/office/drawing/2014/main" id="{3E47E739-7462-425E-95C8-554704ADC833}"/>
              </a:ext>
            </a:extLst>
          </p:cNvPr>
          <p:cNvSpPr>
            <a:spLocks xmlns:a="http://schemas.openxmlformats.org/drawingml/2006/main" noGrp="1"/>
          </p:cNvSpPr>
          <p:nvPr/>
        </p:nvSpPr>
        <p:spPr>
          <a:xfrm xmlns:a="http://schemas.openxmlformats.org/drawingml/2006/main">
            <a:off x="8058150" y="26670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FFFFF"/>
                </a:solidFill>
                <a:latin typeface="Arial"/>
                <a:ea typeface="Arial"/>
                <a:cs typeface="Arial"/>
              </a:defRPr>
            </a:defPPr>
          </a:lstStyle>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joblib</a:t>
            </a:r>
          </a:p>
        </p:txBody>
      </p:sp>
      <p:sp>
        <p:nvSpPr>
          <p:cNvPr id="23" name="">
            <a:extLst xmlns:a="http://schemas.openxmlformats.org/drawingml/2006/main">
              <a:ext uri="{FF2B5EF4-FFF2-40B4-BE49-F238E27FC236}">
                <a16:creationId xmlns:a16="http://schemas.microsoft.com/office/drawing/2014/main" id="{C4D2DE81-9408-4D27-94AD-9B4FD49628DB}"/>
              </a:ext>
            </a:extLst>
          </p:cNvPr>
          <p:cNvSpPr>
            <a:spLocks xmlns:a="http://schemas.openxmlformats.org/drawingml/2006/main" noGrp="1"/>
          </p:cNvSpPr>
          <p:nvPr/>
        </p:nvSpPr>
        <p:spPr>
          <a:xfrm xmlns:a="http://schemas.openxmlformats.org/drawingml/2006/main">
            <a:off x="9658350" y="2571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6B4F"/>
                </a:solidFill>
                <a:latin typeface="Arial"/>
                <a:ea typeface="Arial"/>
                <a:cs typeface="Arial"/>
              </a:defRPr>
            </a:defPPr>
          </a:lstStyle>
          <a:p xmlns:a="http://schemas.openxmlformats.org/drawingml/2006/main">
            <a:pPr algn="ctr">
              <a:defRPr sz="1275" b="1">
                <a:solidFill>
                  <a:srgbClr val="276B4F"/>
                </a:solidFill>
                <a:latin typeface="Arial"/>
                <a:ea typeface="Arial"/>
                <a:cs typeface="Arial"/>
              </a:defRPr>
            </a:pPr>
            <a:r>
              <a:rPr sz="1275" b="1">
                <a:solidFill>
                  <a:srgbClr val="276B4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BC35DE4C-9837-4E9A-B5A9-7E9E252569C5}"/>
              </a:ext>
            </a:extLst>
          </p:cNvPr>
          <p:cNvSpPr>
            <a:spLocks xmlns:a="http://schemas.openxmlformats.org/drawingml/2006/main" noGrp="1"/>
          </p:cNvSpPr>
          <p:nvPr/>
        </p:nvSpPr>
        <p:spPr>
          <a:xfrm xmlns:a="http://schemas.openxmlformats.org/drawingml/2006/main">
            <a:off x="10001250" y="2190750"/>
            <a:ext cx="1600200" cy="100012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EE5DE"/>
            </a:solidFill>
            <a:prstDash val="solid"/>
          </a:ln>
        </p:spPr>
      </p:sp>
      <p:sp>
        <p:nvSpPr>
          <p:cNvPr id="25" name="">
            <a:extLst xmlns:a="http://schemas.openxmlformats.org/drawingml/2006/main">
              <a:ext uri="{FF2B5EF4-FFF2-40B4-BE49-F238E27FC236}">
                <a16:creationId xmlns:a16="http://schemas.microsoft.com/office/drawing/2014/main" id="{FC4E0B6F-CA07-4E9A-8944-F7C434089F2B}"/>
              </a:ext>
            </a:extLst>
          </p:cNvPr>
          <p:cNvSpPr>
            <a:spLocks xmlns:a="http://schemas.openxmlformats.org/drawingml/2006/main" noGrp="1"/>
          </p:cNvSpPr>
          <p:nvPr/>
        </p:nvSpPr>
        <p:spPr>
          <a:xfrm xmlns:a="http://schemas.openxmlformats.org/drawingml/2006/main">
            <a:off x="10125075" y="2362200"/>
            <a:ext cx="1352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F630FDF7-7A4A-4A60-9029-EE017DF7C566}"/>
              </a:ext>
            </a:extLst>
          </p:cNvPr>
          <p:cNvSpPr>
            <a:spLocks xmlns:a="http://schemas.openxmlformats.org/drawingml/2006/main" noGrp="1"/>
          </p:cNvSpPr>
          <p:nvPr/>
        </p:nvSpPr>
        <p:spPr>
          <a:xfrm xmlns:a="http://schemas.openxmlformats.org/drawingml/2006/main">
            <a:off x="10125075" y="266700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agency + hours</a:t>
            </a:r>
          </a:p>
        </p:txBody>
      </p:sp>
      <p:sp>
        <p:nvSpPr>
          <p:cNvPr id="27" name="">
            <a:extLst xmlns:a="http://schemas.openxmlformats.org/drawingml/2006/main">
              <a:ext uri="{FF2B5EF4-FFF2-40B4-BE49-F238E27FC236}">
                <a16:creationId xmlns:a16="http://schemas.microsoft.com/office/drawing/2014/main" id="{EE82D75B-CEDF-4D93-9180-0B508ECA99C4}"/>
              </a:ext>
            </a:extLst>
          </p:cNvPr>
          <p:cNvSpPr>
            <a:spLocks xmlns:a="http://schemas.openxmlformats.org/drawingml/2006/main" noGrp="1"/>
          </p:cNvSpPr>
          <p:nvPr/>
        </p:nvSpPr>
        <p:spPr>
          <a:xfrm xmlns:a="http://schemas.openxmlformats.org/drawingml/2006/main">
            <a:off x="10744200" y="3190875"/>
            <a:ext cx="19050" cy="733425"/>
          </a:xfrm>
          <a:prstGeom xmlns:a="http://schemas.openxmlformats.org/drawingml/2006/main" prst="rect">
            <a:avLst/>
          </a:prstGeom>
          <a:solidFill xmlns:a="http://schemas.openxmlformats.org/drawingml/2006/main">
            <a:srgbClr val="D28C4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EACCD6F-2DEA-468A-9574-CEB31FF41708}"/>
              </a:ext>
            </a:extLst>
          </p:cNvPr>
          <p:cNvSpPr>
            <a:spLocks xmlns:a="http://schemas.openxmlformats.org/drawingml/2006/main" noGrp="1"/>
          </p:cNvSpPr>
          <p:nvPr/>
        </p:nvSpPr>
        <p:spPr>
          <a:xfrm xmlns:a="http://schemas.openxmlformats.org/drawingml/2006/main">
            <a:off x="7743825" y="4048125"/>
            <a:ext cx="3857625" cy="1028700"/>
          </a:xfrm>
          <a:prstGeom xmlns:a="http://schemas.openxmlformats.org/drawingml/2006/main" prst="roundRect">
            <a:avLst>
              <a:gd name="adj" fmla="val 9259"/>
            </a:avLst>
          </a:prstGeom>
          <a:solidFill xmlns:a="http://schemas.openxmlformats.org/drawingml/2006/main">
            <a:srgbClr val="F7EDE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0C76CD9-E332-4C48-9D19-F9594DB5AFFC}"/>
              </a:ext>
            </a:extLst>
          </p:cNvPr>
          <p:cNvSpPr>
            <a:spLocks xmlns:a="http://schemas.openxmlformats.org/drawingml/2006/main" noGrp="1"/>
          </p:cNvSpPr>
          <p:nvPr/>
        </p:nvSpPr>
        <p:spPr>
          <a:xfrm xmlns:a="http://schemas.openxmlformats.org/drawingml/2006/main">
            <a:off x="7953375" y="422910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996C3E"/>
                </a:solidFill>
                <a:latin typeface="Arial"/>
                <a:ea typeface="Arial"/>
                <a:cs typeface="Arial"/>
              </a:defRPr>
            </a:defPPr>
          </a:lstStyle>
          <a:p xmlns:a="http://schemas.openxmlformats.org/drawingml/2006/main">
            <a:pPr algn="l">
              <a:defRPr sz="750" b="1">
                <a:solidFill>
                  <a:srgbClr val="996C3E"/>
                </a:solidFill>
                <a:latin typeface="Arial"/>
                <a:ea typeface="Arial"/>
                <a:cs typeface="Arial"/>
              </a:defRPr>
            </a:pPr>
            <a:r>
              <a:rPr sz="750" b="1">
                <a:solidFill>
                  <a:srgbClr val="996C3E"/>
                </a:solidFill>
                <a:latin typeface="Arial"/>
                <a:ea typeface="Arial"/>
                <a:cs typeface="Arial"/>
              </a:rPr>
              <a:t>TRACE LOG</a:t>
            </a:r>
          </a:p>
        </p:txBody>
      </p:sp>
      <p:sp>
        <p:nvSpPr>
          <p:cNvPr id="30" name="">
            <a:extLst xmlns:a="http://schemas.openxmlformats.org/drawingml/2006/main">
              <a:ext uri="{FF2B5EF4-FFF2-40B4-BE49-F238E27FC236}">
                <a16:creationId xmlns:a16="http://schemas.microsoft.com/office/drawing/2014/main" id="{B285F5E3-0DF4-4C86-9BD8-BDDC0D98E140}"/>
              </a:ext>
            </a:extLst>
          </p:cNvPr>
          <p:cNvSpPr>
            <a:spLocks xmlns:a="http://schemas.openxmlformats.org/drawingml/2006/main" noGrp="1"/>
          </p:cNvSpPr>
          <p:nvPr/>
        </p:nvSpPr>
        <p:spPr>
          <a:xfrm xmlns:a="http://schemas.openxmlformats.org/drawingml/2006/main">
            <a:off x="7953375" y="45148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Input · model version · evaluation run · prediction · latency</a:t>
            </a:r>
          </a:p>
        </p:txBody>
      </p:sp>
      <p:sp>
        <p:nvSpPr>
          <p:cNvPr id="31" name="">
            <a:extLst xmlns:a="http://schemas.openxmlformats.org/drawingml/2006/main">
              <a:ext uri="{FF2B5EF4-FFF2-40B4-BE49-F238E27FC236}">
                <a16:creationId xmlns:a16="http://schemas.microsoft.com/office/drawing/2014/main" id="{C299FEF5-3B24-45F4-A054-7F50DF0EF25A}"/>
              </a:ext>
            </a:extLst>
          </p:cNvPr>
          <p:cNvSpPr>
            <a:spLocks xmlns:a="http://schemas.openxmlformats.org/drawingml/2006/main" noGrp="1"/>
          </p:cNvSpPr>
          <p:nvPr/>
        </p:nvSpPr>
        <p:spPr>
          <a:xfrm xmlns:a="http://schemas.openxmlformats.org/drawingml/2006/main">
            <a:off x="7953375" y="48577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logs/prediction_log.jsonl</a:t>
            </a:r>
          </a:p>
        </p:txBody>
      </p:sp>
      <p:sp>
        <p:nvSpPr>
          <p:cNvPr id="32" name="">
            <a:extLst xmlns:a="http://schemas.openxmlformats.org/drawingml/2006/main">
              <a:ext uri="{FF2B5EF4-FFF2-40B4-BE49-F238E27FC236}">
                <a16:creationId xmlns:a16="http://schemas.microsoft.com/office/drawing/2014/main" id="{2FF43353-EAC1-4362-87BB-587F56D0F121}"/>
              </a:ext>
            </a:extLst>
          </p:cNvPr>
          <p:cNvSpPr>
            <a:spLocks xmlns:a="http://schemas.openxmlformats.org/drawingml/2006/main" noGrp="1"/>
          </p:cNvSpPr>
          <p:nvPr/>
        </p:nvSpPr>
        <p:spPr>
          <a:xfrm xmlns:a="http://schemas.openxmlformats.org/drawingml/2006/main">
            <a:off x="3448050" y="4048125"/>
            <a:ext cx="3857625" cy="1028700"/>
          </a:xfrm>
          <a:prstGeom xmlns:a="http://schemas.openxmlformats.org/drawingml/2006/main" prst="roundRect">
            <a:avLst>
              <a:gd name="adj" fmla="val 9259"/>
            </a:avLst>
          </a:prstGeom>
          <a:solidFill xmlns:a="http://schemas.openxmlformats.org/drawingml/2006/main">
            <a:srgbClr val="E8F1E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6FAFC68-B174-48AA-B046-CAB396717F01}"/>
              </a:ext>
            </a:extLst>
          </p:cNvPr>
          <p:cNvSpPr>
            <a:spLocks xmlns:a="http://schemas.openxmlformats.org/drawingml/2006/main" noGrp="1"/>
          </p:cNvSpPr>
          <p:nvPr/>
        </p:nvSpPr>
        <p:spPr>
          <a:xfrm xmlns:a="http://schemas.openxmlformats.org/drawingml/2006/main">
            <a:off x="3667125" y="422910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MONITORING</a:t>
            </a:r>
          </a:p>
        </p:txBody>
      </p:sp>
      <p:sp>
        <p:nvSpPr>
          <p:cNvPr id="34" name="">
            <a:extLst xmlns:a="http://schemas.openxmlformats.org/drawingml/2006/main">
              <a:ext uri="{FF2B5EF4-FFF2-40B4-BE49-F238E27FC236}">
                <a16:creationId xmlns:a16="http://schemas.microsoft.com/office/drawing/2014/main" id="{84D0B428-5808-49DC-BEFA-5BDE4D204411}"/>
              </a:ext>
            </a:extLst>
          </p:cNvPr>
          <p:cNvSpPr>
            <a:spLocks xmlns:a="http://schemas.openxmlformats.org/drawingml/2006/main" noGrp="1"/>
          </p:cNvSpPr>
          <p:nvPr/>
        </p:nvSpPr>
        <p:spPr>
          <a:xfrm xmlns:a="http://schemas.openxmlformats.org/drawingml/2006/main">
            <a:off x="3667125" y="4514850"/>
            <a:ext cx="3371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Borough + complaint drift; accuracy + MAE from delayed outcomes</a:t>
            </a:r>
          </a:p>
        </p:txBody>
      </p:sp>
      <p:sp>
        <p:nvSpPr>
          <p:cNvPr id="35" name="">
            <a:extLst xmlns:a="http://schemas.openxmlformats.org/drawingml/2006/main">
              <a:ext uri="{FF2B5EF4-FFF2-40B4-BE49-F238E27FC236}">
                <a16:creationId xmlns:a16="http://schemas.microsoft.com/office/drawing/2014/main" id="{91C27583-0D23-4164-8B40-23EE453A9469}"/>
              </a:ext>
            </a:extLst>
          </p:cNvPr>
          <p:cNvSpPr>
            <a:spLocks xmlns:a="http://schemas.openxmlformats.org/drawingml/2006/main" noGrp="1"/>
          </p:cNvSpPr>
          <p:nvPr/>
        </p:nvSpPr>
        <p:spPr>
          <a:xfrm xmlns:a="http://schemas.openxmlformats.org/drawingml/2006/main">
            <a:off x="590550" y="5476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5271E"/>
                </a:solidFill>
                <a:latin typeface="Arial"/>
                <a:ea typeface="Arial"/>
                <a:cs typeface="Arial"/>
              </a:defRPr>
            </a:defPPr>
          </a:lstStyle>
          <a:p xmlns:a="http://schemas.openxmlformats.org/drawingml/2006/main">
            <a:pPr algn="l">
              <a:defRPr sz="975" b="1">
                <a:solidFill>
                  <a:srgbClr val="15271E"/>
                </a:solidFill>
                <a:latin typeface="Arial"/>
                <a:ea typeface="Arial"/>
                <a:cs typeface="Arial"/>
              </a:defRPr>
            </a:pPr>
            <a:r>
              <a:rPr sz="975" b="1">
                <a:solidFill>
                  <a:srgbClr val="15271E"/>
                </a:solidFill>
                <a:latin typeface="Arial"/>
                <a:ea typeface="Arial"/>
                <a:cs typeface="Arial"/>
              </a:rPr>
              <a:t>GET /health  ·  GET /api/summary  ·  POST /api/feedback</a:t>
            </a:r>
          </a:p>
        </p:txBody>
      </p:sp>
      <p:sp>
        <p:nvSpPr>
          <p:cNvPr id="36" name="">
            <a:extLst xmlns:a="http://schemas.openxmlformats.org/drawingml/2006/main">
              <a:ext uri="{FF2B5EF4-FFF2-40B4-BE49-F238E27FC236}">
                <a16:creationId xmlns:a16="http://schemas.microsoft.com/office/drawing/2014/main" id="{7FBA8229-6E6B-4BE7-80D2-D611F442AEA0}"/>
              </a:ext>
            </a:extLst>
          </p:cNvPr>
          <p:cNvSpPr>
            <a:spLocks xmlns:a="http://schemas.openxmlformats.org/drawingml/2006/main" noGrp="1"/>
          </p:cNvSpPr>
          <p:nvPr/>
        </p:nvSpPr>
        <p:spPr>
          <a:xfrm xmlns:a="http://schemas.openxmlformats.org/drawingml/2006/main">
            <a:off x="590550" y="5800725"/>
            <a:ext cx="107156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a:solidFill>
                  <a:srgbClr val="66756B"/>
                </a:solidFill>
                <a:latin typeface="Arial"/>
                <a:ea typeface="Arial"/>
                <a:cs typeface="Arial"/>
              </a:defRPr>
            </a:defPPr>
          </a:lstStyle>
          <a:p xmlns:a="http://schemas.openxmlformats.org/drawingml/2006/main">
            <a:pPr algn="l">
              <a:defRPr sz="750" b="0">
                <a:solidFill>
                  <a:srgbClr val="66756B"/>
                </a:solidFill>
                <a:latin typeface="Arial"/>
                <a:ea typeface="Arial"/>
                <a:cs typeface="Arial"/>
              </a:defRPr>
            </a:pPr>
            <a:r>
              <a:rPr sz="750" b="0">
                <a:solidFill>
                  <a:srgbClr val="66756B"/>
                </a:solidFill>
                <a:latin typeface="Arial"/>
                <a:ea typeface="Arial"/>
                <a:cs typeface="Arial"/>
              </a:rPr>
              <a:t>Feedback is matched to a trace ID. Shift alerts are simple review signals, not statistical tests.</a:t>
            </a:r>
          </a:p>
        </p:txBody>
      </p:sp>
    </p:spTree>
    <p:extLst>
      <p:ext uri="{BB962C8B-B14F-4D97-AF65-F5344CB8AC3E}">
        <p14:creationId xmlns:p14="http://schemas.microsoft.com/office/powerpoint/2010/main" val="521604454"/>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40C1AB-9666-4B16-8412-6B6D9F6B5966}"/>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43DCF9-7E04-4768-973A-AB6CCFD6BB91}"/>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10  /  COURSE OUTCOME ALIGNMENT</a:t>
            </a:r>
          </a:p>
        </p:txBody>
      </p:sp>
      <p:sp>
        <p:nvSpPr>
          <p:cNvPr id="3" name="">
            <a:extLst xmlns:a="http://schemas.openxmlformats.org/drawingml/2006/main">
              <a:ext uri="{FF2B5EF4-FFF2-40B4-BE49-F238E27FC236}">
                <a16:creationId xmlns:a16="http://schemas.microsoft.com/office/drawing/2014/main" id="{94FCCDF5-E388-45D2-BB9A-840D8CAB7F0C}"/>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Course outcomes mapped to project evidence</a:t>
            </a:r>
          </a:p>
        </p:txBody>
      </p:sp>
      <p:sp>
        <p:nvSpPr>
          <p:cNvPr id="4" name="">
            <a:extLst xmlns:a="http://schemas.openxmlformats.org/drawingml/2006/main">
              <a:ext uri="{FF2B5EF4-FFF2-40B4-BE49-F238E27FC236}">
                <a16:creationId xmlns:a16="http://schemas.microsoft.com/office/drawing/2014/main" id="{FB59677D-DD90-4DC1-AFA0-00B3DACDEFC3}"/>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093646-1A8A-40F7-AE01-F8CCA178FD6B}"/>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990F5620-6DAA-4C03-A003-74F1ADE98991}"/>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C15D7F0A-65A1-430E-9495-141375C0BB70}"/>
              </a:ext>
            </a:extLst>
          </p:cNvPr>
          <p:cNvSpPr>
            <a:spLocks xmlns:a="http://schemas.openxmlformats.org/drawingml/2006/main" noGrp="1"/>
          </p:cNvSpPr>
          <p:nvPr/>
        </p:nvSpPr>
        <p:spPr>
          <a:xfrm xmlns:a="http://schemas.openxmlformats.org/drawingml/2006/main">
            <a:off x="590550" y="1524000"/>
            <a:ext cx="10810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6756B"/>
                </a:solidFill>
                <a:latin typeface="Arial"/>
                <a:ea typeface="Arial"/>
                <a:cs typeface="Arial"/>
              </a:defRPr>
            </a:defPPr>
          </a:lstStyle>
          <a:p xmlns:a="http://schemas.openxmlformats.org/drawingml/2006/main">
            <a:pPr algn="l">
              <a:defRPr sz="1200" b="0">
                <a:solidFill>
                  <a:srgbClr val="66756B"/>
                </a:solidFill>
                <a:latin typeface="Arial"/>
                <a:ea typeface="Arial"/>
                <a:cs typeface="Arial"/>
              </a:defRPr>
            </a:pPr>
            <a:r>
              <a:rPr sz="1200" b="0">
                <a:solidFill>
                  <a:srgbClr val="66756B"/>
                </a:solidFill>
                <a:latin typeface="Arial"/>
                <a:ea typeface="Arial"/>
                <a:cs typeface="Arial"/>
              </a:rPr>
              <a:t>Each outcome is visible in a page, model artifact, evaluation result or serving workflow.</a:t>
            </a:r>
          </a:p>
        </p:txBody>
      </p:sp>
      <p:graphicFrame>
        <p:nvGraphicFramePr>
          <p:cNvPr id="8" name="">
            <a:extLst xmlns:a="http://schemas.openxmlformats.org/drawingml/2006/main">
              <a:ext uri="{FF2B5EF4-FFF2-40B4-BE49-F238E27FC236}">
                <a16:creationId xmlns:a16="http://schemas.microsoft.com/office/drawing/2014/main" id="{81FA2067-1267-42DF-ACC4-0F1006E79C53}"/>
              </a:ext>
            </a:extLst>
          </p:cNvPr>
          <p:cNvGraphicFramePr/>
          <p:nvPr/>
        </p:nvGraphicFramePr>
        <p:xfrm>
          <a:off xmlns:a="http://schemas.openxmlformats.org/drawingml/2006/main" x="590550" y="2047875"/>
          <a:ext xmlns:a="http://schemas.openxmlformats.org/drawingml/2006/main" cx="11010900" cy="3371850"/>
        </p:xfrm>
        <a:graphic xmlns:a="http://schemas.openxmlformats.org/drawingml/2006/main">
          <a:graphicData uri="http://schemas.openxmlformats.org/drawingml/2006/table">
            <a:tbl>
              <a:tblPr/>
              <a:tblGrid>
                <a:gridCol w="685800"/>
                <a:gridCol w="5191125"/>
                <a:gridCol w="3333750"/>
                <a:gridCol w="1800225"/>
              </a:tblGrid>
              <a:tr h="481693">
                <a:tc>
                  <a:txBody>
                    <a:bodyPr lIns="95250" tIns="47625" rIns="76200" bIns="47625">
                      <a:normAutofit/>
                    </a:bodyPr>
                    <a:lstStyle/>
                    <a:p>
                      <a:r>
                        <a:rPr sz="900" b="1">
                          <a:solidFill>
                            <a:srgbClr val="FFFFFF"/>
                          </a:solidFill>
                          <a:latin typeface="Arial"/>
                          <a:ea typeface="Arial"/>
                          <a:cs typeface="Arial"/>
                        </a:rPr>
                        <a:t>CO</a:t>
                      </a:r>
                    </a:p>
                  </a:txBody>
                  <a:tcPr marL="91440" marR="91440" marT="45720" marB="45720" anchor="ctr">
                    <a:lnL w="9525">
                      <a:solidFill>
                        <a:srgbClr val="DEE5DE"/>
                      </a:solidFill>
                      <a:prstDash val="solid"/>
                    </a:lnL>
                    <a:lnR w="9525">
                      <a:solidFill>
                        <a:srgbClr val="DEE5DE"/>
                      </a:solidFill>
                      <a:prstDash val="solid"/>
                    </a:lnR>
                    <a:lnT w="9525">
                      <a:solidFill>
                        <a:srgbClr val="DEE5DE"/>
                      </a:solidFill>
                      <a:prstDash val="solid"/>
                    </a:lnT>
                    <a:lnB w="9525">
                      <a:solidFill>
                        <a:srgbClr val="DEE5DE"/>
                      </a:solidFill>
                      <a:prstDash val="solid"/>
                    </a:lnB>
                    <a:solidFill>
                      <a:srgbClr val="10231B"/>
                    </a:solidFill>
                  </a:tcPr>
                </a:tc>
                <a:tc>
                  <a:txBody>
                    <a:bodyPr lIns="95250" tIns="47625" rIns="76200" bIns="47625">
                      <a:normAutofit/>
                    </a:bodyPr>
                    <a:lstStyle/>
                    <a:p>
                      <a:r>
                        <a:rPr sz="900" b="1">
                          <a:solidFill>
                            <a:srgbClr val="FFFFFF"/>
                          </a:solidFill>
                          <a:latin typeface="Arial"/>
                          <a:ea typeface="Arial"/>
                          <a:cs typeface="Arial"/>
                        </a:rPr>
                        <a:t>Implemented evidence</a:t>
                      </a:r>
                    </a:p>
                  </a:txBody>
                  <a:tcPr marL="91440" marR="91440" marT="45720" marB="45720" anchor="ctr">
                    <a:lnR w="9525">
                      <a:solidFill>
                        <a:srgbClr val="DEE5DE"/>
                      </a:solidFill>
                      <a:prstDash val="solid"/>
                    </a:lnR>
                    <a:lnT w="9525">
                      <a:solidFill>
                        <a:srgbClr val="DEE5DE"/>
                      </a:solidFill>
                      <a:prstDash val="solid"/>
                    </a:lnT>
                    <a:lnB w="9525">
                      <a:solidFill>
                        <a:srgbClr val="DEE5DE"/>
                      </a:solidFill>
                      <a:prstDash val="solid"/>
                    </a:lnB>
                    <a:solidFill>
                      <a:srgbClr val="10231B"/>
                    </a:solidFill>
                  </a:tcPr>
                </a:tc>
                <a:tc>
                  <a:txBody>
                    <a:bodyPr lIns="95250" tIns="47625" rIns="76200" bIns="47625">
                      <a:normAutofit/>
                    </a:bodyPr>
                    <a:lstStyle/>
                    <a:p>
                      <a:r>
                        <a:rPr sz="900" b="1">
                          <a:solidFill>
                            <a:srgbClr val="FFFFFF"/>
                          </a:solidFill>
                          <a:latin typeface="Arial"/>
                          <a:ea typeface="Arial"/>
                          <a:cs typeface="Arial"/>
                        </a:rPr>
                        <a:t>PO / PSO</a:t>
                      </a:r>
                    </a:p>
                  </a:txBody>
                  <a:tcPr marL="91440" marR="91440" marT="45720" marB="45720" anchor="ctr">
                    <a:lnR w="9525">
                      <a:solidFill>
                        <a:srgbClr val="DEE5DE"/>
                      </a:solidFill>
                      <a:prstDash val="solid"/>
                    </a:lnR>
                    <a:lnT w="9525">
                      <a:solidFill>
                        <a:srgbClr val="DEE5DE"/>
                      </a:solidFill>
                      <a:prstDash val="solid"/>
                    </a:lnT>
                    <a:lnB w="9525">
                      <a:solidFill>
                        <a:srgbClr val="DEE5DE"/>
                      </a:solidFill>
                      <a:prstDash val="solid"/>
                    </a:lnB>
                    <a:solidFill>
                      <a:srgbClr val="10231B"/>
                    </a:solidFill>
                  </a:tcPr>
                </a:tc>
                <a:tc>
                  <a:txBody>
                    <a:bodyPr lIns="95250" tIns="47625" rIns="76200" bIns="47625">
                      <a:normAutofit/>
                    </a:bodyPr>
                    <a:lstStyle/>
                    <a:p>
                      <a:r>
                        <a:rPr sz="900" b="1">
                          <a:solidFill>
                            <a:srgbClr val="FFFFFF"/>
                          </a:solidFill>
                          <a:latin typeface="Arial"/>
                          <a:ea typeface="Arial"/>
                          <a:cs typeface="Arial"/>
                        </a:rPr>
                        <a:t>BTL</a:t>
                      </a:r>
                    </a:p>
                  </a:txBody>
                  <a:tcPr marL="91440" marR="91440" marT="45720" marB="45720" anchor="ctr">
                    <a:lnR w="9525">
                      <a:solidFill>
                        <a:srgbClr val="DEE5DE"/>
                      </a:solidFill>
                      <a:prstDash val="solid"/>
                    </a:lnR>
                    <a:lnT w="9525">
                      <a:solidFill>
                        <a:srgbClr val="DEE5DE"/>
                      </a:solidFill>
                      <a:prstDash val="solid"/>
                    </a:lnT>
                    <a:lnB w="9525">
                      <a:solidFill>
                        <a:srgbClr val="DEE5DE"/>
                      </a:solidFill>
                      <a:prstDash val="solid"/>
                    </a:lnB>
                    <a:solidFill>
                      <a:srgbClr val="10231B"/>
                    </a:solidFill>
                  </a:tcPr>
                </a:tc>
              </a:tr>
              <a:tr h="481693">
                <a:tc>
                  <a:txBody>
                    <a:bodyPr lIns="95250" tIns="47625" rIns="76200" bIns="47625">
                      <a:normAutofit/>
                    </a:bodyPr>
                    <a:lstStyle/>
                    <a:p>
                      <a:r>
                        <a:rPr sz="900" b="1">
                          <a:solidFill>
                            <a:srgbClr val="15271E"/>
                          </a:solidFill>
                          <a:latin typeface="Arial"/>
                          <a:ea typeface="Arial"/>
                          <a:cs typeface="Arial"/>
                        </a:rPr>
                        <a:t>CO1</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Lifecycle stages + traceable request logs</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PO2 · PSO1 · PO3 · PO1</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4 · Analyze</a:t>
                      </a:r>
                    </a:p>
                  </a:txBody>
                  <a:tcPr marL="91440" marR="91440" marT="45720" marB="45720" anchor="ctr">
                    <a:lnR w="9525">
                      <a:solidFill>
                        <a:srgbClr val="DEE5DE"/>
                      </a:solidFill>
                      <a:prstDash val="solid"/>
                    </a:lnR>
                    <a:lnB w="9525">
                      <a:solidFill>
                        <a:srgbClr val="DEE5DE"/>
                      </a:solidFill>
                      <a:prstDash val="solid"/>
                    </a:lnB>
                    <a:solidFill>
                      <a:srgbClr val="F0F4F0"/>
                    </a:solidFill>
                  </a:tcPr>
                </a:tc>
              </a:tr>
              <a:tr h="481693">
                <a:tc>
                  <a:txBody>
                    <a:bodyPr lIns="95250" tIns="47625" rIns="76200" bIns="47625">
                      <a:normAutofit/>
                    </a:bodyPr>
                    <a:lstStyle/>
                    <a:p>
                      <a:r>
                        <a:rPr sz="900" b="1">
                          <a:solidFill>
                            <a:srgbClr val="15271E"/>
                          </a:solidFill>
                          <a:latin typeface="Arial"/>
                          <a:ea typeface="Arial"/>
                          <a:cs typeface="Arial"/>
                        </a:rPr>
                        <a:t>CO2</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Linear / regularized regression + logistic routing</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PO1 · PO2 · PO3 · PSO1</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3 · Apply</a:t>
                      </a:r>
                    </a:p>
                  </a:txBody>
                  <a:tcPr marL="91440" marR="91440" marT="45720" marB="45720" anchor="ctr">
                    <a:lnR w="9525">
                      <a:solidFill>
                        <a:srgbClr val="DEE5DE"/>
                      </a:solidFill>
                      <a:prstDash val="solid"/>
                    </a:lnR>
                    <a:lnB w="9525">
                      <a:solidFill>
                        <a:srgbClr val="DEE5DE"/>
                      </a:solidFill>
                      <a:prstDash val="solid"/>
                    </a:lnB>
                    <a:solidFill>
                      <a:srgbClr val="FFFFFF"/>
                    </a:solidFill>
                  </a:tcPr>
                </a:tc>
              </a:tr>
              <a:tr h="481693">
                <a:tc>
                  <a:txBody>
                    <a:bodyPr lIns="95250" tIns="47625" rIns="76200" bIns="47625">
                      <a:normAutofit/>
                    </a:bodyPr>
                    <a:lstStyle/>
                    <a:p>
                      <a:r>
                        <a:rPr sz="900" b="1">
                          <a:solidFill>
                            <a:srgbClr val="15271E"/>
                          </a:solidFill>
                          <a:latin typeface="Arial"/>
                          <a:ea typeface="Arial"/>
                          <a:cs typeface="Arial"/>
                        </a:rPr>
                        <a:t>CO3</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Decision trees, forests, boosting + XGBoost</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PO1 · PO3 · PSO1</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3 · Apply</a:t>
                      </a:r>
                    </a:p>
                  </a:txBody>
                  <a:tcPr marL="91440" marR="91440" marT="45720" marB="45720" anchor="ctr">
                    <a:lnR w="9525">
                      <a:solidFill>
                        <a:srgbClr val="DEE5DE"/>
                      </a:solidFill>
                      <a:prstDash val="solid"/>
                    </a:lnR>
                    <a:lnB w="9525">
                      <a:solidFill>
                        <a:srgbClr val="DEE5DE"/>
                      </a:solidFill>
                      <a:prstDash val="solid"/>
                    </a:lnB>
                    <a:solidFill>
                      <a:srgbClr val="F0F4F0"/>
                    </a:solidFill>
                  </a:tcPr>
                </a:tc>
              </a:tr>
              <a:tr h="481693">
                <a:tc>
                  <a:txBody>
                    <a:bodyPr lIns="95250" tIns="47625" rIns="76200" bIns="47625">
                      <a:normAutofit/>
                    </a:bodyPr>
                    <a:lstStyle/>
                    <a:p>
                      <a:r>
                        <a:rPr sz="900" b="1">
                          <a:solidFill>
                            <a:srgbClr val="15271E"/>
                          </a:solidFill>
                          <a:latin typeface="Arial"/>
                          <a:ea typeface="Arial"/>
                          <a:cs typeface="Arial"/>
                        </a:rPr>
                        <a:t>CO4</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K-means, hierarchy, DBSCAN, PCA, t-SNE, anomalies</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PO1 · PSO1 · PO2</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3 · Apply</a:t>
                      </a:r>
                    </a:p>
                  </a:txBody>
                  <a:tcPr marL="91440" marR="91440" marT="45720" marB="45720" anchor="ctr">
                    <a:lnR w="9525">
                      <a:solidFill>
                        <a:srgbClr val="DEE5DE"/>
                      </a:solidFill>
                      <a:prstDash val="solid"/>
                    </a:lnR>
                    <a:lnB w="9525">
                      <a:solidFill>
                        <a:srgbClr val="DEE5DE"/>
                      </a:solidFill>
                      <a:prstDash val="solid"/>
                    </a:lnB>
                    <a:solidFill>
                      <a:srgbClr val="FFFFFF"/>
                    </a:solidFill>
                  </a:tcPr>
                </a:tc>
              </a:tr>
              <a:tr h="481693">
                <a:tc>
                  <a:txBody>
                    <a:bodyPr lIns="95250" tIns="47625" rIns="76200" bIns="47625">
                      <a:normAutofit/>
                    </a:bodyPr>
                    <a:lstStyle/>
                    <a:p>
                      <a:r>
                        <a:rPr sz="900" b="1">
                          <a:solidFill>
                            <a:srgbClr val="15271E"/>
                          </a:solidFill>
                          <a:latin typeface="Arial"/>
                          <a:ea typeface="Arial"/>
                          <a:cs typeface="Arial"/>
                        </a:rPr>
                        <a:t>CO5</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Holdout/CV metrics, calibration + hyperparameter search</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PO1 · PO2 · PSO1 · PO4</a:t>
                      </a:r>
                    </a:p>
                  </a:txBody>
                  <a:tcPr marL="91440" marR="91440" marT="45720" marB="45720" anchor="ctr">
                    <a:lnR w="9525">
                      <a:solidFill>
                        <a:srgbClr val="DEE5DE"/>
                      </a:solidFill>
                      <a:prstDash val="solid"/>
                    </a:lnR>
                    <a:lnB w="9525">
                      <a:solidFill>
                        <a:srgbClr val="DEE5DE"/>
                      </a:solidFill>
                      <a:prstDash val="solid"/>
                    </a:lnB>
                    <a:solidFill>
                      <a:srgbClr val="F0F4F0"/>
                    </a:solidFill>
                  </a:tcPr>
                </a:tc>
                <a:tc>
                  <a:txBody>
                    <a:bodyPr lIns="95250" tIns="47625" rIns="76200" bIns="47625">
                      <a:normAutofit/>
                    </a:bodyPr>
                    <a:lstStyle/>
                    <a:p>
                      <a:r>
                        <a:rPr sz="900" b="0">
                          <a:solidFill>
                            <a:srgbClr val="15271E"/>
                          </a:solidFill>
                          <a:latin typeface="Arial"/>
                          <a:ea typeface="Arial"/>
                          <a:cs typeface="Arial"/>
                        </a:rPr>
                        <a:t>4 · Analyze</a:t>
                      </a:r>
                    </a:p>
                  </a:txBody>
                  <a:tcPr marL="91440" marR="91440" marT="45720" marB="45720" anchor="ctr">
                    <a:lnR w="9525">
                      <a:solidFill>
                        <a:srgbClr val="DEE5DE"/>
                      </a:solidFill>
                      <a:prstDash val="solid"/>
                    </a:lnR>
                    <a:lnB w="9525">
                      <a:solidFill>
                        <a:srgbClr val="DEE5DE"/>
                      </a:solidFill>
                      <a:prstDash val="solid"/>
                    </a:lnB>
                    <a:solidFill>
                      <a:srgbClr val="F0F4F0"/>
                    </a:solidFill>
                  </a:tcPr>
                </a:tc>
              </a:tr>
              <a:tr h="481693">
                <a:tc>
                  <a:txBody>
                    <a:bodyPr lIns="95250" tIns="47625" rIns="76200" bIns="47625">
                      <a:normAutofit/>
                    </a:bodyPr>
                    <a:lstStyle/>
                    <a:p>
                      <a:r>
                        <a:rPr sz="900" b="1">
                          <a:solidFill>
                            <a:srgbClr val="15271E"/>
                          </a:solidFill>
                          <a:latin typeface="Arial"/>
                          <a:ea typeface="Arial"/>
                          <a:cs typeface="Arial"/>
                        </a:rPr>
                        <a:t>CO6</a:t>
                      </a:r>
                    </a:p>
                  </a:txBody>
                  <a:tcPr marL="91440" marR="91440" marT="45720" marB="45720" anchor="ctr">
                    <a:lnL w="9525">
                      <a:solidFill>
                        <a:srgbClr val="DEE5DE"/>
                      </a:solidFill>
                      <a:prstDash val="solid"/>
                    </a:lnL>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Shared features, packaged serving, drift + outcome feedback</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PO1 · PO3 · PSO1 · PO5</a:t>
                      </a:r>
                    </a:p>
                  </a:txBody>
                  <a:tcPr marL="91440" marR="91440" marT="45720" marB="45720" anchor="ctr">
                    <a:lnR w="9525">
                      <a:solidFill>
                        <a:srgbClr val="DEE5DE"/>
                      </a:solidFill>
                      <a:prstDash val="solid"/>
                    </a:lnR>
                    <a:lnB w="9525">
                      <a:solidFill>
                        <a:srgbClr val="DEE5DE"/>
                      </a:solidFill>
                      <a:prstDash val="solid"/>
                    </a:lnB>
                    <a:solidFill>
                      <a:srgbClr val="FFFFFF"/>
                    </a:solidFill>
                  </a:tcPr>
                </a:tc>
                <a:tc>
                  <a:txBody>
                    <a:bodyPr lIns="95250" tIns="47625" rIns="76200" bIns="47625">
                      <a:normAutofit/>
                    </a:bodyPr>
                    <a:lstStyle/>
                    <a:p>
                      <a:r>
                        <a:rPr sz="900" b="0">
                          <a:solidFill>
                            <a:srgbClr val="15271E"/>
                          </a:solidFill>
                          <a:latin typeface="Arial"/>
                          <a:ea typeface="Arial"/>
                          <a:cs typeface="Arial"/>
                        </a:rPr>
                        <a:t>3 · Apply</a:t>
                      </a:r>
                    </a:p>
                  </a:txBody>
                  <a:tcPr marL="91440" marR="91440" marT="45720" marB="45720" anchor="ctr">
                    <a:lnR w="9525">
                      <a:solidFill>
                        <a:srgbClr val="DEE5DE"/>
                      </a:solidFill>
                      <a:prstDash val="solid"/>
                    </a:lnR>
                    <a:lnB w="9525">
                      <a:solidFill>
                        <a:srgbClr val="DEE5DE"/>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7B503468-4CA3-4A4E-871E-EDD9015D9B5B}"/>
              </a:ext>
            </a:extLst>
          </p:cNvPr>
          <p:cNvSpPr>
            <a:spLocks xmlns:a="http://schemas.openxmlformats.org/drawingml/2006/main" noGrp="1"/>
          </p:cNvSpPr>
          <p:nvPr/>
        </p:nvSpPr>
        <p:spPr>
          <a:xfrm xmlns:a="http://schemas.openxmlformats.org/drawingml/2006/main">
            <a:off x="590550" y="5695950"/>
            <a:ext cx="11010900" cy="428625"/>
          </a:xfrm>
          <a:prstGeom xmlns:a="http://schemas.openxmlformats.org/drawingml/2006/main" prst="roundRect">
            <a:avLst>
              <a:gd name="adj" fmla="val 22222"/>
            </a:avLst>
          </a:prstGeom>
          <a:solidFill xmlns:a="http://schemas.openxmlformats.org/drawingml/2006/main">
            <a:srgbClr val="E8F1E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01C680-1659-412D-8393-D4DE376D71DE}"/>
              </a:ext>
            </a:extLst>
          </p:cNvPr>
          <p:cNvSpPr>
            <a:spLocks xmlns:a="http://schemas.openxmlformats.org/drawingml/2006/main" noGrp="1"/>
          </p:cNvSpPr>
          <p:nvPr/>
        </p:nvSpPr>
        <p:spPr>
          <a:xfrm xmlns:a="http://schemas.openxmlformats.org/drawingml/2006/main">
            <a:off x="781050" y="58197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76B4F"/>
                </a:solidFill>
                <a:latin typeface="Arial"/>
                <a:ea typeface="Arial"/>
                <a:cs typeface="Arial"/>
              </a:defRPr>
            </a:defPPr>
          </a:lstStyle>
          <a:p xmlns:a="http://schemas.openxmlformats.org/drawingml/2006/main">
            <a:pPr algn="l">
              <a:defRPr sz="900" b="1">
                <a:solidFill>
                  <a:srgbClr val="276B4F"/>
                </a:solidFill>
                <a:latin typeface="Arial"/>
                <a:ea typeface="Arial"/>
                <a:cs typeface="Arial"/>
              </a:defRPr>
            </a:pPr>
            <a:r>
              <a:rPr sz="900" b="1">
                <a:solidFill>
                  <a:srgbClr val="276B4F"/>
                </a:solidFill>
                <a:latin typeface="Arial"/>
                <a:ea typeface="Arial"/>
                <a:cs typeface="Arial"/>
              </a:rPr>
              <a:t>See the Lifecycle Trace and Model Lab pages in CivicFix for the full implementation walkthrough.</a:t>
            </a:r>
          </a:p>
        </p:txBody>
      </p:sp>
    </p:spTree>
    <p:extLst>
      <p:ext uri="{BB962C8B-B14F-4D97-AF65-F5344CB8AC3E}">
        <p14:creationId xmlns:p14="http://schemas.microsoft.com/office/powerpoint/2010/main" val="1238991608"/>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20D4D1B-67D1-4F75-8E01-A461D80CE75A}"/>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76B4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995C7F-E4EF-44A7-A8BD-3E8C7B80FC94}"/>
              </a:ext>
            </a:extLst>
          </p:cNvPr>
          <p:cNvSpPr>
            <a:spLocks xmlns:a="http://schemas.openxmlformats.org/drawingml/2006/main" noGrp="1"/>
          </p:cNvSpPr>
          <p:nvPr/>
        </p:nvSpPr>
        <p:spPr>
          <a:xfrm xmlns:a="http://schemas.openxmlformats.org/drawingml/2006/main">
            <a:off x="552450" y="371475"/>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276B4F"/>
                </a:solidFill>
                <a:latin typeface="Arial"/>
                <a:ea typeface="Arial"/>
                <a:cs typeface="Arial"/>
              </a:defRPr>
            </a:defPPr>
          </a:lstStyle>
          <a:p xmlns:a="http://schemas.openxmlformats.org/drawingml/2006/main">
            <a:pPr algn="l">
              <a:defRPr sz="825" b="1">
                <a:solidFill>
                  <a:srgbClr val="276B4F"/>
                </a:solidFill>
                <a:latin typeface="Arial"/>
                <a:ea typeface="Arial"/>
                <a:cs typeface="Arial"/>
              </a:defRPr>
            </a:pPr>
            <a:r>
              <a:rPr sz="825" b="1">
                <a:solidFill>
                  <a:srgbClr val="276B4F"/>
                </a:solidFill>
                <a:latin typeface="Arial"/>
                <a:ea typeface="Arial"/>
                <a:cs typeface="Arial"/>
              </a:rPr>
              <a:t>11  /  TAKEAWAYS</a:t>
            </a:r>
          </a:p>
        </p:txBody>
      </p:sp>
      <p:sp>
        <p:nvSpPr>
          <p:cNvPr id="3" name="">
            <a:extLst xmlns:a="http://schemas.openxmlformats.org/drawingml/2006/main">
              <a:ext uri="{FF2B5EF4-FFF2-40B4-BE49-F238E27FC236}">
                <a16:creationId xmlns:a16="http://schemas.microsoft.com/office/drawing/2014/main" id="{6AA4C20E-876C-4051-A333-9975729A8305}"/>
              </a:ext>
            </a:extLst>
          </p:cNvPr>
          <p:cNvSpPr>
            <a:spLocks xmlns:a="http://schemas.openxmlformats.org/drawingml/2006/main" noGrp="1"/>
          </p:cNvSpPr>
          <p:nvPr/>
        </p:nvSpPr>
        <p:spPr>
          <a:xfrm xmlns:a="http://schemas.openxmlformats.org/drawingml/2006/main">
            <a:off x="552450" y="647700"/>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5271E"/>
                </a:solidFill>
                <a:latin typeface="Arial"/>
                <a:ea typeface="Arial"/>
                <a:cs typeface="Arial"/>
              </a:defRPr>
            </a:defPPr>
          </a:lstStyle>
          <a:p xmlns:a="http://schemas.openxmlformats.org/drawingml/2006/main">
            <a:pPr algn="l">
              <a:defRPr sz="2550" b="1">
                <a:solidFill>
                  <a:srgbClr val="15271E"/>
                </a:solidFill>
                <a:latin typeface="Arial"/>
                <a:ea typeface="Arial"/>
                <a:cs typeface="Arial"/>
              </a:defRPr>
            </a:pPr>
            <a:r>
              <a:rPr sz="2550" b="1">
                <a:solidFill>
                  <a:srgbClr val="15271E"/>
                </a:solidFill>
                <a:latin typeface="Arial"/>
                <a:ea typeface="Arial"/>
                <a:cs typeface="Arial"/>
              </a:rPr>
              <a:t>What this project demonstrates</a:t>
            </a:r>
          </a:p>
        </p:txBody>
      </p:sp>
      <p:sp>
        <p:nvSpPr>
          <p:cNvPr id="4" name="">
            <a:extLst xmlns:a="http://schemas.openxmlformats.org/drawingml/2006/main">
              <a:ext uri="{FF2B5EF4-FFF2-40B4-BE49-F238E27FC236}">
                <a16:creationId xmlns:a16="http://schemas.microsoft.com/office/drawing/2014/main" id="{CBFA9167-DF7D-496E-AF37-790213812A40}"/>
              </a:ext>
            </a:extLst>
          </p:cNvPr>
          <p:cNvSpPr>
            <a:spLocks xmlns:a="http://schemas.openxmlformats.org/drawingml/2006/main" noGrp="1"/>
          </p:cNvSpPr>
          <p:nvPr/>
        </p:nvSpPr>
        <p:spPr>
          <a:xfrm xmlns:a="http://schemas.openxmlformats.org/drawingml/2006/main">
            <a:off x="552450" y="1304925"/>
            <a:ext cx="11087100" cy="95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29C9CA-8254-432B-B2EF-BCB62DC654CE}"/>
              </a:ext>
            </a:extLst>
          </p:cNvPr>
          <p:cNvSpPr>
            <a:spLocks xmlns:a="http://schemas.openxmlformats.org/drawingml/2006/main" noGrp="1"/>
          </p:cNvSpPr>
          <p:nvPr/>
        </p:nvSpPr>
        <p:spPr>
          <a:xfrm xmlns:a="http://schemas.openxmlformats.org/drawingml/2006/main">
            <a:off x="552450" y="6496050"/>
            <a:ext cx="647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75" b="1">
                <a:solidFill>
                  <a:srgbClr val="66756B"/>
                </a:solidFill>
                <a:latin typeface="Arial"/>
                <a:ea typeface="Arial"/>
                <a:cs typeface="Arial"/>
              </a:defRPr>
            </a:defPPr>
          </a:lstStyle>
          <a:p xmlns:a="http://schemas.openxmlformats.org/drawingml/2006/main">
            <a:pPr algn="l">
              <a:defRPr sz="675" b="1">
                <a:solidFill>
                  <a:srgbClr val="66756B"/>
                </a:solidFill>
                <a:latin typeface="Arial"/>
                <a:ea typeface="Arial"/>
                <a:cs typeface="Arial"/>
              </a:defRPr>
            </a:pPr>
            <a:r>
              <a:rPr sz="675" b="1">
                <a:solidFill>
                  <a:srgbClr val="66756B"/>
                </a:solidFill>
                <a:latin typeface="Arial"/>
                <a:ea typeface="Arial"/>
                <a:cs typeface="Arial"/>
              </a:rPr>
              <a:t>CIVICFIX  /  NYC 311  /  COURSE OUTCOMES CO1–CO6</a:t>
            </a:r>
          </a:p>
        </p:txBody>
      </p:sp>
      <p:sp>
        <p:nvSpPr>
          <p:cNvPr id="6" name="">
            <a:extLst xmlns:a="http://schemas.openxmlformats.org/drawingml/2006/main">
              <a:ext uri="{FF2B5EF4-FFF2-40B4-BE49-F238E27FC236}">
                <a16:creationId xmlns:a16="http://schemas.microsoft.com/office/drawing/2014/main" id="{46379719-45A5-4239-B1DD-9C0C799852A8}"/>
              </a:ext>
            </a:extLst>
          </p:cNvPr>
          <p:cNvSpPr>
            <a:spLocks xmlns:a="http://schemas.openxmlformats.org/drawingml/2006/main" noGrp="1"/>
          </p:cNvSpPr>
          <p:nvPr/>
        </p:nvSpPr>
        <p:spPr>
          <a:xfrm xmlns:a="http://schemas.openxmlformats.org/drawingml/2006/main">
            <a:off x="11182350" y="64579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a:solidFill>
                  <a:srgbClr val="276B4F"/>
                </a:solidFill>
                <a:latin typeface="Arial"/>
                <a:ea typeface="Arial"/>
                <a:cs typeface="Arial"/>
              </a:defRPr>
            </a:defPPr>
          </a:lstStyle>
          <a:p xmlns:a="http://schemas.openxmlformats.org/drawingml/2006/main">
            <a:pPr algn="r">
              <a:defRPr sz="825" b="1">
                <a:solidFill>
                  <a:srgbClr val="276B4F"/>
                </a:solidFill>
                <a:latin typeface="Arial"/>
                <a:ea typeface="Arial"/>
                <a:cs typeface="Arial"/>
              </a:defRPr>
            </a:pPr>
            <a:r>
              <a:rPr sz="825" b="1">
                <a:solidFill>
                  <a:srgbClr val="276B4F"/>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854C583A-E8AE-47B8-8B1A-6419DC108339}"/>
              </a:ext>
            </a:extLst>
          </p:cNvPr>
          <p:cNvSpPr>
            <a:spLocks xmlns:a="http://schemas.openxmlformats.org/drawingml/2006/main" noGrp="1"/>
          </p:cNvSpPr>
          <p:nvPr/>
        </p:nvSpPr>
        <p:spPr>
          <a:xfrm xmlns:a="http://schemas.openxmlformats.org/drawingml/2006/main">
            <a:off x="590550" y="15430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5271E"/>
                </a:solidFill>
                <a:latin typeface="Arial"/>
                <a:ea typeface="Arial"/>
                <a:cs typeface="Arial"/>
              </a:defRPr>
            </a:defPPr>
          </a:lstStyle>
          <a:p xmlns:a="http://schemas.openxmlformats.org/drawingml/2006/main">
            <a:pPr algn="l">
              <a:defRPr sz="1425" b="1">
                <a:solidFill>
                  <a:srgbClr val="15271E"/>
                </a:solidFill>
                <a:latin typeface="Arial"/>
                <a:ea typeface="Arial"/>
                <a:cs typeface="Arial"/>
              </a:defRPr>
            </a:pPr>
            <a:r>
              <a:rPr sz="1425" b="1">
                <a:solidFill>
                  <a:srgbClr val="15271E"/>
                </a:solidFill>
                <a:latin typeface="Arial"/>
                <a:ea typeface="Arial"/>
                <a:cs typeface="Arial"/>
              </a:rPr>
              <a:t>CivicFix connects the full ML lifecycle to a working, explainable civic-service prototype.</a:t>
            </a:r>
          </a:p>
        </p:txBody>
      </p:sp>
      <p:sp>
        <p:nvSpPr>
          <p:cNvPr id="8" name="">
            <a:extLst xmlns:a="http://schemas.openxmlformats.org/drawingml/2006/main">
              <a:ext uri="{FF2B5EF4-FFF2-40B4-BE49-F238E27FC236}">
                <a16:creationId xmlns:a16="http://schemas.microsoft.com/office/drawing/2014/main" id="{F1750949-9F4E-4D94-9AE9-02F3924E3C71}"/>
              </a:ext>
            </a:extLst>
          </p:cNvPr>
          <p:cNvSpPr>
            <a:spLocks xmlns:a="http://schemas.openxmlformats.org/drawingml/2006/main" noGrp="1"/>
          </p:cNvSpPr>
          <p:nvPr/>
        </p:nvSpPr>
        <p:spPr>
          <a:xfrm xmlns:a="http://schemas.openxmlformats.org/drawingml/2006/main">
            <a:off x="590550" y="22574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BUILD</a:t>
            </a:r>
          </a:p>
        </p:txBody>
      </p:sp>
      <p:sp>
        <p:nvSpPr>
          <p:cNvPr id="9" name="">
            <a:extLst xmlns:a="http://schemas.openxmlformats.org/drawingml/2006/main">
              <a:ext uri="{FF2B5EF4-FFF2-40B4-BE49-F238E27FC236}">
                <a16:creationId xmlns:a16="http://schemas.microsoft.com/office/drawing/2014/main" id="{0594C479-087C-45ED-A270-3F1F0AE1E5AA}"/>
              </a:ext>
            </a:extLst>
          </p:cNvPr>
          <p:cNvSpPr>
            <a:spLocks xmlns:a="http://schemas.openxmlformats.org/drawingml/2006/main" noGrp="1"/>
          </p:cNvSpPr>
          <p:nvPr/>
        </p:nvSpPr>
        <p:spPr>
          <a:xfrm xmlns:a="http://schemas.openxmlformats.org/drawingml/2006/main">
            <a:off x="1809750" y="2238375"/>
            <a:ext cx="4933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5271E"/>
                </a:solidFill>
                <a:latin typeface="Arial"/>
                <a:ea typeface="Arial"/>
                <a:cs typeface="Arial"/>
              </a:defRPr>
            </a:defPPr>
          </a:lstStyle>
          <a:p xmlns:a="http://schemas.openxmlformats.org/drawingml/2006/main">
            <a:pPr algn="l">
              <a:defRPr sz="1050" b="0">
                <a:solidFill>
                  <a:srgbClr val="15271E"/>
                </a:solidFill>
                <a:latin typeface="Arial"/>
                <a:ea typeface="Arial"/>
                <a:cs typeface="Arial"/>
              </a:defRPr>
            </a:pPr>
            <a:r>
              <a:rPr sz="1050" b="0">
                <a:solidFill>
                  <a:srgbClr val="15271E"/>
                </a:solidFill>
                <a:latin typeface="Arial"/>
                <a:ea typeface="Arial"/>
                <a:cs typeface="Arial"/>
              </a:rPr>
              <a:t>A Flask application with live dataset exploration, prediction, lifecycle and monitoring screens.</a:t>
            </a:r>
          </a:p>
        </p:txBody>
      </p:sp>
      <p:sp>
        <p:nvSpPr>
          <p:cNvPr id="10" name="">
            <a:extLst xmlns:a="http://schemas.openxmlformats.org/drawingml/2006/main">
              <a:ext uri="{FF2B5EF4-FFF2-40B4-BE49-F238E27FC236}">
                <a16:creationId xmlns:a16="http://schemas.microsoft.com/office/drawing/2014/main" id="{DE51E870-14A0-476F-AB8A-E535FD2EFBCA}"/>
              </a:ext>
            </a:extLst>
          </p:cNvPr>
          <p:cNvSpPr>
            <a:spLocks xmlns:a="http://schemas.openxmlformats.org/drawingml/2006/main" noGrp="1"/>
          </p:cNvSpPr>
          <p:nvPr/>
        </p:nvSpPr>
        <p:spPr>
          <a:xfrm xmlns:a="http://schemas.openxmlformats.org/drawingml/2006/main">
            <a:off x="590550" y="3009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COMPARE</a:t>
            </a:r>
          </a:p>
        </p:txBody>
      </p:sp>
      <p:sp>
        <p:nvSpPr>
          <p:cNvPr id="11" name="">
            <a:extLst xmlns:a="http://schemas.openxmlformats.org/drawingml/2006/main">
              <a:ext uri="{FF2B5EF4-FFF2-40B4-BE49-F238E27FC236}">
                <a16:creationId xmlns:a16="http://schemas.microsoft.com/office/drawing/2014/main" id="{6F2BBB57-32F7-4A06-9D4F-F866043EDACB}"/>
              </a:ext>
            </a:extLst>
          </p:cNvPr>
          <p:cNvSpPr>
            <a:spLocks xmlns:a="http://schemas.openxmlformats.org/drawingml/2006/main" noGrp="1"/>
          </p:cNvSpPr>
          <p:nvPr/>
        </p:nvSpPr>
        <p:spPr>
          <a:xfrm xmlns:a="http://schemas.openxmlformats.org/drawingml/2006/main">
            <a:off x="1809750" y="2990850"/>
            <a:ext cx="4933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5271E"/>
                </a:solidFill>
                <a:latin typeface="Arial"/>
                <a:ea typeface="Arial"/>
                <a:cs typeface="Arial"/>
              </a:defRPr>
            </a:defPPr>
          </a:lstStyle>
          <a:p xmlns:a="http://schemas.openxmlformats.org/drawingml/2006/main">
            <a:pPr algn="l">
              <a:defRPr sz="1050" b="0">
                <a:solidFill>
                  <a:srgbClr val="15271E"/>
                </a:solidFill>
                <a:latin typeface="Arial"/>
                <a:ea typeface="Arial"/>
                <a:cs typeface="Arial"/>
              </a:defRPr>
            </a:pPr>
            <a:r>
              <a:rPr sz="1050" b="0">
                <a:solidFill>
                  <a:srgbClr val="15271E"/>
                </a:solidFill>
                <a:latin typeface="Arial"/>
                <a:ea typeface="Arial"/>
                <a:cs typeface="Arial"/>
              </a:rPr>
              <a:t>Supervised and unsupervised methods with measured holdout evidence.</a:t>
            </a:r>
          </a:p>
        </p:txBody>
      </p:sp>
      <p:sp>
        <p:nvSpPr>
          <p:cNvPr id="12" name="">
            <a:extLst xmlns:a="http://schemas.openxmlformats.org/drawingml/2006/main">
              <a:ext uri="{FF2B5EF4-FFF2-40B4-BE49-F238E27FC236}">
                <a16:creationId xmlns:a16="http://schemas.microsoft.com/office/drawing/2014/main" id="{0AF79403-80B3-4491-B72C-C42EC79BF98E}"/>
              </a:ext>
            </a:extLst>
          </p:cNvPr>
          <p:cNvSpPr>
            <a:spLocks xmlns:a="http://schemas.openxmlformats.org/drawingml/2006/main" noGrp="1"/>
          </p:cNvSpPr>
          <p:nvPr/>
        </p:nvSpPr>
        <p:spPr>
          <a:xfrm xmlns:a="http://schemas.openxmlformats.org/drawingml/2006/main">
            <a:off x="590550" y="37623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TRACE</a:t>
            </a:r>
          </a:p>
        </p:txBody>
      </p:sp>
      <p:sp>
        <p:nvSpPr>
          <p:cNvPr id="13" name="">
            <a:extLst xmlns:a="http://schemas.openxmlformats.org/drawingml/2006/main">
              <a:ext uri="{FF2B5EF4-FFF2-40B4-BE49-F238E27FC236}">
                <a16:creationId xmlns:a16="http://schemas.microsoft.com/office/drawing/2014/main" id="{A2444D75-6EE7-42C7-BA78-C0B68A494F1C}"/>
              </a:ext>
            </a:extLst>
          </p:cNvPr>
          <p:cNvSpPr>
            <a:spLocks xmlns:a="http://schemas.openxmlformats.org/drawingml/2006/main" noGrp="1"/>
          </p:cNvSpPr>
          <p:nvPr/>
        </p:nvSpPr>
        <p:spPr>
          <a:xfrm xmlns:a="http://schemas.openxmlformats.org/drawingml/2006/main">
            <a:off x="1809750" y="3743325"/>
            <a:ext cx="4933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5271E"/>
                </a:solidFill>
                <a:latin typeface="Arial"/>
                <a:ea typeface="Arial"/>
                <a:cs typeface="Arial"/>
              </a:defRPr>
            </a:defPPr>
          </a:lstStyle>
          <a:p xmlns:a="http://schemas.openxmlformats.org/drawingml/2006/main">
            <a:pPr algn="l">
              <a:defRPr sz="1050" b="0">
                <a:solidFill>
                  <a:srgbClr val="15271E"/>
                </a:solidFill>
                <a:latin typeface="Arial"/>
                <a:ea typeface="Arial"/>
                <a:cs typeface="Arial"/>
              </a:defRPr>
            </a:pPr>
            <a:r>
              <a:rPr sz="1050" b="0">
                <a:solidFill>
                  <a:srgbClr val="15271E"/>
                </a:solidFill>
                <a:latin typeface="Arial"/>
                <a:ea typeface="Arial"/>
                <a:cs typeface="Arial"/>
              </a:rPr>
              <a:t>Every request can be linked to its inputs, artifact version, output and latency.</a:t>
            </a:r>
          </a:p>
        </p:txBody>
      </p:sp>
      <p:sp>
        <p:nvSpPr>
          <p:cNvPr id="14" name="">
            <a:extLst xmlns:a="http://schemas.openxmlformats.org/drawingml/2006/main">
              <a:ext uri="{FF2B5EF4-FFF2-40B4-BE49-F238E27FC236}">
                <a16:creationId xmlns:a16="http://schemas.microsoft.com/office/drawing/2014/main" id="{7BADC28D-C73D-4642-A373-9D80C2A6E632}"/>
              </a:ext>
            </a:extLst>
          </p:cNvPr>
          <p:cNvSpPr>
            <a:spLocks xmlns:a="http://schemas.openxmlformats.org/drawingml/2006/main" noGrp="1"/>
          </p:cNvSpPr>
          <p:nvPr/>
        </p:nvSpPr>
        <p:spPr>
          <a:xfrm xmlns:a="http://schemas.openxmlformats.org/drawingml/2006/main">
            <a:off x="590550" y="451485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276B4F"/>
                </a:solidFill>
                <a:latin typeface="Arial"/>
                <a:ea typeface="Arial"/>
                <a:cs typeface="Arial"/>
              </a:defRPr>
            </a:defPPr>
          </a:lstStyle>
          <a:p xmlns:a="http://schemas.openxmlformats.org/drawingml/2006/main">
            <a:pPr algn="l">
              <a:defRPr sz="750" b="1">
                <a:solidFill>
                  <a:srgbClr val="276B4F"/>
                </a:solidFill>
                <a:latin typeface="Arial"/>
                <a:ea typeface="Arial"/>
                <a:cs typeface="Arial"/>
              </a:defRPr>
            </a:pPr>
            <a:r>
              <a:rPr sz="750" b="1">
                <a:solidFill>
                  <a:srgbClr val="276B4F"/>
                </a:solidFill>
                <a:latin typeface="Arial"/>
                <a:ea typeface="Arial"/>
                <a:cs typeface="Arial"/>
              </a:rPr>
              <a:t>LEARN</a:t>
            </a:r>
          </a:p>
        </p:txBody>
      </p:sp>
      <p:sp>
        <p:nvSpPr>
          <p:cNvPr id="15" name="">
            <a:extLst xmlns:a="http://schemas.openxmlformats.org/drawingml/2006/main">
              <a:ext uri="{FF2B5EF4-FFF2-40B4-BE49-F238E27FC236}">
                <a16:creationId xmlns:a16="http://schemas.microsoft.com/office/drawing/2014/main" id="{2249DDAC-2136-4937-A885-8C682E9C267C}"/>
              </a:ext>
            </a:extLst>
          </p:cNvPr>
          <p:cNvSpPr>
            <a:spLocks xmlns:a="http://schemas.openxmlformats.org/drawingml/2006/main" noGrp="1"/>
          </p:cNvSpPr>
          <p:nvPr/>
        </p:nvSpPr>
        <p:spPr>
          <a:xfrm xmlns:a="http://schemas.openxmlformats.org/drawingml/2006/main">
            <a:off x="1809750" y="4495800"/>
            <a:ext cx="4933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5271E"/>
                </a:solidFill>
                <a:latin typeface="Arial"/>
                <a:ea typeface="Arial"/>
                <a:cs typeface="Arial"/>
              </a:defRPr>
            </a:defPPr>
          </a:lstStyle>
          <a:p xmlns:a="http://schemas.openxmlformats.org/drawingml/2006/main">
            <a:pPr algn="l">
              <a:defRPr sz="1050" b="0">
                <a:solidFill>
                  <a:srgbClr val="15271E"/>
                </a:solidFill>
                <a:latin typeface="Arial"/>
                <a:ea typeface="Arial"/>
                <a:cs typeface="Arial"/>
              </a:defRPr>
            </a:pPr>
            <a:r>
              <a:rPr sz="1050" b="0">
                <a:solidFill>
                  <a:srgbClr val="15271E"/>
                </a:solidFill>
                <a:latin typeface="Arial"/>
                <a:ea typeface="Arial"/>
                <a:cs typeface="Arial"/>
              </a:rPr>
              <a:t>Routing is strong on this extract; resolution time is materially less predictable.</a:t>
            </a:r>
          </a:p>
        </p:txBody>
      </p:sp>
      <p:sp>
        <p:nvSpPr>
          <p:cNvPr id="16" name="">
            <a:extLst xmlns:a="http://schemas.openxmlformats.org/drawingml/2006/main">
              <a:ext uri="{FF2B5EF4-FFF2-40B4-BE49-F238E27FC236}">
                <a16:creationId xmlns:a16="http://schemas.microsoft.com/office/drawing/2014/main" id="{D3F753C2-3135-4797-BA4D-E516F86BB74D}"/>
              </a:ext>
            </a:extLst>
          </p:cNvPr>
          <p:cNvSpPr>
            <a:spLocks xmlns:a="http://schemas.openxmlformats.org/drawingml/2006/main" noGrp="1"/>
          </p:cNvSpPr>
          <p:nvPr/>
        </p:nvSpPr>
        <p:spPr>
          <a:xfrm xmlns:a="http://schemas.openxmlformats.org/drawingml/2006/main">
            <a:off x="7172325" y="2190750"/>
            <a:ext cx="9525" cy="3476625"/>
          </a:xfrm>
          <a:prstGeom xmlns:a="http://schemas.openxmlformats.org/drawingml/2006/main" prst="rect">
            <a:avLst/>
          </a:prstGeom>
          <a:solidFill xmlns:a="http://schemas.openxmlformats.org/drawingml/2006/main">
            <a:srgbClr val="DEE5D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193248C-3D10-4BC8-8C72-9C94DC889908}"/>
              </a:ext>
            </a:extLst>
          </p:cNvPr>
          <p:cNvSpPr>
            <a:spLocks xmlns:a="http://schemas.openxmlformats.org/drawingml/2006/main" noGrp="1"/>
          </p:cNvSpPr>
          <p:nvPr/>
        </p:nvSpPr>
        <p:spPr>
          <a:xfrm xmlns:a="http://schemas.openxmlformats.org/drawingml/2006/main">
            <a:off x="7524750" y="22574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NEXT STEPS</a:t>
            </a:r>
          </a:p>
        </p:txBody>
      </p:sp>
      <p:sp>
        <p:nvSpPr>
          <p:cNvPr id="18" name="">
            <a:extLst xmlns:a="http://schemas.openxmlformats.org/drawingml/2006/main">
              <a:ext uri="{FF2B5EF4-FFF2-40B4-BE49-F238E27FC236}">
                <a16:creationId xmlns:a16="http://schemas.microsoft.com/office/drawing/2014/main" id="{1D57C1B1-30D8-44C9-9BE7-2EAACC1433AA}"/>
              </a:ext>
            </a:extLst>
          </p:cNvPr>
          <p:cNvSpPr>
            <a:spLocks xmlns:a="http://schemas.openxmlformats.org/drawingml/2006/main" noGrp="1"/>
          </p:cNvSpPr>
          <p:nvPr/>
        </p:nvSpPr>
        <p:spPr>
          <a:xfrm xmlns:a="http://schemas.openxmlformats.org/drawingml/2006/main">
            <a:off x="7524750" y="26098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9FD00014-A8F0-4671-B9C6-9ACF4BCAD397}"/>
              </a:ext>
            </a:extLst>
          </p:cNvPr>
          <p:cNvSpPr>
            <a:spLocks xmlns:a="http://schemas.openxmlformats.org/drawingml/2006/main" noGrp="1"/>
          </p:cNvSpPr>
          <p:nvPr/>
        </p:nvSpPr>
        <p:spPr>
          <a:xfrm xmlns:a="http://schemas.openxmlformats.org/drawingml/2006/main">
            <a:off x="8020050" y="2590800"/>
            <a:ext cx="3152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Validate on a longer time window and unseen periods.</a:t>
            </a:r>
          </a:p>
        </p:txBody>
      </p:sp>
      <p:sp>
        <p:nvSpPr>
          <p:cNvPr id="20" name="">
            <a:extLst xmlns:a="http://schemas.openxmlformats.org/drawingml/2006/main">
              <a:ext uri="{FF2B5EF4-FFF2-40B4-BE49-F238E27FC236}">
                <a16:creationId xmlns:a16="http://schemas.microsoft.com/office/drawing/2014/main" id="{08FB73F2-2074-4082-B4DE-567FA92F116F}"/>
              </a:ext>
            </a:extLst>
          </p:cNvPr>
          <p:cNvSpPr>
            <a:spLocks xmlns:a="http://schemas.openxmlformats.org/drawingml/2006/main" noGrp="1"/>
          </p:cNvSpPr>
          <p:nvPr/>
        </p:nvSpPr>
        <p:spPr>
          <a:xfrm xmlns:a="http://schemas.openxmlformats.org/drawingml/2006/main">
            <a:off x="7524750" y="3076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67CE664D-E297-4B7B-A7B5-39C65C69703E}"/>
              </a:ext>
            </a:extLst>
          </p:cNvPr>
          <p:cNvSpPr>
            <a:spLocks xmlns:a="http://schemas.openxmlformats.org/drawingml/2006/main" noGrp="1"/>
          </p:cNvSpPr>
          <p:nvPr/>
        </p:nvSpPr>
        <p:spPr>
          <a:xfrm xmlns:a="http://schemas.openxmlformats.org/drawingml/2006/main">
            <a:off x="8020050" y="3057525"/>
            <a:ext cx="3152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Use a time-aware split to measure future-period generalization.</a:t>
            </a:r>
          </a:p>
        </p:txBody>
      </p:sp>
      <p:sp>
        <p:nvSpPr>
          <p:cNvPr id="22" name="">
            <a:extLst xmlns:a="http://schemas.openxmlformats.org/drawingml/2006/main">
              <a:ext uri="{FF2B5EF4-FFF2-40B4-BE49-F238E27FC236}">
                <a16:creationId xmlns:a16="http://schemas.microsoft.com/office/drawing/2014/main" id="{AA641AB1-ED29-490C-88B2-41945FF4AFE6}"/>
              </a:ext>
            </a:extLst>
          </p:cNvPr>
          <p:cNvSpPr>
            <a:spLocks xmlns:a="http://schemas.openxmlformats.org/drawingml/2006/main" noGrp="1"/>
          </p:cNvSpPr>
          <p:nvPr/>
        </p:nvSpPr>
        <p:spPr>
          <a:xfrm xmlns:a="http://schemas.openxmlformats.org/drawingml/2006/main">
            <a:off x="7524750" y="35433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54995458-713D-4022-8255-3275812BCCD6}"/>
              </a:ext>
            </a:extLst>
          </p:cNvPr>
          <p:cNvSpPr>
            <a:spLocks xmlns:a="http://schemas.openxmlformats.org/drawingml/2006/main" noGrp="1"/>
          </p:cNvSpPr>
          <p:nvPr/>
        </p:nvSpPr>
        <p:spPr>
          <a:xfrm xmlns:a="http://schemas.openxmlformats.org/drawingml/2006/main">
            <a:off x="8020050" y="3524250"/>
            <a:ext cx="3152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Investigate low-frequency agencies and imbalance handling.</a:t>
            </a:r>
          </a:p>
        </p:txBody>
      </p:sp>
      <p:sp>
        <p:nvSpPr>
          <p:cNvPr id="24" name="">
            <a:extLst xmlns:a="http://schemas.openxmlformats.org/drawingml/2006/main">
              <a:ext uri="{FF2B5EF4-FFF2-40B4-BE49-F238E27FC236}">
                <a16:creationId xmlns:a16="http://schemas.microsoft.com/office/drawing/2014/main" id="{A7EF4BE4-D318-45F8-AB31-D4358F30E82F}"/>
              </a:ext>
            </a:extLst>
          </p:cNvPr>
          <p:cNvSpPr>
            <a:spLocks xmlns:a="http://schemas.openxmlformats.org/drawingml/2006/main" noGrp="1"/>
          </p:cNvSpPr>
          <p:nvPr/>
        </p:nvSpPr>
        <p:spPr>
          <a:xfrm xmlns:a="http://schemas.openxmlformats.org/drawingml/2006/main">
            <a:off x="7524750" y="40100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4EC240DD-CB99-4CB3-AEDF-CD181357DC10}"/>
              </a:ext>
            </a:extLst>
          </p:cNvPr>
          <p:cNvSpPr>
            <a:spLocks xmlns:a="http://schemas.openxmlformats.org/drawingml/2006/main" noGrp="1"/>
          </p:cNvSpPr>
          <p:nvPr/>
        </p:nvSpPr>
        <p:spPr>
          <a:xfrm xmlns:a="http://schemas.openxmlformats.org/drawingml/2006/main">
            <a:off x="8020050" y="3990975"/>
            <a:ext cx="3152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Select regression model on validation MAE; test only once.</a:t>
            </a:r>
          </a:p>
        </p:txBody>
      </p:sp>
      <p:sp>
        <p:nvSpPr>
          <p:cNvPr id="26" name="">
            <a:extLst xmlns:a="http://schemas.openxmlformats.org/drawingml/2006/main">
              <a:ext uri="{FF2B5EF4-FFF2-40B4-BE49-F238E27FC236}">
                <a16:creationId xmlns:a16="http://schemas.microsoft.com/office/drawing/2014/main" id="{62385405-4E1B-43F7-99E6-68A15EBFC632}"/>
              </a:ext>
            </a:extLst>
          </p:cNvPr>
          <p:cNvSpPr>
            <a:spLocks xmlns:a="http://schemas.openxmlformats.org/drawingml/2006/main" noGrp="1"/>
          </p:cNvSpPr>
          <p:nvPr/>
        </p:nvSpPr>
        <p:spPr>
          <a:xfrm xmlns:a="http://schemas.openxmlformats.org/drawingml/2006/main">
            <a:off x="7524750" y="4476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D28C4F"/>
                </a:solidFill>
                <a:latin typeface="Arial"/>
                <a:ea typeface="Arial"/>
                <a:cs typeface="Arial"/>
              </a:defRPr>
            </a:defPPr>
          </a:lstStyle>
          <a:p xmlns:a="http://schemas.openxmlformats.org/drawingml/2006/main">
            <a:pPr algn="l">
              <a:defRPr sz="750" b="1">
                <a:solidFill>
                  <a:srgbClr val="D28C4F"/>
                </a:solidFill>
                <a:latin typeface="Arial"/>
                <a:ea typeface="Arial"/>
                <a:cs typeface="Arial"/>
              </a:defRPr>
            </a:pPr>
            <a:r>
              <a:rPr sz="750" b="1">
                <a:solidFill>
                  <a:srgbClr val="D28C4F"/>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908E97C0-D083-4EA4-BC8A-10ECEC68CD80}"/>
              </a:ext>
            </a:extLst>
          </p:cNvPr>
          <p:cNvSpPr>
            <a:spLocks xmlns:a="http://schemas.openxmlformats.org/drawingml/2006/main" noGrp="1"/>
          </p:cNvSpPr>
          <p:nvPr/>
        </p:nvSpPr>
        <p:spPr>
          <a:xfrm xmlns:a="http://schemas.openxmlformats.org/drawingml/2006/main">
            <a:off x="8020050" y="4457700"/>
            <a:ext cx="31527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66756B"/>
                </a:solidFill>
                <a:latin typeface="Arial"/>
                <a:ea typeface="Arial"/>
                <a:cs typeface="Arial"/>
              </a:defRPr>
            </a:defPPr>
          </a:lstStyle>
          <a:p xmlns:a="http://schemas.openxmlformats.org/drawingml/2006/main">
            <a:pPr algn="l">
              <a:defRPr sz="900" b="0">
                <a:solidFill>
                  <a:srgbClr val="66756B"/>
                </a:solidFill>
                <a:latin typeface="Arial"/>
                <a:ea typeface="Arial"/>
                <a:cs typeface="Arial"/>
              </a:defRPr>
            </a:pPr>
            <a:r>
              <a:rPr sz="900" b="0">
                <a:solidFill>
                  <a:srgbClr val="66756B"/>
                </a:solidFill>
                <a:latin typeface="Arial"/>
                <a:ea typeface="Arial"/>
                <a:cs typeface="Arial"/>
              </a:rPr>
              <a:t>Add real outcome feedback and monitor performance over time.</a:t>
            </a:r>
          </a:p>
        </p:txBody>
      </p:sp>
      <p:sp>
        <p:nvSpPr>
          <p:cNvPr id="28" name="">
            <a:extLst xmlns:a="http://schemas.openxmlformats.org/drawingml/2006/main">
              <a:ext uri="{FF2B5EF4-FFF2-40B4-BE49-F238E27FC236}">
                <a16:creationId xmlns:a16="http://schemas.microsoft.com/office/drawing/2014/main" id="{5FD5FD45-96B8-4D37-AF8A-1AFC7216EA97}"/>
              </a:ext>
            </a:extLst>
          </p:cNvPr>
          <p:cNvSpPr>
            <a:spLocks xmlns:a="http://schemas.openxmlformats.org/drawingml/2006/main" noGrp="1"/>
          </p:cNvSpPr>
          <p:nvPr/>
        </p:nvSpPr>
        <p:spPr>
          <a:xfrm xmlns:a="http://schemas.openxmlformats.org/drawingml/2006/main">
            <a:off x="590550" y="5619750"/>
            <a:ext cx="11010900" cy="485775"/>
          </a:xfrm>
          <a:prstGeom xmlns:a="http://schemas.openxmlformats.org/drawingml/2006/main" prst="roundRect">
            <a:avLst>
              <a:gd name="adj" fmla="val 19608"/>
            </a:avLst>
          </a:prstGeom>
          <a:solidFill xmlns:a="http://schemas.openxmlformats.org/drawingml/2006/main">
            <a:srgbClr val="10231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972065D-8026-4713-BBB9-3F2880030D0B}"/>
              </a:ext>
            </a:extLst>
          </p:cNvPr>
          <p:cNvSpPr>
            <a:spLocks xmlns:a="http://schemas.openxmlformats.org/drawingml/2006/main" noGrp="1"/>
          </p:cNvSpPr>
          <p:nvPr/>
        </p:nvSpPr>
        <p:spPr>
          <a:xfrm xmlns:a="http://schemas.openxmlformats.org/drawingml/2006/main">
            <a:off x="781050" y="577215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defRPr sz="900" b="1">
                <a:solidFill>
                  <a:srgbClr val="FFFFFF"/>
                </a:solidFill>
                <a:latin typeface="Arial"/>
                <a:ea typeface="Arial"/>
                <a:cs typeface="Arial"/>
              </a:defRPr>
            </a:pPr>
            <a:r>
              <a:rPr sz="900" b="1">
                <a:solidFill>
                  <a:srgbClr val="FFFFFF"/>
                </a:solidFill>
                <a:latin typeface="Arial"/>
                <a:ea typeface="Arial"/>
                <a:cs typeface="Arial"/>
              </a:rPr>
              <a:t>LIVE DEMO   Overview → Explore → Route a request → Inspect trace → Record outcome</a:t>
            </a:r>
          </a:p>
        </p:txBody>
      </p:sp>
    </p:spTree>
    <p:extLst>
      <p:ext uri="{BB962C8B-B14F-4D97-AF65-F5344CB8AC3E}">
        <p14:creationId xmlns:p14="http://schemas.microsoft.com/office/powerpoint/2010/main" val="425034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2026-10-12T00:44:50.9320000Z</dcterms:created>
  <dcterms:modified xsi:type="dcterms:W3CDTF">2026-10-12T00:44:50.9320000Z</dcterms:modified>
</coreProperties>
</file>